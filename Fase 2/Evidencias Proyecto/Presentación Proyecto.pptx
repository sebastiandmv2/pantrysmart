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10287000" cx="18288000"/>
  <p:notesSz cx="18288000" cy="10287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3" roundtripDataSignature="AMtx7mhMQF1sU9dZwmEMm4IwpvaAF9vm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740065E-E62D-4A3E-A034-24EA0CF792AB}">
  <a:tblStyle styleId="{E740065E-E62D-4A3E-A034-24EA0CF792A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7: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49e0aee13_1_18:notes"/>
          <p:cNvSpPr txBox="1"/>
          <p:nvPr>
            <p:ph idx="1" type="body"/>
          </p:nvPr>
        </p:nvSpPr>
        <p:spPr>
          <a:xfrm>
            <a:off x="1828800" y="4886325"/>
            <a:ext cx="14630400" cy="4629300"/>
          </a:xfrm>
          <a:prstGeom prst="rect">
            <a:avLst/>
          </a:prstGeom>
          <a:noFill/>
          <a:ln>
            <a:noFill/>
          </a:ln>
        </p:spPr>
        <p:txBody>
          <a:bodyPr anchorCtr="0" anchor="t" bIns="196825" lIns="196825" spcFirstLastPara="1" rIns="196825" wrap="square" tIns="196825">
            <a:noAutofit/>
          </a:bodyPr>
          <a:lstStyle/>
          <a:p>
            <a:pPr indent="0" lvl="0" marL="0" rtl="0" algn="l">
              <a:lnSpc>
                <a:spcPct val="100000"/>
              </a:lnSpc>
              <a:spcBef>
                <a:spcPts val="0"/>
              </a:spcBef>
              <a:spcAft>
                <a:spcPts val="0"/>
              </a:spcAft>
              <a:buSzPts val="2400"/>
              <a:buNone/>
            </a:pPr>
            <a:r>
              <a:t/>
            </a:r>
            <a:endParaRPr/>
          </a:p>
        </p:txBody>
      </p:sp>
      <p:sp>
        <p:nvSpPr>
          <p:cNvPr id="131" name="Google Shape;131;g3949e0aee13_1_18: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a:noFill/>
          <a:ln cap="flat" cmpd="sng" w="205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949e0aee13_1_193:notes"/>
          <p:cNvSpPr txBox="1"/>
          <p:nvPr>
            <p:ph idx="1" type="body"/>
          </p:nvPr>
        </p:nvSpPr>
        <p:spPr>
          <a:xfrm>
            <a:off x="1828800" y="4886325"/>
            <a:ext cx="14630400" cy="4629300"/>
          </a:xfrm>
          <a:prstGeom prst="rect">
            <a:avLst/>
          </a:prstGeom>
          <a:noFill/>
          <a:ln>
            <a:noFill/>
          </a:ln>
        </p:spPr>
        <p:txBody>
          <a:bodyPr anchorCtr="0" anchor="t" bIns="196825" lIns="196825" spcFirstLastPara="1" rIns="196825" wrap="square" tIns="196825">
            <a:noAutofit/>
          </a:bodyPr>
          <a:lstStyle/>
          <a:p>
            <a:pPr indent="0" lvl="0" marL="0" rtl="0" algn="l">
              <a:lnSpc>
                <a:spcPct val="100000"/>
              </a:lnSpc>
              <a:spcBef>
                <a:spcPts val="0"/>
              </a:spcBef>
              <a:spcAft>
                <a:spcPts val="0"/>
              </a:spcAft>
              <a:buSzPts val="2400"/>
              <a:buNone/>
            </a:pPr>
            <a:r>
              <a:t/>
            </a:r>
            <a:endParaRPr/>
          </a:p>
        </p:txBody>
      </p:sp>
      <p:sp>
        <p:nvSpPr>
          <p:cNvPr id="141" name="Google Shape;141;g3949e0aee13_1_193: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a:noFill/>
          <a:ln cap="flat" cmpd="sng" w="205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49e0aee13_1_110:notes"/>
          <p:cNvSpPr txBox="1"/>
          <p:nvPr>
            <p:ph idx="1" type="body"/>
          </p:nvPr>
        </p:nvSpPr>
        <p:spPr>
          <a:xfrm>
            <a:off x="1828800" y="4886325"/>
            <a:ext cx="14630400" cy="4629300"/>
          </a:xfrm>
          <a:prstGeom prst="rect">
            <a:avLst/>
          </a:prstGeom>
          <a:noFill/>
          <a:ln>
            <a:noFill/>
          </a:ln>
        </p:spPr>
        <p:txBody>
          <a:bodyPr anchorCtr="0" anchor="t" bIns="196825" lIns="196825" spcFirstLastPara="1" rIns="196825" wrap="square" tIns="196825">
            <a:noAutofit/>
          </a:bodyPr>
          <a:lstStyle/>
          <a:p>
            <a:pPr indent="0" lvl="0" marL="0" rtl="0" algn="l">
              <a:lnSpc>
                <a:spcPct val="100000"/>
              </a:lnSpc>
              <a:spcBef>
                <a:spcPts val="0"/>
              </a:spcBef>
              <a:spcAft>
                <a:spcPts val="0"/>
              </a:spcAft>
              <a:buSzPts val="2400"/>
              <a:buNone/>
            </a:pPr>
            <a:r>
              <a:t/>
            </a:r>
            <a:endParaRPr/>
          </a:p>
        </p:txBody>
      </p:sp>
      <p:sp>
        <p:nvSpPr>
          <p:cNvPr id="150" name="Google Shape;150;g3949e0aee13_1_110: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a:noFill/>
          <a:ln cap="flat" cmpd="sng" w="205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49e0aee13_1_101:notes"/>
          <p:cNvSpPr txBox="1"/>
          <p:nvPr>
            <p:ph idx="1" type="body"/>
          </p:nvPr>
        </p:nvSpPr>
        <p:spPr>
          <a:xfrm>
            <a:off x="1828800" y="4886325"/>
            <a:ext cx="14630400" cy="4629300"/>
          </a:xfrm>
          <a:prstGeom prst="rect">
            <a:avLst/>
          </a:prstGeom>
          <a:noFill/>
          <a:ln>
            <a:noFill/>
          </a:ln>
        </p:spPr>
        <p:txBody>
          <a:bodyPr anchorCtr="0" anchor="t" bIns="196825" lIns="196825" spcFirstLastPara="1" rIns="196825" wrap="square" tIns="196825">
            <a:noAutofit/>
          </a:bodyPr>
          <a:lstStyle/>
          <a:p>
            <a:pPr indent="0" lvl="0" marL="0" rtl="0" algn="l">
              <a:lnSpc>
                <a:spcPct val="100000"/>
              </a:lnSpc>
              <a:spcBef>
                <a:spcPts val="0"/>
              </a:spcBef>
              <a:spcAft>
                <a:spcPts val="0"/>
              </a:spcAft>
              <a:buSzPts val="2400"/>
              <a:buNone/>
            </a:pPr>
            <a:r>
              <a:t/>
            </a:r>
            <a:endParaRPr/>
          </a:p>
        </p:txBody>
      </p:sp>
      <p:sp>
        <p:nvSpPr>
          <p:cNvPr id="160" name="Google Shape;160;g3949e0aee13_1_101: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a:noFill/>
          <a:ln cap="flat" cmpd="sng" w="205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6: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8"/>
          <p:cNvSpPr txBox="1"/>
          <p:nvPr>
            <p:ph type="title"/>
          </p:nvPr>
        </p:nvSpPr>
        <p:spPr>
          <a:xfrm>
            <a:off x="4735654" y="56047"/>
            <a:ext cx="8816691" cy="238506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80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8"/>
          <p:cNvSpPr txBox="1"/>
          <p:nvPr>
            <p:ph idx="1" type="body"/>
          </p:nvPr>
        </p:nvSpPr>
        <p:spPr>
          <a:xfrm>
            <a:off x="1380937" y="3785720"/>
            <a:ext cx="14074140" cy="42468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28"/>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8"/>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8"/>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8" name="Shape 18"/>
        <p:cNvGrpSpPr/>
        <p:nvPr/>
      </p:nvGrpSpPr>
      <p:grpSpPr>
        <a:xfrm>
          <a:off x="0" y="0"/>
          <a:ext cx="0" cy="0"/>
          <a:chOff x="0" y="0"/>
          <a:chExt cx="0" cy="0"/>
        </a:xfrm>
      </p:grpSpPr>
      <p:sp>
        <p:nvSpPr>
          <p:cNvPr id="19" name="Google Shape;19;p29"/>
          <p:cNvSpPr txBox="1"/>
          <p:nvPr>
            <p:ph type="title"/>
          </p:nvPr>
        </p:nvSpPr>
        <p:spPr>
          <a:xfrm>
            <a:off x="4735654" y="56047"/>
            <a:ext cx="8816691" cy="238506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80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9"/>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9"/>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9"/>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23" name="Shape 23"/>
        <p:cNvGrpSpPr/>
        <p:nvPr/>
      </p:nvGrpSpPr>
      <p:grpSpPr>
        <a:xfrm>
          <a:off x="0" y="0"/>
          <a:ext cx="0" cy="0"/>
          <a:chOff x="0" y="0"/>
          <a:chExt cx="0" cy="0"/>
        </a:xfrm>
      </p:grpSpPr>
      <p:sp>
        <p:nvSpPr>
          <p:cNvPr id="24" name="Google Shape;24;p30"/>
          <p:cNvSpPr/>
          <p:nvPr/>
        </p:nvSpPr>
        <p:spPr>
          <a:xfrm>
            <a:off x="0" y="0"/>
            <a:ext cx="18288000" cy="10287000"/>
          </a:xfrm>
          <a:custGeom>
            <a:rect b="b" l="l" r="r" t="t"/>
            <a:pathLst>
              <a:path extrusionOk="0" h="10287000" w="18288000">
                <a:moveTo>
                  <a:pt x="18287999" y="10286999"/>
                </a:moveTo>
                <a:lnTo>
                  <a:pt x="0" y="10286999"/>
                </a:lnTo>
                <a:lnTo>
                  <a:pt x="0" y="0"/>
                </a:lnTo>
                <a:lnTo>
                  <a:pt x="18287999" y="0"/>
                </a:lnTo>
                <a:lnTo>
                  <a:pt x="18287999" y="10286999"/>
                </a:lnTo>
                <a:close/>
              </a:path>
            </a:pathLst>
          </a:custGeom>
          <a:solidFill>
            <a:srgbClr val="06416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5" name="Google Shape;25;p30"/>
          <p:cNvPicPr preferRelativeResize="0"/>
          <p:nvPr/>
        </p:nvPicPr>
        <p:blipFill rotWithShape="1">
          <a:blip r:embed="rId2">
            <a:alphaModFix/>
          </a:blip>
          <a:srcRect b="0" l="0" r="0" t="0"/>
          <a:stretch/>
        </p:blipFill>
        <p:spPr>
          <a:xfrm>
            <a:off x="0" y="523146"/>
            <a:ext cx="4155307" cy="1011109"/>
          </a:xfrm>
          <a:prstGeom prst="rect">
            <a:avLst/>
          </a:prstGeom>
          <a:noFill/>
          <a:ln>
            <a:noFill/>
          </a:ln>
        </p:spPr>
      </p:pic>
      <p:pic>
        <p:nvPicPr>
          <p:cNvPr id="26" name="Google Shape;26;p30"/>
          <p:cNvPicPr preferRelativeResize="0"/>
          <p:nvPr/>
        </p:nvPicPr>
        <p:blipFill rotWithShape="1">
          <a:blip r:embed="rId3">
            <a:alphaModFix/>
          </a:blip>
          <a:srcRect b="0" l="0" r="0" t="0"/>
          <a:stretch/>
        </p:blipFill>
        <p:spPr>
          <a:xfrm>
            <a:off x="11842264" y="4708220"/>
            <a:ext cx="6445735" cy="5578779"/>
          </a:xfrm>
          <a:prstGeom prst="rect">
            <a:avLst/>
          </a:prstGeom>
          <a:noFill/>
          <a:ln>
            <a:noFill/>
          </a:ln>
        </p:spPr>
      </p:pic>
      <p:sp>
        <p:nvSpPr>
          <p:cNvPr id="27" name="Google Shape;27;p30"/>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0"/>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 name="Shape 30"/>
        <p:cNvGrpSpPr/>
        <p:nvPr/>
      </p:nvGrpSpPr>
      <p:grpSpPr>
        <a:xfrm>
          <a:off x="0" y="0"/>
          <a:ext cx="0" cy="0"/>
          <a:chOff x="0" y="0"/>
          <a:chExt cx="0" cy="0"/>
        </a:xfrm>
      </p:grpSpPr>
      <p:sp>
        <p:nvSpPr>
          <p:cNvPr id="31" name="Google Shape;31;p31"/>
          <p:cNvSpPr txBox="1"/>
          <p:nvPr>
            <p:ph type="ctrTitle"/>
          </p:nvPr>
        </p:nvSpPr>
        <p:spPr>
          <a:xfrm>
            <a:off x="1371600" y="3188970"/>
            <a:ext cx="15544800" cy="21602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80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1"/>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1"/>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1"/>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1"/>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6" name="Shape 36"/>
        <p:cNvGrpSpPr/>
        <p:nvPr/>
      </p:nvGrpSpPr>
      <p:grpSpPr>
        <a:xfrm>
          <a:off x="0" y="0"/>
          <a:ext cx="0" cy="0"/>
          <a:chOff x="0" y="0"/>
          <a:chExt cx="0" cy="0"/>
        </a:xfrm>
      </p:grpSpPr>
      <p:sp>
        <p:nvSpPr>
          <p:cNvPr id="37" name="Google Shape;37;p32"/>
          <p:cNvSpPr txBox="1"/>
          <p:nvPr>
            <p:ph type="title"/>
          </p:nvPr>
        </p:nvSpPr>
        <p:spPr>
          <a:xfrm>
            <a:off x="4735654" y="56047"/>
            <a:ext cx="8816691" cy="238506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80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2"/>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32"/>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32"/>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32"/>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p:nvPr/>
        </p:nvSpPr>
        <p:spPr>
          <a:xfrm>
            <a:off x="0" y="0"/>
            <a:ext cx="18288000" cy="10287000"/>
          </a:xfrm>
          <a:custGeom>
            <a:rect b="b" l="l" r="r" t="t"/>
            <a:pathLst>
              <a:path extrusionOk="0" h="10287000" w="18288000">
                <a:moveTo>
                  <a:pt x="18287999" y="10286999"/>
                </a:moveTo>
                <a:lnTo>
                  <a:pt x="0" y="10286999"/>
                </a:lnTo>
                <a:lnTo>
                  <a:pt x="0" y="0"/>
                </a:lnTo>
                <a:lnTo>
                  <a:pt x="18287999" y="0"/>
                </a:lnTo>
                <a:lnTo>
                  <a:pt x="18287999" y="10286999"/>
                </a:lnTo>
                <a:close/>
              </a:path>
            </a:pathLst>
          </a:custGeom>
          <a:solidFill>
            <a:srgbClr val="06416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 name="Google Shape;7;p27"/>
          <p:cNvSpPr txBox="1"/>
          <p:nvPr>
            <p:ph type="title"/>
          </p:nvPr>
        </p:nvSpPr>
        <p:spPr>
          <a:xfrm>
            <a:off x="4735654" y="56047"/>
            <a:ext cx="8816691" cy="238506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8000" u="none" cap="none" strike="noStrike">
                <a:solidFill>
                  <a:schemeClr val="lt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27"/>
          <p:cNvSpPr txBox="1"/>
          <p:nvPr>
            <p:ph idx="1" type="body"/>
          </p:nvPr>
        </p:nvSpPr>
        <p:spPr>
          <a:xfrm>
            <a:off x="1380937" y="3785720"/>
            <a:ext cx="14074140" cy="424688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27"/>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27"/>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20.png"/><Relationship Id="rId6" Type="http://schemas.openxmlformats.org/officeDocument/2006/relationships/image" Target="../media/image5.png"/><Relationship Id="rId7"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14.png"/><Relationship Id="rId8"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1.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21.png"/><Relationship Id="rId7"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21.png"/><Relationship Id="rId7" Type="http://schemas.openxmlformats.org/officeDocument/2006/relationships/image" Target="../media/image2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8.png"/><Relationship Id="rId10" Type="http://schemas.openxmlformats.org/officeDocument/2006/relationships/image" Target="../media/image31.png"/><Relationship Id="rId9" Type="http://schemas.openxmlformats.org/officeDocument/2006/relationships/image" Target="../media/image30.png"/><Relationship Id="rId5" Type="http://schemas.openxmlformats.org/officeDocument/2006/relationships/image" Target="../media/image12.png"/><Relationship Id="rId6" Type="http://schemas.openxmlformats.org/officeDocument/2006/relationships/image" Target="../media/image26.png"/><Relationship Id="rId7" Type="http://schemas.openxmlformats.org/officeDocument/2006/relationships/image" Target="../media/image29.png"/><Relationship Id="rId8"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3.jpg"/><Relationship Id="rId4" Type="http://schemas.openxmlformats.org/officeDocument/2006/relationships/image" Target="../media/image3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8.jpg"/><Relationship Id="rId4" Type="http://schemas.openxmlformats.org/officeDocument/2006/relationships/image" Target="../media/image3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3.jpg"/><Relationship Id="rId4" Type="http://schemas.openxmlformats.org/officeDocument/2006/relationships/image" Target="../media/image3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0.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41.png"/><Relationship Id="rId7"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0.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41.png"/><Relationship Id="rId7" Type="http://schemas.openxmlformats.org/officeDocument/2006/relationships/image" Target="../media/image3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0.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41.png"/><Relationship Id="rId7"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0.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41.png"/><Relationship Id="rId7"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7.png"/><Relationship Id="rId4" Type="http://schemas.openxmlformats.org/officeDocument/2006/relationships/image" Target="../media/image48.jpg"/><Relationship Id="rId5" Type="http://schemas.openxmlformats.org/officeDocument/2006/relationships/image" Target="../media/image11.png"/><Relationship Id="rId6" Type="http://schemas.openxmlformats.org/officeDocument/2006/relationships/image" Target="../media/image43.png"/><Relationship Id="rId7" Type="http://schemas.openxmlformats.org/officeDocument/2006/relationships/image" Target="../media/image4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2.png"/><Relationship Id="rId4" Type="http://schemas.openxmlformats.org/officeDocument/2006/relationships/image" Target="../media/image50.png"/><Relationship Id="rId5" Type="http://schemas.openxmlformats.org/officeDocument/2006/relationships/image" Target="../media/image46.png"/><Relationship Id="rId6"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pic>
        <p:nvPicPr>
          <p:cNvPr id="47" name="Google Shape;47;p1"/>
          <p:cNvPicPr preferRelativeResize="0"/>
          <p:nvPr/>
        </p:nvPicPr>
        <p:blipFill rotWithShape="1">
          <a:blip r:embed="rId3">
            <a:alphaModFix/>
          </a:blip>
          <a:srcRect b="0" l="0" r="0" t="0"/>
          <a:stretch/>
        </p:blipFill>
        <p:spPr>
          <a:xfrm>
            <a:off x="9999265" y="2996688"/>
            <a:ext cx="8288734" cy="7290311"/>
          </a:xfrm>
          <a:prstGeom prst="rect">
            <a:avLst/>
          </a:prstGeom>
          <a:noFill/>
          <a:ln>
            <a:noFill/>
          </a:ln>
        </p:spPr>
      </p:pic>
      <p:pic>
        <p:nvPicPr>
          <p:cNvPr id="48" name="Google Shape;48;p1"/>
          <p:cNvPicPr preferRelativeResize="0"/>
          <p:nvPr/>
        </p:nvPicPr>
        <p:blipFill rotWithShape="1">
          <a:blip r:embed="rId4">
            <a:alphaModFix/>
          </a:blip>
          <a:srcRect b="0" l="0" r="0" t="0"/>
          <a:stretch/>
        </p:blipFill>
        <p:spPr>
          <a:xfrm>
            <a:off x="0" y="0"/>
            <a:ext cx="5779858" cy="2647308"/>
          </a:xfrm>
          <a:prstGeom prst="rect">
            <a:avLst/>
          </a:prstGeom>
          <a:noFill/>
          <a:ln>
            <a:noFill/>
          </a:ln>
        </p:spPr>
      </p:pic>
      <p:sp>
        <p:nvSpPr>
          <p:cNvPr id="49" name="Google Shape;49;p1"/>
          <p:cNvSpPr txBox="1"/>
          <p:nvPr>
            <p:ph type="title"/>
          </p:nvPr>
        </p:nvSpPr>
        <p:spPr>
          <a:xfrm>
            <a:off x="2737950" y="2620500"/>
            <a:ext cx="9426900" cy="5033700"/>
          </a:xfrm>
          <a:prstGeom prst="rect">
            <a:avLst/>
          </a:prstGeom>
          <a:noFill/>
          <a:ln>
            <a:noFill/>
          </a:ln>
        </p:spPr>
        <p:txBody>
          <a:bodyPr anchorCtr="0" anchor="t" bIns="0" lIns="0" spcFirstLastPara="1" rIns="0" wrap="square" tIns="12050">
            <a:spAutoFit/>
          </a:bodyPr>
          <a:lstStyle/>
          <a:p>
            <a:pPr indent="0" lvl="0" marL="12700" marR="1028064" rtl="0" algn="l">
              <a:lnSpc>
                <a:spcPct val="110400"/>
              </a:lnSpc>
              <a:spcBef>
                <a:spcPts val="0"/>
              </a:spcBef>
              <a:spcAft>
                <a:spcPts val="0"/>
              </a:spcAft>
              <a:buNone/>
            </a:pPr>
            <a:r>
              <a:rPr lang="es-MX" sz="9850"/>
              <a:t>Capstone Presentación</a:t>
            </a:r>
            <a:endParaRPr sz="9850"/>
          </a:p>
          <a:p>
            <a:pPr indent="0" lvl="0" marL="313690" rtl="0" algn="l">
              <a:lnSpc>
                <a:spcPct val="100000"/>
              </a:lnSpc>
              <a:spcBef>
                <a:spcPts val="1230"/>
              </a:spcBef>
              <a:spcAft>
                <a:spcPts val="0"/>
              </a:spcAft>
              <a:buNone/>
            </a:pPr>
            <a:r>
              <a:rPr lang="es-MX" sz="9850"/>
              <a:t>“PantrySmart”</a:t>
            </a:r>
            <a:endParaRPr sz="9850"/>
          </a:p>
        </p:txBody>
      </p:sp>
      <p:sp>
        <p:nvSpPr>
          <p:cNvPr id="50" name="Google Shape;50;p1"/>
          <p:cNvSpPr txBox="1"/>
          <p:nvPr/>
        </p:nvSpPr>
        <p:spPr>
          <a:xfrm>
            <a:off x="2802514" y="7786079"/>
            <a:ext cx="7034530" cy="37020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s-MX" sz="2250">
                <a:solidFill>
                  <a:srgbClr val="FFFFFF"/>
                </a:solidFill>
                <a:latin typeface="Trebuchet MS"/>
                <a:ea typeface="Trebuchet MS"/>
                <a:cs typeface="Trebuchet MS"/>
                <a:sym typeface="Trebuchet MS"/>
              </a:rPr>
              <a:t>Aplicación móvil para la gestión inteligente del hogar</a:t>
            </a:r>
            <a:endParaRPr sz="2250">
              <a:latin typeface="Trebuchet MS"/>
              <a:ea typeface="Trebuchet MS"/>
              <a:cs typeface="Trebuchet MS"/>
              <a:sym typeface="Trebuchet MS"/>
            </a:endParaRPr>
          </a:p>
        </p:txBody>
      </p:sp>
      <p:pic>
        <p:nvPicPr>
          <p:cNvPr id="51" name="Google Shape;51;p1"/>
          <p:cNvPicPr preferRelativeResize="0"/>
          <p:nvPr/>
        </p:nvPicPr>
        <p:blipFill rotWithShape="1">
          <a:blip r:embed="rId5">
            <a:alphaModFix/>
          </a:blip>
          <a:srcRect b="0" l="0" r="0" t="0"/>
          <a:stretch/>
        </p:blipFill>
        <p:spPr>
          <a:xfrm>
            <a:off x="250232" y="8692222"/>
            <a:ext cx="4527362" cy="1011109"/>
          </a:xfrm>
          <a:prstGeom prst="rect">
            <a:avLst/>
          </a:prstGeom>
          <a:noFill/>
          <a:ln>
            <a:noFill/>
          </a:ln>
        </p:spPr>
      </p:pic>
      <p:pic>
        <p:nvPicPr>
          <p:cNvPr id="52" name="Google Shape;52;p1"/>
          <p:cNvPicPr preferRelativeResize="0"/>
          <p:nvPr/>
        </p:nvPicPr>
        <p:blipFill rotWithShape="1">
          <a:blip r:embed="rId5">
            <a:alphaModFix/>
          </a:blip>
          <a:srcRect b="0" l="0" r="0" t="0"/>
          <a:stretch/>
        </p:blipFill>
        <p:spPr>
          <a:xfrm>
            <a:off x="13539435" y="766108"/>
            <a:ext cx="4527359" cy="1011109"/>
          </a:xfrm>
          <a:prstGeom prst="rect">
            <a:avLst/>
          </a:prstGeom>
          <a:noFill/>
          <a:ln>
            <a:noFill/>
          </a:ln>
        </p:spPr>
      </p:pic>
      <p:grpSp>
        <p:nvGrpSpPr>
          <p:cNvPr id="53" name="Google Shape;53;p1"/>
          <p:cNvGrpSpPr/>
          <p:nvPr/>
        </p:nvGrpSpPr>
        <p:grpSpPr>
          <a:xfrm>
            <a:off x="6471289" y="56149"/>
            <a:ext cx="5345436" cy="1797275"/>
            <a:chOff x="6471289" y="56149"/>
            <a:chExt cx="5345436" cy="1797275"/>
          </a:xfrm>
        </p:grpSpPr>
        <p:pic>
          <p:nvPicPr>
            <p:cNvPr id="54" name="Google Shape;54;p1"/>
            <p:cNvPicPr preferRelativeResize="0"/>
            <p:nvPr/>
          </p:nvPicPr>
          <p:blipFill rotWithShape="1">
            <a:blip r:embed="rId6">
              <a:alphaModFix/>
            </a:blip>
            <a:srcRect b="0" l="0" r="0" t="0"/>
            <a:stretch/>
          </p:blipFill>
          <p:spPr>
            <a:xfrm>
              <a:off x="6471289" y="56149"/>
              <a:ext cx="5345436" cy="1797275"/>
            </a:xfrm>
            <a:prstGeom prst="rect">
              <a:avLst/>
            </a:prstGeom>
            <a:noFill/>
            <a:ln>
              <a:noFill/>
            </a:ln>
          </p:spPr>
        </p:pic>
        <p:pic>
          <p:nvPicPr>
            <p:cNvPr id="55" name="Google Shape;55;p1"/>
            <p:cNvPicPr preferRelativeResize="0"/>
            <p:nvPr/>
          </p:nvPicPr>
          <p:blipFill rotWithShape="1">
            <a:blip r:embed="rId7">
              <a:alphaModFix/>
            </a:blip>
            <a:srcRect b="0" l="0" r="0" t="0"/>
            <a:stretch/>
          </p:blipFill>
          <p:spPr>
            <a:xfrm>
              <a:off x="6528439" y="94249"/>
              <a:ext cx="5231135" cy="1682974"/>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2"/>
          <p:cNvPicPr preferRelativeResize="0"/>
          <p:nvPr/>
        </p:nvPicPr>
        <p:blipFill rotWithShape="1">
          <a:blip r:embed="rId3">
            <a:alphaModFix/>
          </a:blip>
          <a:srcRect b="0" l="0" r="0" t="0"/>
          <a:stretch/>
        </p:blipFill>
        <p:spPr>
          <a:xfrm>
            <a:off x="0" y="4877314"/>
            <a:ext cx="4232545" cy="5409685"/>
          </a:xfrm>
          <a:prstGeom prst="rect">
            <a:avLst/>
          </a:prstGeom>
          <a:noFill/>
          <a:ln>
            <a:noFill/>
          </a:ln>
        </p:spPr>
      </p:pic>
      <p:pic>
        <p:nvPicPr>
          <p:cNvPr id="61" name="Google Shape;61;p2"/>
          <p:cNvPicPr preferRelativeResize="0"/>
          <p:nvPr/>
        </p:nvPicPr>
        <p:blipFill rotWithShape="1">
          <a:blip r:embed="rId4">
            <a:alphaModFix/>
          </a:blip>
          <a:srcRect b="0" l="0" r="0" t="0"/>
          <a:stretch/>
        </p:blipFill>
        <p:spPr>
          <a:xfrm>
            <a:off x="13643066" y="0"/>
            <a:ext cx="4644933" cy="5169408"/>
          </a:xfrm>
          <a:prstGeom prst="rect">
            <a:avLst/>
          </a:prstGeom>
          <a:noFill/>
          <a:ln>
            <a:noFill/>
          </a:ln>
        </p:spPr>
      </p:pic>
      <p:pic>
        <p:nvPicPr>
          <p:cNvPr id="62" name="Google Shape;62;p2"/>
          <p:cNvPicPr preferRelativeResize="0"/>
          <p:nvPr/>
        </p:nvPicPr>
        <p:blipFill rotWithShape="1">
          <a:blip r:embed="rId5">
            <a:alphaModFix/>
          </a:blip>
          <a:srcRect b="0" l="0" r="0" t="0"/>
          <a:stretch/>
        </p:blipFill>
        <p:spPr>
          <a:xfrm>
            <a:off x="13643066" y="8752746"/>
            <a:ext cx="4527360" cy="1011109"/>
          </a:xfrm>
          <a:prstGeom prst="rect">
            <a:avLst/>
          </a:prstGeom>
          <a:noFill/>
          <a:ln>
            <a:noFill/>
          </a:ln>
        </p:spPr>
      </p:pic>
      <p:grpSp>
        <p:nvGrpSpPr>
          <p:cNvPr id="63" name="Google Shape;63;p2"/>
          <p:cNvGrpSpPr/>
          <p:nvPr/>
        </p:nvGrpSpPr>
        <p:grpSpPr>
          <a:xfrm>
            <a:off x="6143677" y="2594119"/>
            <a:ext cx="5467458" cy="7390574"/>
            <a:chOff x="6143677" y="2594119"/>
            <a:chExt cx="5467458" cy="7390574"/>
          </a:xfrm>
        </p:grpSpPr>
        <p:pic>
          <p:nvPicPr>
            <p:cNvPr id="64" name="Google Shape;64;p2"/>
            <p:cNvPicPr preferRelativeResize="0"/>
            <p:nvPr/>
          </p:nvPicPr>
          <p:blipFill rotWithShape="1">
            <a:blip r:embed="rId6">
              <a:alphaModFix/>
            </a:blip>
            <a:srcRect b="0" l="0" r="0" t="0"/>
            <a:stretch/>
          </p:blipFill>
          <p:spPr>
            <a:xfrm>
              <a:off x="6143677" y="2594119"/>
              <a:ext cx="5467458" cy="4886540"/>
            </a:xfrm>
            <a:prstGeom prst="rect">
              <a:avLst/>
            </a:prstGeom>
            <a:noFill/>
            <a:ln>
              <a:noFill/>
            </a:ln>
          </p:spPr>
        </p:pic>
        <p:pic>
          <p:nvPicPr>
            <p:cNvPr id="65" name="Google Shape;65;p2"/>
            <p:cNvPicPr preferRelativeResize="0"/>
            <p:nvPr/>
          </p:nvPicPr>
          <p:blipFill rotWithShape="1">
            <a:blip r:embed="rId7">
              <a:alphaModFix/>
            </a:blip>
            <a:srcRect b="0" l="0" r="0" t="0"/>
            <a:stretch/>
          </p:blipFill>
          <p:spPr>
            <a:xfrm>
              <a:off x="7645457" y="7520795"/>
              <a:ext cx="2463898" cy="2463898"/>
            </a:xfrm>
            <a:prstGeom prst="rect">
              <a:avLst/>
            </a:prstGeom>
            <a:noFill/>
            <a:ln>
              <a:noFill/>
            </a:ln>
          </p:spPr>
        </p:pic>
      </p:grpSp>
      <p:sp>
        <p:nvSpPr>
          <p:cNvPr id="66" name="Google Shape;66;p2"/>
          <p:cNvSpPr txBox="1"/>
          <p:nvPr>
            <p:ph type="title"/>
          </p:nvPr>
        </p:nvSpPr>
        <p:spPr>
          <a:xfrm>
            <a:off x="1124679" y="730363"/>
            <a:ext cx="5576570" cy="12369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MX" sz="7950"/>
              <a:t>integrantes</a:t>
            </a:r>
            <a:endParaRPr sz="7950"/>
          </a:p>
        </p:txBody>
      </p:sp>
      <p:pic>
        <p:nvPicPr>
          <p:cNvPr id="67" name="Google Shape;67;p2"/>
          <p:cNvPicPr preferRelativeResize="0"/>
          <p:nvPr/>
        </p:nvPicPr>
        <p:blipFill rotWithShape="1">
          <a:blip r:embed="rId8">
            <a:alphaModFix/>
          </a:blip>
          <a:srcRect b="0" l="0" r="0" t="0"/>
          <a:stretch/>
        </p:blipFill>
        <p:spPr>
          <a:xfrm>
            <a:off x="6630922" y="0"/>
            <a:ext cx="5352752" cy="158993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4"/>
          <p:cNvPicPr preferRelativeResize="0"/>
          <p:nvPr/>
        </p:nvPicPr>
        <p:blipFill rotWithShape="1">
          <a:blip r:embed="rId3">
            <a:alphaModFix/>
          </a:blip>
          <a:srcRect b="0" l="0" r="0" t="0"/>
          <a:stretch/>
        </p:blipFill>
        <p:spPr>
          <a:xfrm>
            <a:off x="9144000" y="0"/>
            <a:ext cx="9143999" cy="10286999"/>
          </a:xfrm>
          <a:prstGeom prst="rect">
            <a:avLst/>
          </a:prstGeom>
          <a:noFill/>
          <a:ln>
            <a:noFill/>
          </a:ln>
        </p:spPr>
      </p:pic>
      <p:pic>
        <p:nvPicPr>
          <p:cNvPr id="73" name="Google Shape;73;p4"/>
          <p:cNvPicPr preferRelativeResize="0"/>
          <p:nvPr/>
        </p:nvPicPr>
        <p:blipFill rotWithShape="1">
          <a:blip r:embed="rId4">
            <a:alphaModFix/>
          </a:blip>
          <a:srcRect b="0" l="0" r="0" t="0"/>
          <a:stretch/>
        </p:blipFill>
        <p:spPr>
          <a:xfrm>
            <a:off x="0" y="523146"/>
            <a:ext cx="4155307" cy="1011109"/>
          </a:xfrm>
          <a:prstGeom prst="rect">
            <a:avLst/>
          </a:prstGeom>
          <a:noFill/>
          <a:ln>
            <a:noFill/>
          </a:ln>
        </p:spPr>
      </p:pic>
      <p:pic>
        <p:nvPicPr>
          <p:cNvPr id="74" name="Google Shape;74;p4"/>
          <p:cNvPicPr preferRelativeResize="0"/>
          <p:nvPr/>
        </p:nvPicPr>
        <p:blipFill rotWithShape="1">
          <a:blip r:embed="rId5">
            <a:alphaModFix/>
          </a:blip>
          <a:srcRect b="0" l="0" r="0" t="0"/>
          <a:stretch/>
        </p:blipFill>
        <p:spPr>
          <a:xfrm>
            <a:off x="11842264" y="4708219"/>
            <a:ext cx="6445735" cy="5578779"/>
          </a:xfrm>
          <a:prstGeom prst="rect">
            <a:avLst/>
          </a:prstGeom>
          <a:noFill/>
          <a:ln>
            <a:noFill/>
          </a:ln>
        </p:spPr>
      </p:pic>
      <p:sp>
        <p:nvSpPr>
          <p:cNvPr id="75" name="Google Shape;75;p4"/>
          <p:cNvSpPr txBox="1"/>
          <p:nvPr/>
        </p:nvSpPr>
        <p:spPr>
          <a:xfrm>
            <a:off x="425013" y="3585700"/>
            <a:ext cx="7785100" cy="3006090"/>
          </a:xfrm>
          <a:prstGeom prst="rect">
            <a:avLst/>
          </a:prstGeom>
          <a:noFill/>
          <a:ln>
            <a:noFill/>
          </a:ln>
        </p:spPr>
        <p:txBody>
          <a:bodyPr anchorCtr="0" anchor="t" bIns="0" lIns="0" spcFirstLastPara="1" rIns="0" wrap="square" tIns="12700">
            <a:spAutoFit/>
          </a:bodyPr>
          <a:lstStyle/>
          <a:p>
            <a:pPr indent="0" lvl="0" marL="12700" marR="5080" rtl="0" algn="l">
              <a:lnSpc>
                <a:spcPct val="150400"/>
              </a:lnSpc>
              <a:spcBef>
                <a:spcPts val="0"/>
              </a:spcBef>
              <a:spcAft>
                <a:spcPts val="0"/>
              </a:spcAft>
              <a:buNone/>
            </a:pPr>
            <a:r>
              <a:rPr lang="es-MX" sz="2600">
                <a:solidFill>
                  <a:srgbClr val="FFFFFF"/>
                </a:solidFill>
                <a:latin typeface="Trebuchet MS"/>
                <a:ea typeface="Trebuchet MS"/>
                <a:cs typeface="Trebuchet MS"/>
                <a:sym typeface="Trebuchet MS"/>
              </a:rPr>
              <a:t>“Los hogares chilenos, desperdician 3.700 millones de kilos de comida al año y el 92% de los hogares desecha alimentos, lo que afecta la economía y la sostenibilidad; una mejor gestión permitiría ahorrar hasta $200.000 por persona. “</a:t>
            </a:r>
            <a:endParaRPr sz="2600">
              <a:latin typeface="Trebuchet MS"/>
              <a:ea typeface="Trebuchet MS"/>
              <a:cs typeface="Trebuchet MS"/>
              <a:sym typeface="Trebuchet MS"/>
            </a:endParaRPr>
          </a:p>
        </p:txBody>
      </p:sp>
      <p:sp>
        <p:nvSpPr>
          <p:cNvPr id="76" name="Google Shape;76;p4"/>
          <p:cNvSpPr txBox="1"/>
          <p:nvPr>
            <p:ph type="title"/>
          </p:nvPr>
        </p:nvSpPr>
        <p:spPr>
          <a:xfrm>
            <a:off x="425013" y="2311751"/>
            <a:ext cx="5148600" cy="628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MX" sz="4000"/>
              <a:t>Problemática</a:t>
            </a:r>
            <a:r>
              <a:rPr lang="es-MX" sz="4000"/>
              <a:t> o dolor</a:t>
            </a:r>
            <a:endParaRPr sz="4000"/>
          </a:p>
        </p:txBody>
      </p:sp>
      <p:sp>
        <p:nvSpPr>
          <p:cNvPr id="77" name="Google Shape;77;p4"/>
          <p:cNvSpPr txBox="1"/>
          <p:nvPr/>
        </p:nvSpPr>
        <p:spPr>
          <a:xfrm>
            <a:off x="112101" y="9366705"/>
            <a:ext cx="8656955" cy="806450"/>
          </a:xfrm>
          <a:prstGeom prst="rect">
            <a:avLst/>
          </a:prstGeom>
          <a:noFill/>
          <a:ln>
            <a:noFill/>
          </a:ln>
        </p:spPr>
        <p:txBody>
          <a:bodyPr anchorCtr="0" anchor="t" bIns="0" lIns="0" spcFirstLastPara="1" rIns="0" wrap="square" tIns="12700">
            <a:spAutoFit/>
          </a:bodyPr>
          <a:lstStyle/>
          <a:p>
            <a:pPr indent="0" lvl="0" marL="12700" marR="5080" rtl="0" algn="l">
              <a:lnSpc>
                <a:spcPct val="150600"/>
              </a:lnSpc>
              <a:spcBef>
                <a:spcPts val="0"/>
              </a:spcBef>
              <a:spcAft>
                <a:spcPts val="0"/>
              </a:spcAft>
              <a:buNone/>
            </a:pPr>
            <a:r>
              <a:rPr b="1" lang="es-MX" sz="1700">
                <a:solidFill>
                  <a:srgbClr val="FFFFFF"/>
                </a:solidFill>
                <a:latin typeface="Trebuchet MS"/>
                <a:ea typeface="Trebuchet MS"/>
                <a:cs typeface="Trebuchet MS"/>
                <a:sym typeface="Trebuchet MS"/>
              </a:rPr>
              <a:t>Fuente</a:t>
            </a:r>
            <a:r>
              <a:rPr lang="es-MX" sz="1700">
                <a:solidFill>
                  <a:srgbClr val="FFFFFF"/>
                </a:solidFill>
                <a:latin typeface="Trebuchet MS"/>
                <a:ea typeface="Trebuchet MS"/>
                <a:cs typeface="Trebuchet MS"/>
                <a:sym typeface="Trebuchet MS"/>
              </a:rPr>
              <a:t>: Ministerio de Agricultura de Chile. (2020). Los chilenos botan 3.700 millones de kilos de comida al año y desperdician $200 mil por persona. Ministerio de Agricultura.</a:t>
            </a:r>
            <a:endParaRPr sz="1700">
              <a:latin typeface="Trebuchet MS"/>
              <a:ea typeface="Trebuchet MS"/>
              <a:cs typeface="Trebuchet MS"/>
              <a:sym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6"/>
          <p:cNvPicPr preferRelativeResize="0"/>
          <p:nvPr/>
        </p:nvPicPr>
        <p:blipFill rotWithShape="1">
          <a:blip r:embed="rId3">
            <a:alphaModFix/>
          </a:blip>
          <a:srcRect b="0" l="0" r="0" t="0"/>
          <a:stretch/>
        </p:blipFill>
        <p:spPr>
          <a:xfrm>
            <a:off x="13537446" y="0"/>
            <a:ext cx="4750553" cy="3956142"/>
          </a:xfrm>
          <a:prstGeom prst="rect">
            <a:avLst/>
          </a:prstGeom>
          <a:noFill/>
          <a:ln>
            <a:noFill/>
          </a:ln>
        </p:spPr>
      </p:pic>
      <p:pic>
        <p:nvPicPr>
          <p:cNvPr id="83" name="Google Shape;83;p6"/>
          <p:cNvPicPr preferRelativeResize="0"/>
          <p:nvPr/>
        </p:nvPicPr>
        <p:blipFill rotWithShape="1">
          <a:blip r:embed="rId4">
            <a:alphaModFix/>
          </a:blip>
          <a:srcRect b="0" l="0" r="0" t="0"/>
          <a:stretch/>
        </p:blipFill>
        <p:spPr>
          <a:xfrm>
            <a:off x="0" y="7492844"/>
            <a:ext cx="5846533" cy="2794155"/>
          </a:xfrm>
          <a:prstGeom prst="rect">
            <a:avLst/>
          </a:prstGeom>
          <a:noFill/>
          <a:ln>
            <a:noFill/>
          </a:ln>
        </p:spPr>
      </p:pic>
      <p:pic>
        <p:nvPicPr>
          <p:cNvPr id="84" name="Google Shape;84;p6"/>
          <p:cNvPicPr preferRelativeResize="0"/>
          <p:nvPr/>
        </p:nvPicPr>
        <p:blipFill rotWithShape="1">
          <a:blip r:embed="rId5">
            <a:alphaModFix/>
          </a:blip>
          <a:srcRect b="0" l="0" r="0" t="0"/>
          <a:stretch/>
        </p:blipFill>
        <p:spPr>
          <a:xfrm>
            <a:off x="13649044" y="8770218"/>
            <a:ext cx="4527360" cy="1011109"/>
          </a:xfrm>
          <a:prstGeom prst="rect">
            <a:avLst/>
          </a:prstGeom>
          <a:noFill/>
          <a:ln>
            <a:noFill/>
          </a:ln>
        </p:spPr>
      </p:pic>
      <p:pic>
        <p:nvPicPr>
          <p:cNvPr id="85" name="Google Shape;85;p6"/>
          <p:cNvPicPr preferRelativeResize="0"/>
          <p:nvPr/>
        </p:nvPicPr>
        <p:blipFill rotWithShape="1">
          <a:blip r:embed="rId6">
            <a:alphaModFix/>
          </a:blip>
          <a:srcRect b="0" l="0" r="0" t="0"/>
          <a:stretch/>
        </p:blipFill>
        <p:spPr>
          <a:xfrm>
            <a:off x="162615" y="0"/>
            <a:ext cx="1011110" cy="4162423"/>
          </a:xfrm>
          <a:prstGeom prst="rect">
            <a:avLst/>
          </a:prstGeom>
          <a:noFill/>
          <a:ln>
            <a:noFill/>
          </a:ln>
        </p:spPr>
      </p:pic>
      <p:sp>
        <p:nvSpPr>
          <p:cNvPr id="86" name="Google Shape;86;p6"/>
          <p:cNvSpPr txBox="1"/>
          <p:nvPr>
            <p:ph type="title"/>
          </p:nvPr>
        </p:nvSpPr>
        <p:spPr>
          <a:xfrm>
            <a:off x="1710266" y="946428"/>
            <a:ext cx="13008610" cy="274701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MX" sz="5400"/>
              <a:t>Ambito del sistema</a:t>
            </a:r>
            <a:endParaRPr sz="5400"/>
          </a:p>
          <a:p>
            <a:pPr indent="0" lvl="0" marL="12700" marR="5080" rtl="0" algn="l">
              <a:lnSpc>
                <a:spcPct val="151300"/>
              </a:lnSpc>
              <a:spcBef>
                <a:spcPts val="509"/>
              </a:spcBef>
              <a:spcAft>
                <a:spcPts val="0"/>
              </a:spcAft>
              <a:buNone/>
            </a:pPr>
            <a:r>
              <a:rPr b="0" i="1" lang="es-MX" sz="2650">
                <a:latin typeface="Trebuchet MS"/>
                <a:ea typeface="Trebuchet MS"/>
                <a:cs typeface="Trebuchet MS"/>
                <a:sym typeface="Trebuchet MS"/>
              </a:rPr>
              <a:t>PantrySmart </a:t>
            </a:r>
            <a:r>
              <a:rPr b="0" lang="es-MX" sz="2650">
                <a:latin typeface="Trebuchet MS"/>
                <a:ea typeface="Trebuchet MS"/>
                <a:cs typeface="Trebuchet MS"/>
                <a:sym typeface="Trebuchet MS"/>
              </a:rPr>
              <a:t>permitirá digitalizar automáticamente las boletas utilizando OCR, extrayendo datos, generando un inventario dinámico,	y mediante la IA recomendar recetas y listas de compras.</a:t>
            </a:r>
            <a:endParaRPr sz="2650">
              <a:latin typeface="Trebuchet MS"/>
              <a:ea typeface="Trebuchet MS"/>
              <a:cs typeface="Trebuchet MS"/>
              <a:sym typeface="Trebuchet MS"/>
            </a:endParaRPr>
          </a:p>
        </p:txBody>
      </p:sp>
      <p:pic>
        <p:nvPicPr>
          <p:cNvPr id="87" name="Google Shape;87;p6"/>
          <p:cNvPicPr preferRelativeResize="0"/>
          <p:nvPr/>
        </p:nvPicPr>
        <p:blipFill rotWithShape="1">
          <a:blip r:embed="rId7">
            <a:alphaModFix/>
          </a:blip>
          <a:srcRect b="0" l="0" r="0" t="0"/>
          <a:stretch/>
        </p:blipFill>
        <p:spPr>
          <a:xfrm>
            <a:off x="4875581" y="4360940"/>
            <a:ext cx="7565886" cy="45585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7"/>
          <p:cNvPicPr preferRelativeResize="0"/>
          <p:nvPr/>
        </p:nvPicPr>
        <p:blipFill rotWithShape="1">
          <a:blip r:embed="rId3">
            <a:alphaModFix/>
          </a:blip>
          <a:srcRect b="0" l="0" r="0" t="0"/>
          <a:stretch/>
        </p:blipFill>
        <p:spPr>
          <a:xfrm>
            <a:off x="13537446" y="0"/>
            <a:ext cx="4750553" cy="3956142"/>
          </a:xfrm>
          <a:prstGeom prst="rect">
            <a:avLst/>
          </a:prstGeom>
          <a:noFill/>
          <a:ln>
            <a:noFill/>
          </a:ln>
        </p:spPr>
      </p:pic>
      <p:pic>
        <p:nvPicPr>
          <p:cNvPr id="93" name="Google Shape;93;p7"/>
          <p:cNvPicPr preferRelativeResize="0"/>
          <p:nvPr/>
        </p:nvPicPr>
        <p:blipFill rotWithShape="1">
          <a:blip r:embed="rId4">
            <a:alphaModFix/>
          </a:blip>
          <a:srcRect b="0" l="0" r="0" t="0"/>
          <a:stretch/>
        </p:blipFill>
        <p:spPr>
          <a:xfrm>
            <a:off x="0" y="7492844"/>
            <a:ext cx="5846533" cy="2794155"/>
          </a:xfrm>
          <a:prstGeom prst="rect">
            <a:avLst/>
          </a:prstGeom>
          <a:noFill/>
          <a:ln>
            <a:noFill/>
          </a:ln>
        </p:spPr>
      </p:pic>
      <p:pic>
        <p:nvPicPr>
          <p:cNvPr id="94" name="Google Shape;94;p7"/>
          <p:cNvPicPr preferRelativeResize="0"/>
          <p:nvPr/>
        </p:nvPicPr>
        <p:blipFill rotWithShape="1">
          <a:blip r:embed="rId5">
            <a:alphaModFix/>
          </a:blip>
          <a:srcRect b="0" l="0" r="0" t="0"/>
          <a:stretch/>
        </p:blipFill>
        <p:spPr>
          <a:xfrm>
            <a:off x="13649044" y="8770218"/>
            <a:ext cx="4527360" cy="1011109"/>
          </a:xfrm>
          <a:prstGeom prst="rect">
            <a:avLst/>
          </a:prstGeom>
          <a:noFill/>
          <a:ln>
            <a:noFill/>
          </a:ln>
        </p:spPr>
      </p:pic>
      <p:pic>
        <p:nvPicPr>
          <p:cNvPr id="95" name="Google Shape;95;p7"/>
          <p:cNvPicPr preferRelativeResize="0"/>
          <p:nvPr/>
        </p:nvPicPr>
        <p:blipFill rotWithShape="1">
          <a:blip r:embed="rId6">
            <a:alphaModFix/>
          </a:blip>
          <a:srcRect b="0" l="0" r="0" t="0"/>
          <a:stretch/>
        </p:blipFill>
        <p:spPr>
          <a:xfrm>
            <a:off x="162615" y="0"/>
            <a:ext cx="1011110" cy="4162423"/>
          </a:xfrm>
          <a:prstGeom prst="rect">
            <a:avLst/>
          </a:prstGeom>
          <a:noFill/>
          <a:ln>
            <a:noFill/>
          </a:ln>
        </p:spPr>
      </p:pic>
      <p:pic>
        <p:nvPicPr>
          <p:cNvPr id="96" name="Google Shape;96;p7"/>
          <p:cNvPicPr preferRelativeResize="0"/>
          <p:nvPr/>
        </p:nvPicPr>
        <p:blipFill rotWithShape="1">
          <a:blip r:embed="rId7">
            <a:alphaModFix/>
          </a:blip>
          <a:srcRect b="0" l="0" r="0" t="0"/>
          <a:stretch/>
        </p:blipFill>
        <p:spPr>
          <a:xfrm>
            <a:off x="13593939" y="2814813"/>
            <a:ext cx="4694060" cy="4894681"/>
          </a:xfrm>
          <a:prstGeom prst="rect">
            <a:avLst/>
          </a:prstGeom>
          <a:noFill/>
          <a:ln>
            <a:noFill/>
          </a:ln>
        </p:spPr>
      </p:pic>
      <p:sp>
        <p:nvSpPr>
          <p:cNvPr id="97" name="Google Shape;97;p7"/>
          <p:cNvSpPr txBox="1"/>
          <p:nvPr>
            <p:ph type="title"/>
          </p:nvPr>
        </p:nvSpPr>
        <p:spPr>
          <a:xfrm>
            <a:off x="1516329" y="1584227"/>
            <a:ext cx="3343910" cy="8483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MX" sz="5400"/>
              <a:t>OBJETIVO</a:t>
            </a:r>
            <a:endParaRPr sz="5400"/>
          </a:p>
        </p:txBody>
      </p:sp>
      <p:sp>
        <p:nvSpPr>
          <p:cNvPr id="98" name="Google Shape;98;p7"/>
          <p:cNvSpPr txBox="1"/>
          <p:nvPr/>
        </p:nvSpPr>
        <p:spPr>
          <a:xfrm>
            <a:off x="1422590" y="3077042"/>
            <a:ext cx="11880850" cy="2469515"/>
          </a:xfrm>
          <a:prstGeom prst="rect">
            <a:avLst/>
          </a:prstGeom>
          <a:noFill/>
          <a:ln>
            <a:noFill/>
          </a:ln>
        </p:spPr>
        <p:txBody>
          <a:bodyPr anchorCtr="0" anchor="t" bIns="0" lIns="0" spcFirstLastPara="1" rIns="0" wrap="square" tIns="12050">
            <a:spAutoFit/>
          </a:bodyPr>
          <a:lstStyle/>
          <a:p>
            <a:pPr indent="0" lvl="0" marL="12700" marR="5080" rtl="0" algn="l">
              <a:lnSpc>
                <a:spcPct val="151300"/>
              </a:lnSpc>
              <a:spcBef>
                <a:spcPts val="0"/>
              </a:spcBef>
              <a:spcAft>
                <a:spcPts val="0"/>
              </a:spcAft>
              <a:buNone/>
            </a:pPr>
            <a:r>
              <a:rPr lang="es-MX" sz="2650">
                <a:solidFill>
                  <a:srgbClr val="FFFFFF"/>
                </a:solidFill>
                <a:latin typeface="Trebuchet MS"/>
                <a:ea typeface="Trebuchet MS"/>
                <a:cs typeface="Trebuchet MS"/>
                <a:sym typeface="Trebuchet MS"/>
              </a:rPr>
              <a:t>Reducir el desperdicio de alimentos mejorando la planificación, esto lo haremos creando un sistema inteligente que registra el inventario del hogar, genere recetas con los productos disponibles con esto esperamos mejorar las decisiones de consumo y disminuir gastos.</a:t>
            </a:r>
            <a:endParaRPr sz="2650">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8"/>
          <p:cNvPicPr preferRelativeResize="0"/>
          <p:nvPr/>
        </p:nvPicPr>
        <p:blipFill rotWithShape="1">
          <a:blip r:embed="rId3">
            <a:alphaModFix/>
          </a:blip>
          <a:srcRect b="0" l="0" r="0" t="0"/>
          <a:stretch/>
        </p:blipFill>
        <p:spPr>
          <a:xfrm>
            <a:off x="0" y="7492844"/>
            <a:ext cx="5846533" cy="2794155"/>
          </a:xfrm>
          <a:prstGeom prst="rect">
            <a:avLst/>
          </a:prstGeom>
          <a:noFill/>
          <a:ln>
            <a:noFill/>
          </a:ln>
        </p:spPr>
      </p:pic>
      <p:pic>
        <p:nvPicPr>
          <p:cNvPr id="104" name="Google Shape;104;p8"/>
          <p:cNvPicPr preferRelativeResize="0"/>
          <p:nvPr/>
        </p:nvPicPr>
        <p:blipFill rotWithShape="1">
          <a:blip r:embed="rId4">
            <a:alphaModFix/>
          </a:blip>
          <a:srcRect b="0" l="0" r="0" t="0"/>
          <a:stretch/>
        </p:blipFill>
        <p:spPr>
          <a:xfrm>
            <a:off x="14178185" y="0"/>
            <a:ext cx="4109814" cy="5867219"/>
          </a:xfrm>
          <a:prstGeom prst="rect">
            <a:avLst/>
          </a:prstGeom>
          <a:noFill/>
          <a:ln>
            <a:noFill/>
          </a:ln>
        </p:spPr>
      </p:pic>
      <p:pic>
        <p:nvPicPr>
          <p:cNvPr id="105" name="Google Shape;105;p8"/>
          <p:cNvPicPr preferRelativeResize="0"/>
          <p:nvPr/>
        </p:nvPicPr>
        <p:blipFill rotWithShape="1">
          <a:blip r:embed="rId5">
            <a:alphaModFix/>
          </a:blip>
          <a:srcRect b="0" l="0" r="0" t="0"/>
          <a:stretch/>
        </p:blipFill>
        <p:spPr>
          <a:xfrm>
            <a:off x="112039" y="523145"/>
            <a:ext cx="4527361" cy="1011109"/>
          </a:xfrm>
          <a:prstGeom prst="rect">
            <a:avLst/>
          </a:prstGeom>
          <a:noFill/>
          <a:ln>
            <a:noFill/>
          </a:ln>
        </p:spPr>
      </p:pic>
      <p:pic>
        <p:nvPicPr>
          <p:cNvPr id="106" name="Google Shape;106;p8"/>
          <p:cNvPicPr preferRelativeResize="0"/>
          <p:nvPr/>
        </p:nvPicPr>
        <p:blipFill rotWithShape="1">
          <a:blip r:embed="rId5">
            <a:alphaModFix/>
          </a:blip>
          <a:srcRect b="0" l="0" r="0" t="0"/>
          <a:stretch/>
        </p:blipFill>
        <p:spPr>
          <a:xfrm>
            <a:off x="13599273" y="8889922"/>
            <a:ext cx="4527360" cy="1011109"/>
          </a:xfrm>
          <a:prstGeom prst="rect">
            <a:avLst/>
          </a:prstGeom>
          <a:noFill/>
          <a:ln>
            <a:noFill/>
          </a:ln>
        </p:spPr>
      </p:pic>
      <p:pic>
        <p:nvPicPr>
          <p:cNvPr id="107" name="Google Shape;107;p8"/>
          <p:cNvPicPr preferRelativeResize="0"/>
          <p:nvPr/>
        </p:nvPicPr>
        <p:blipFill rotWithShape="1">
          <a:blip r:embed="rId6">
            <a:alphaModFix/>
          </a:blip>
          <a:srcRect b="0" l="0" r="0" t="0"/>
          <a:stretch/>
        </p:blipFill>
        <p:spPr>
          <a:xfrm>
            <a:off x="13829293" y="3126081"/>
            <a:ext cx="3380049" cy="3139221"/>
          </a:xfrm>
          <a:prstGeom prst="rect">
            <a:avLst/>
          </a:prstGeom>
          <a:noFill/>
          <a:ln>
            <a:noFill/>
          </a:ln>
        </p:spPr>
      </p:pic>
      <p:sp>
        <p:nvSpPr>
          <p:cNvPr id="108" name="Google Shape;108;p8"/>
          <p:cNvSpPr txBox="1"/>
          <p:nvPr>
            <p:ph type="title"/>
          </p:nvPr>
        </p:nvSpPr>
        <p:spPr>
          <a:xfrm>
            <a:off x="4735654" y="56047"/>
            <a:ext cx="8816691" cy="2385060"/>
          </a:xfrm>
          <a:prstGeom prst="rect">
            <a:avLst/>
          </a:prstGeom>
          <a:noFill/>
          <a:ln>
            <a:noFill/>
          </a:ln>
        </p:spPr>
        <p:txBody>
          <a:bodyPr anchorCtr="0" anchor="t" bIns="0" lIns="0" spcFirstLastPara="1" rIns="0" wrap="square" tIns="873825">
            <a:spAutoFit/>
          </a:bodyPr>
          <a:lstStyle/>
          <a:p>
            <a:pPr indent="0" lvl="0" marL="365125" rtl="0" algn="l">
              <a:lnSpc>
                <a:spcPct val="100000"/>
              </a:lnSpc>
              <a:spcBef>
                <a:spcPts val="0"/>
              </a:spcBef>
              <a:spcAft>
                <a:spcPts val="0"/>
              </a:spcAft>
              <a:buNone/>
            </a:pPr>
            <a:r>
              <a:rPr lang="es-MX" sz="4400"/>
              <a:t>Funciones del producto</a:t>
            </a:r>
            <a:endParaRPr sz="4400"/>
          </a:p>
        </p:txBody>
      </p:sp>
      <p:grpSp>
        <p:nvGrpSpPr>
          <p:cNvPr id="109" name="Google Shape;109;p8"/>
          <p:cNvGrpSpPr/>
          <p:nvPr/>
        </p:nvGrpSpPr>
        <p:grpSpPr>
          <a:xfrm>
            <a:off x="3490981" y="2451419"/>
            <a:ext cx="8950960" cy="1466215"/>
            <a:chOff x="3490981" y="2451419"/>
            <a:chExt cx="8950960" cy="1466215"/>
          </a:xfrm>
        </p:grpSpPr>
        <p:sp>
          <p:nvSpPr>
            <p:cNvPr id="110" name="Google Shape;110;p8"/>
            <p:cNvSpPr/>
            <p:nvPr/>
          </p:nvSpPr>
          <p:spPr>
            <a:xfrm>
              <a:off x="3490981" y="2451419"/>
              <a:ext cx="8950960" cy="1466215"/>
            </a:xfrm>
            <a:custGeom>
              <a:rect b="b" l="l" r="r" t="t"/>
              <a:pathLst>
                <a:path extrusionOk="0" h="1466214" w="8950960">
                  <a:moveTo>
                    <a:pt x="8803877" y="1466086"/>
                  </a:moveTo>
                  <a:lnTo>
                    <a:pt x="146608" y="1466086"/>
                  </a:lnTo>
                  <a:lnTo>
                    <a:pt x="100268" y="1458612"/>
                  </a:lnTo>
                  <a:lnTo>
                    <a:pt x="60023" y="1437800"/>
                  </a:lnTo>
                  <a:lnTo>
                    <a:pt x="28286" y="1406063"/>
                  </a:lnTo>
                  <a:lnTo>
                    <a:pt x="7474" y="1365818"/>
                  </a:lnTo>
                  <a:lnTo>
                    <a:pt x="0" y="1319478"/>
                  </a:lnTo>
                  <a:lnTo>
                    <a:pt x="0" y="146608"/>
                  </a:lnTo>
                  <a:lnTo>
                    <a:pt x="7474" y="100269"/>
                  </a:lnTo>
                  <a:lnTo>
                    <a:pt x="28286" y="60023"/>
                  </a:lnTo>
                  <a:lnTo>
                    <a:pt x="60023" y="28286"/>
                  </a:lnTo>
                  <a:lnTo>
                    <a:pt x="100268" y="7474"/>
                  </a:lnTo>
                  <a:lnTo>
                    <a:pt x="146608" y="0"/>
                  </a:lnTo>
                  <a:lnTo>
                    <a:pt x="8803877" y="0"/>
                  </a:lnTo>
                  <a:lnTo>
                    <a:pt x="8859981" y="11159"/>
                  </a:lnTo>
                  <a:lnTo>
                    <a:pt x="8907545" y="42940"/>
                  </a:lnTo>
                  <a:lnTo>
                    <a:pt x="8939326" y="90503"/>
                  </a:lnTo>
                  <a:lnTo>
                    <a:pt x="8950485" y="146608"/>
                  </a:lnTo>
                  <a:lnTo>
                    <a:pt x="8950485" y="1319478"/>
                  </a:lnTo>
                  <a:lnTo>
                    <a:pt x="8943011" y="1365818"/>
                  </a:lnTo>
                  <a:lnTo>
                    <a:pt x="8922198" y="1406063"/>
                  </a:lnTo>
                  <a:lnTo>
                    <a:pt x="8890462" y="1437800"/>
                  </a:lnTo>
                  <a:lnTo>
                    <a:pt x="8850217" y="1458612"/>
                  </a:lnTo>
                  <a:lnTo>
                    <a:pt x="8803877" y="1466086"/>
                  </a:lnTo>
                  <a:close/>
                </a:path>
              </a:pathLst>
            </a:custGeom>
            <a:solidFill>
              <a:srgbClr val="CED7E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11" name="Google Shape;111;p8"/>
            <p:cNvPicPr preferRelativeResize="0"/>
            <p:nvPr/>
          </p:nvPicPr>
          <p:blipFill rotWithShape="1">
            <a:blip r:embed="rId7">
              <a:alphaModFix/>
            </a:blip>
            <a:srcRect b="0" l="0" r="0" t="0"/>
            <a:stretch/>
          </p:blipFill>
          <p:spPr>
            <a:xfrm>
              <a:off x="3934473" y="2781290"/>
              <a:ext cx="806346" cy="806346"/>
            </a:xfrm>
            <a:prstGeom prst="rect">
              <a:avLst/>
            </a:prstGeom>
            <a:noFill/>
            <a:ln>
              <a:noFill/>
            </a:ln>
          </p:spPr>
        </p:pic>
        <p:sp>
          <p:nvSpPr>
            <p:cNvPr id="112" name="Google Shape;112;p8"/>
            <p:cNvSpPr/>
            <p:nvPr/>
          </p:nvSpPr>
          <p:spPr>
            <a:xfrm>
              <a:off x="3934472" y="2781289"/>
              <a:ext cx="806450" cy="806450"/>
            </a:xfrm>
            <a:custGeom>
              <a:rect b="b" l="l" r="r" t="t"/>
              <a:pathLst>
                <a:path extrusionOk="0" h="806450" w="806450">
                  <a:moveTo>
                    <a:pt x="0" y="0"/>
                  </a:moveTo>
                  <a:lnTo>
                    <a:pt x="806346" y="0"/>
                  </a:lnTo>
                  <a:lnTo>
                    <a:pt x="806346" y="806346"/>
                  </a:lnTo>
                  <a:lnTo>
                    <a:pt x="0" y="806346"/>
                  </a:lnTo>
                  <a:lnTo>
                    <a:pt x="0" y="0"/>
                  </a:lnTo>
                  <a:close/>
                </a:path>
              </a:pathLst>
            </a:custGeom>
            <a:noFill/>
            <a:ln cap="flat" cmpd="sng" w="25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3" name="Google Shape;113;p8"/>
          <p:cNvSpPr txBox="1"/>
          <p:nvPr/>
        </p:nvSpPr>
        <p:spPr>
          <a:xfrm>
            <a:off x="5324011" y="3001075"/>
            <a:ext cx="2515870" cy="3454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MX" sz="2100">
                <a:latin typeface="Trebuchet MS"/>
                <a:ea typeface="Trebuchet MS"/>
                <a:cs typeface="Trebuchet MS"/>
                <a:sym typeface="Trebuchet MS"/>
              </a:rPr>
              <a:t>Escaneo de Boletas.</a:t>
            </a:r>
            <a:endParaRPr sz="2100">
              <a:latin typeface="Trebuchet MS"/>
              <a:ea typeface="Trebuchet MS"/>
              <a:cs typeface="Trebuchet MS"/>
              <a:sym typeface="Trebuchet MS"/>
            </a:endParaRPr>
          </a:p>
        </p:txBody>
      </p:sp>
      <p:grpSp>
        <p:nvGrpSpPr>
          <p:cNvPr id="114" name="Google Shape;114;p8"/>
          <p:cNvGrpSpPr/>
          <p:nvPr/>
        </p:nvGrpSpPr>
        <p:grpSpPr>
          <a:xfrm>
            <a:off x="3490981" y="4284028"/>
            <a:ext cx="8950960" cy="1466215"/>
            <a:chOff x="3490981" y="4284028"/>
            <a:chExt cx="8950960" cy="1466215"/>
          </a:xfrm>
        </p:grpSpPr>
        <p:sp>
          <p:nvSpPr>
            <p:cNvPr id="115" name="Google Shape;115;p8"/>
            <p:cNvSpPr/>
            <p:nvPr/>
          </p:nvSpPr>
          <p:spPr>
            <a:xfrm>
              <a:off x="3490981" y="4284028"/>
              <a:ext cx="8950960" cy="1466215"/>
            </a:xfrm>
            <a:custGeom>
              <a:rect b="b" l="l" r="r" t="t"/>
              <a:pathLst>
                <a:path extrusionOk="0" h="1466214" w="8950960">
                  <a:moveTo>
                    <a:pt x="8803877" y="1466086"/>
                  </a:moveTo>
                  <a:lnTo>
                    <a:pt x="146608" y="1466086"/>
                  </a:lnTo>
                  <a:lnTo>
                    <a:pt x="100268" y="1458612"/>
                  </a:lnTo>
                  <a:lnTo>
                    <a:pt x="60023" y="1437800"/>
                  </a:lnTo>
                  <a:lnTo>
                    <a:pt x="28286" y="1406063"/>
                  </a:lnTo>
                  <a:lnTo>
                    <a:pt x="7474" y="1365818"/>
                  </a:lnTo>
                  <a:lnTo>
                    <a:pt x="0" y="1319478"/>
                  </a:lnTo>
                  <a:lnTo>
                    <a:pt x="0" y="146608"/>
                  </a:lnTo>
                  <a:lnTo>
                    <a:pt x="7474" y="100269"/>
                  </a:lnTo>
                  <a:lnTo>
                    <a:pt x="28286" y="60023"/>
                  </a:lnTo>
                  <a:lnTo>
                    <a:pt x="60023" y="28287"/>
                  </a:lnTo>
                  <a:lnTo>
                    <a:pt x="100268" y="7474"/>
                  </a:lnTo>
                  <a:lnTo>
                    <a:pt x="146608" y="0"/>
                  </a:lnTo>
                  <a:lnTo>
                    <a:pt x="8803877" y="0"/>
                  </a:lnTo>
                  <a:lnTo>
                    <a:pt x="8859981" y="11159"/>
                  </a:lnTo>
                  <a:lnTo>
                    <a:pt x="8907545" y="42940"/>
                  </a:lnTo>
                  <a:lnTo>
                    <a:pt x="8939326" y="90503"/>
                  </a:lnTo>
                  <a:lnTo>
                    <a:pt x="8950485" y="146608"/>
                  </a:lnTo>
                  <a:lnTo>
                    <a:pt x="8950485" y="1319478"/>
                  </a:lnTo>
                  <a:lnTo>
                    <a:pt x="8943011" y="1365818"/>
                  </a:lnTo>
                  <a:lnTo>
                    <a:pt x="8922198" y="1406063"/>
                  </a:lnTo>
                  <a:lnTo>
                    <a:pt x="8890462" y="1437800"/>
                  </a:lnTo>
                  <a:lnTo>
                    <a:pt x="8850217" y="1458612"/>
                  </a:lnTo>
                  <a:lnTo>
                    <a:pt x="8803877" y="1466086"/>
                  </a:lnTo>
                  <a:close/>
                </a:path>
              </a:pathLst>
            </a:custGeom>
            <a:solidFill>
              <a:srgbClr val="CED7E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16" name="Google Shape;116;p8"/>
            <p:cNvPicPr preferRelativeResize="0"/>
            <p:nvPr/>
          </p:nvPicPr>
          <p:blipFill rotWithShape="1">
            <a:blip r:embed="rId8">
              <a:alphaModFix/>
            </a:blip>
            <a:srcRect b="0" l="0" r="0" t="0"/>
            <a:stretch/>
          </p:blipFill>
          <p:spPr>
            <a:xfrm>
              <a:off x="3934473" y="4613898"/>
              <a:ext cx="806346" cy="806346"/>
            </a:xfrm>
            <a:prstGeom prst="rect">
              <a:avLst/>
            </a:prstGeom>
            <a:noFill/>
            <a:ln>
              <a:noFill/>
            </a:ln>
          </p:spPr>
        </p:pic>
        <p:sp>
          <p:nvSpPr>
            <p:cNvPr id="117" name="Google Shape;117;p8"/>
            <p:cNvSpPr/>
            <p:nvPr/>
          </p:nvSpPr>
          <p:spPr>
            <a:xfrm>
              <a:off x="3934472" y="4613898"/>
              <a:ext cx="806450" cy="806450"/>
            </a:xfrm>
            <a:custGeom>
              <a:rect b="b" l="l" r="r" t="t"/>
              <a:pathLst>
                <a:path extrusionOk="0" h="806450" w="806450">
                  <a:moveTo>
                    <a:pt x="0" y="0"/>
                  </a:moveTo>
                  <a:lnTo>
                    <a:pt x="806346" y="0"/>
                  </a:lnTo>
                  <a:lnTo>
                    <a:pt x="806346" y="806347"/>
                  </a:lnTo>
                  <a:lnTo>
                    <a:pt x="0" y="806347"/>
                  </a:lnTo>
                  <a:lnTo>
                    <a:pt x="0" y="0"/>
                  </a:lnTo>
                  <a:close/>
                </a:path>
              </a:pathLst>
            </a:custGeom>
            <a:noFill/>
            <a:ln cap="flat" cmpd="sng" w="25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8" name="Google Shape;118;p8"/>
          <p:cNvSpPr txBox="1"/>
          <p:nvPr/>
        </p:nvSpPr>
        <p:spPr>
          <a:xfrm>
            <a:off x="5324011" y="4833684"/>
            <a:ext cx="2680335" cy="3454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MX" sz="2100">
                <a:latin typeface="Trebuchet MS"/>
                <a:ea typeface="Trebuchet MS"/>
                <a:cs typeface="Trebuchet MS"/>
                <a:sym typeface="Trebuchet MS"/>
              </a:rPr>
              <a:t>Gestión de Inventario.</a:t>
            </a:r>
            <a:endParaRPr sz="2100">
              <a:latin typeface="Trebuchet MS"/>
              <a:ea typeface="Trebuchet MS"/>
              <a:cs typeface="Trebuchet MS"/>
              <a:sym typeface="Trebuchet MS"/>
            </a:endParaRPr>
          </a:p>
        </p:txBody>
      </p:sp>
      <p:grpSp>
        <p:nvGrpSpPr>
          <p:cNvPr id="119" name="Google Shape;119;p8"/>
          <p:cNvGrpSpPr/>
          <p:nvPr/>
        </p:nvGrpSpPr>
        <p:grpSpPr>
          <a:xfrm>
            <a:off x="3490981" y="6116637"/>
            <a:ext cx="8950960" cy="1466215"/>
            <a:chOff x="3490981" y="6116637"/>
            <a:chExt cx="8950960" cy="1466215"/>
          </a:xfrm>
        </p:grpSpPr>
        <p:sp>
          <p:nvSpPr>
            <p:cNvPr id="120" name="Google Shape;120;p8"/>
            <p:cNvSpPr/>
            <p:nvPr/>
          </p:nvSpPr>
          <p:spPr>
            <a:xfrm>
              <a:off x="3490981" y="6116637"/>
              <a:ext cx="8950960" cy="1466215"/>
            </a:xfrm>
            <a:custGeom>
              <a:rect b="b" l="l" r="r" t="t"/>
              <a:pathLst>
                <a:path extrusionOk="0" h="1466215" w="8950960">
                  <a:moveTo>
                    <a:pt x="8803877" y="1466086"/>
                  </a:moveTo>
                  <a:lnTo>
                    <a:pt x="146608" y="1466086"/>
                  </a:lnTo>
                  <a:lnTo>
                    <a:pt x="100268" y="1458612"/>
                  </a:lnTo>
                  <a:lnTo>
                    <a:pt x="60023" y="1437800"/>
                  </a:lnTo>
                  <a:lnTo>
                    <a:pt x="28286" y="1406063"/>
                  </a:lnTo>
                  <a:lnTo>
                    <a:pt x="7474" y="1365818"/>
                  </a:lnTo>
                  <a:lnTo>
                    <a:pt x="0" y="1319478"/>
                  </a:lnTo>
                  <a:lnTo>
                    <a:pt x="0" y="146608"/>
                  </a:lnTo>
                  <a:lnTo>
                    <a:pt x="7474" y="100269"/>
                  </a:lnTo>
                  <a:lnTo>
                    <a:pt x="28286" y="60023"/>
                  </a:lnTo>
                  <a:lnTo>
                    <a:pt x="60023" y="28287"/>
                  </a:lnTo>
                  <a:lnTo>
                    <a:pt x="100268" y="7474"/>
                  </a:lnTo>
                  <a:lnTo>
                    <a:pt x="146608" y="0"/>
                  </a:lnTo>
                  <a:lnTo>
                    <a:pt x="8803877" y="0"/>
                  </a:lnTo>
                  <a:lnTo>
                    <a:pt x="8859981" y="11159"/>
                  </a:lnTo>
                  <a:lnTo>
                    <a:pt x="8907545" y="42940"/>
                  </a:lnTo>
                  <a:lnTo>
                    <a:pt x="8939326" y="90503"/>
                  </a:lnTo>
                  <a:lnTo>
                    <a:pt x="8950485" y="146608"/>
                  </a:lnTo>
                  <a:lnTo>
                    <a:pt x="8950485" y="1319478"/>
                  </a:lnTo>
                  <a:lnTo>
                    <a:pt x="8943011" y="1365818"/>
                  </a:lnTo>
                  <a:lnTo>
                    <a:pt x="8922198" y="1406063"/>
                  </a:lnTo>
                  <a:lnTo>
                    <a:pt x="8890462" y="1437800"/>
                  </a:lnTo>
                  <a:lnTo>
                    <a:pt x="8850217" y="1458612"/>
                  </a:lnTo>
                  <a:lnTo>
                    <a:pt x="8803877" y="1466086"/>
                  </a:lnTo>
                  <a:close/>
                </a:path>
              </a:pathLst>
            </a:custGeom>
            <a:solidFill>
              <a:srgbClr val="CED7E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21" name="Google Shape;121;p8"/>
            <p:cNvPicPr preferRelativeResize="0"/>
            <p:nvPr/>
          </p:nvPicPr>
          <p:blipFill rotWithShape="1">
            <a:blip r:embed="rId9">
              <a:alphaModFix/>
            </a:blip>
            <a:srcRect b="0" l="0" r="0" t="0"/>
            <a:stretch/>
          </p:blipFill>
          <p:spPr>
            <a:xfrm>
              <a:off x="3934473" y="6446507"/>
              <a:ext cx="806346" cy="806346"/>
            </a:xfrm>
            <a:prstGeom prst="rect">
              <a:avLst/>
            </a:prstGeom>
            <a:noFill/>
            <a:ln>
              <a:noFill/>
            </a:ln>
          </p:spPr>
        </p:pic>
        <p:sp>
          <p:nvSpPr>
            <p:cNvPr id="122" name="Google Shape;122;p8"/>
            <p:cNvSpPr/>
            <p:nvPr/>
          </p:nvSpPr>
          <p:spPr>
            <a:xfrm>
              <a:off x="3934472" y="6446506"/>
              <a:ext cx="806450" cy="806450"/>
            </a:xfrm>
            <a:custGeom>
              <a:rect b="b" l="l" r="r" t="t"/>
              <a:pathLst>
                <a:path extrusionOk="0" h="806450" w="806450">
                  <a:moveTo>
                    <a:pt x="0" y="0"/>
                  </a:moveTo>
                  <a:lnTo>
                    <a:pt x="806346" y="0"/>
                  </a:lnTo>
                  <a:lnTo>
                    <a:pt x="806346" y="806346"/>
                  </a:lnTo>
                  <a:lnTo>
                    <a:pt x="0" y="806346"/>
                  </a:lnTo>
                  <a:lnTo>
                    <a:pt x="0" y="0"/>
                  </a:lnTo>
                  <a:close/>
                </a:path>
              </a:pathLst>
            </a:custGeom>
            <a:noFill/>
            <a:ln cap="flat" cmpd="sng" w="25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3" name="Google Shape;123;p8"/>
          <p:cNvSpPr txBox="1"/>
          <p:nvPr/>
        </p:nvSpPr>
        <p:spPr>
          <a:xfrm>
            <a:off x="5324011" y="6459601"/>
            <a:ext cx="4234815" cy="3454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MX" sz="2100">
                <a:latin typeface="Trebuchet MS"/>
                <a:ea typeface="Trebuchet MS"/>
                <a:cs typeface="Trebuchet MS"/>
                <a:sym typeface="Trebuchet MS"/>
              </a:rPr>
              <a:t>Generación de Listas de Compras.</a:t>
            </a:r>
            <a:endParaRPr sz="2100">
              <a:latin typeface="Trebuchet MS"/>
              <a:ea typeface="Trebuchet MS"/>
              <a:cs typeface="Trebuchet MS"/>
              <a:sym typeface="Trebuchet MS"/>
            </a:endParaRPr>
          </a:p>
        </p:txBody>
      </p:sp>
      <p:grpSp>
        <p:nvGrpSpPr>
          <p:cNvPr id="124" name="Google Shape;124;p8"/>
          <p:cNvGrpSpPr/>
          <p:nvPr/>
        </p:nvGrpSpPr>
        <p:grpSpPr>
          <a:xfrm>
            <a:off x="3490981" y="7949246"/>
            <a:ext cx="8950960" cy="1466215"/>
            <a:chOff x="3490981" y="7949246"/>
            <a:chExt cx="8950960" cy="1466215"/>
          </a:xfrm>
        </p:grpSpPr>
        <p:sp>
          <p:nvSpPr>
            <p:cNvPr id="125" name="Google Shape;125;p8"/>
            <p:cNvSpPr/>
            <p:nvPr/>
          </p:nvSpPr>
          <p:spPr>
            <a:xfrm>
              <a:off x="3490981" y="7949246"/>
              <a:ext cx="8950960" cy="1466215"/>
            </a:xfrm>
            <a:custGeom>
              <a:rect b="b" l="l" r="r" t="t"/>
              <a:pathLst>
                <a:path extrusionOk="0" h="1466215" w="8950960">
                  <a:moveTo>
                    <a:pt x="8803877" y="1466087"/>
                  </a:moveTo>
                  <a:lnTo>
                    <a:pt x="146608" y="1466087"/>
                  </a:lnTo>
                  <a:lnTo>
                    <a:pt x="100268" y="1458613"/>
                  </a:lnTo>
                  <a:lnTo>
                    <a:pt x="60023" y="1437800"/>
                  </a:lnTo>
                  <a:lnTo>
                    <a:pt x="28286" y="1406063"/>
                  </a:lnTo>
                  <a:lnTo>
                    <a:pt x="7474" y="1365817"/>
                  </a:lnTo>
                  <a:lnTo>
                    <a:pt x="0" y="1319477"/>
                  </a:lnTo>
                  <a:lnTo>
                    <a:pt x="0" y="146608"/>
                  </a:lnTo>
                  <a:lnTo>
                    <a:pt x="7474" y="100268"/>
                  </a:lnTo>
                  <a:lnTo>
                    <a:pt x="28286" y="60023"/>
                  </a:lnTo>
                  <a:lnTo>
                    <a:pt x="60023" y="28286"/>
                  </a:lnTo>
                  <a:lnTo>
                    <a:pt x="100268" y="7474"/>
                  </a:lnTo>
                  <a:lnTo>
                    <a:pt x="146608" y="0"/>
                  </a:lnTo>
                  <a:lnTo>
                    <a:pt x="8803877" y="0"/>
                  </a:lnTo>
                  <a:lnTo>
                    <a:pt x="8859981" y="11159"/>
                  </a:lnTo>
                  <a:lnTo>
                    <a:pt x="8907545" y="42940"/>
                  </a:lnTo>
                  <a:lnTo>
                    <a:pt x="8939326" y="90503"/>
                  </a:lnTo>
                  <a:lnTo>
                    <a:pt x="8950485" y="146608"/>
                  </a:lnTo>
                  <a:lnTo>
                    <a:pt x="8950485" y="1319477"/>
                  </a:lnTo>
                  <a:lnTo>
                    <a:pt x="8943011" y="1365817"/>
                  </a:lnTo>
                  <a:lnTo>
                    <a:pt x="8922198" y="1406063"/>
                  </a:lnTo>
                  <a:lnTo>
                    <a:pt x="8890462" y="1437800"/>
                  </a:lnTo>
                  <a:lnTo>
                    <a:pt x="8850217" y="1458613"/>
                  </a:lnTo>
                  <a:lnTo>
                    <a:pt x="8803877" y="1466087"/>
                  </a:lnTo>
                  <a:close/>
                </a:path>
              </a:pathLst>
            </a:custGeom>
            <a:solidFill>
              <a:srgbClr val="CED7E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26" name="Google Shape;126;p8"/>
            <p:cNvPicPr preferRelativeResize="0"/>
            <p:nvPr/>
          </p:nvPicPr>
          <p:blipFill rotWithShape="1">
            <a:blip r:embed="rId10">
              <a:alphaModFix/>
            </a:blip>
            <a:srcRect b="0" l="0" r="0" t="0"/>
            <a:stretch/>
          </p:blipFill>
          <p:spPr>
            <a:xfrm>
              <a:off x="3934473" y="8279116"/>
              <a:ext cx="806346" cy="806346"/>
            </a:xfrm>
            <a:prstGeom prst="rect">
              <a:avLst/>
            </a:prstGeom>
            <a:noFill/>
            <a:ln>
              <a:noFill/>
            </a:ln>
          </p:spPr>
        </p:pic>
        <p:sp>
          <p:nvSpPr>
            <p:cNvPr id="127" name="Google Shape;127;p8"/>
            <p:cNvSpPr/>
            <p:nvPr/>
          </p:nvSpPr>
          <p:spPr>
            <a:xfrm>
              <a:off x="3934472" y="8279115"/>
              <a:ext cx="806450" cy="806450"/>
            </a:xfrm>
            <a:custGeom>
              <a:rect b="b" l="l" r="r" t="t"/>
              <a:pathLst>
                <a:path extrusionOk="0" h="806450" w="806450">
                  <a:moveTo>
                    <a:pt x="0" y="0"/>
                  </a:moveTo>
                  <a:lnTo>
                    <a:pt x="806346" y="0"/>
                  </a:lnTo>
                  <a:lnTo>
                    <a:pt x="806346" y="806347"/>
                  </a:lnTo>
                  <a:lnTo>
                    <a:pt x="0" y="806347"/>
                  </a:lnTo>
                  <a:lnTo>
                    <a:pt x="0" y="0"/>
                  </a:lnTo>
                  <a:close/>
                </a:path>
              </a:pathLst>
            </a:custGeom>
            <a:noFill/>
            <a:ln cap="flat" cmpd="sng" w="25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8" name="Google Shape;128;p8"/>
          <p:cNvSpPr txBox="1"/>
          <p:nvPr/>
        </p:nvSpPr>
        <p:spPr>
          <a:xfrm>
            <a:off x="5324011" y="8132189"/>
            <a:ext cx="2918460" cy="3454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MX" sz="2100">
                <a:latin typeface="Trebuchet MS"/>
                <a:ea typeface="Trebuchet MS"/>
                <a:cs typeface="Trebuchet MS"/>
                <a:sym typeface="Trebuchet MS"/>
              </a:rPr>
              <a:t>Sugerencia de Recetas.</a:t>
            </a:r>
            <a:endParaRPr sz="21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g3949e0aee13_1_18"/>
          <p:cNvSpPr/>
          <p:nvPr/>
        </p:nvSpPr>
        <p:spPr>
          <a:xfrm>
            <a:off x="0" y="0"/>
            <a:ext cx="18288000" cy="102870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34" name="Google Shape;134;g3949e0aee13_1_18"/>
          <p:cNvPicPr preferRelativeResize="0"/>
          <p:nvPr/>
        </p:nvPicPr>
        <p:blipFill rotWithShape="1">
          <a:blip r:embed="rId3">
            <a:alphaModFix/>
          </a:blip>
          <a:srcRect b="10743" l="0" r="0" t="17106"/>
          <a:stretch/>
        </p:blipFill>
        <p:spPr>
          <a:xfrm>
            <a:off x="6821905" y="-7"/>
            <a:ext cx="11466093" cy="5522108"/>
          </a:xfrm>
          <a:prstGeom prst="rect">
            <a:avLst/>
          </a:prstGeom>
          <a:noFill/>
          <a:ln>
            <a:noFill/>
          </a:ln>
        </p:spPr>
      </p:pic>
      <p:pic>
        <p:nvPicPr>
          <p:cNvPr id="135" name="Google Shape;135;g3949e0aee13_1_18"/>
          <p:cNvPicPr preferRelativeResize="0"/>
          <p:nvPr/>
        </p:nvPicPr>
        <p:blipFill rotWithShape="1">
          <a:blip r:embed="rId4">
            <a:alphaModFix/>
          </a:blip>
          <a:srcRect b="22961" l="0" r="0" t="14780"/>
          <a:stretch/>
        </p:blipFill>
        <p:spPr>
          <a:xfrm>
            <a:off x="6821907" y="5522113"/>
            <a:ext cx="11466094" cy="4764893"/>
          </a:xfrm>
          <a:prstGeom prst="rect">
            <a:avLst/>
          </a:prstGeom>
          <a:noFill/>
          <a:ln>
            <a:noFill/>
          </a:ln>
        </p:spPr>
      </p:pic>
      <p:sp>
        <p:nvSpPr>
          <p:cNvPr id="136" name="Google Shape;136;g3949e0aee13_1_18"/>
          <p:cNvSpPr/>
          <p:nvPr/>
        </p:nvSpPr>
        <p:spPr>
          <a:xfrm>
            <a:off x="0" y="0"/>
            <a:ext cx="18288000" cy="10287000"/>
          </a:xfrm>
          <a:prstGeom prst="rect">
            <a:avLst/>
          </a:prstGeom>
          <a:gradFill>
            <a:gsLst>
              <a:gs pos="0">
                <a:srgbClr val="0C0C0C"/>
              </a:gs>
              <a:gs pos="36000">
                <a:srgbClr val="0C0C0C"/>
              </a:gs>
              <a:gs pos="81000">
                <a:srgbClr val="0C0C0C">
                  <a:alpha val="0"/>
                </a:srgbClr>
              </a:gs>
              <a:gs pos="100000">
                <a:srgbClr val="0C0C0C">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7" name="Google Shape;137;g3949e0aee13_1_18"/>
          <p:cNvSpPr txBox="1"/>
          <p:nvPr>
            <p:ph type="title"/>
          </p:nvPr>
        </p:nvSpPr>
        <p:spPr>
          <a:xfrm>
            <a:off x="1257300" y="1672828"/>
            <a:ext cx="8094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000"/>
              <a:buNone/>
            </a:pPr>
            <a:r>
              <a:rPr lang="es-MX" sz="7500">
                <a:latin typeface="Arial"/>
                <a:ea typeface="Arial"/>
                <a:cs typeface="Arial"/>
                <a:sym typeface="Arial"/>
              </a:rPr>
              <a:t>Avance Desarrollo de Aplicación</a:t>
            </a:r>
            <a:endParaRPr sz="7500">
              <a:latin typeface="Arial"/>
              <a:ea typeface="Arial"/>
              <a:cs typeface="Arial"/>
              <a:sym typeface="Arial"/>
            </a:endParaRPr>
          </a:p>
        </p:txBody>
      </p:sp>
      <p:cxnSp>
        <p:nvCxnSpPr>
          <p:cNvPr id="138" name="Google Shape;138;g3949e0aee13_1_18"/>
          <p:cNvCxnSpPr/>
          <p:nvPr/>
        </p:nvCxnSpPr>
        <p:spPr>
          <a:xfrm rot="10800000">
            <a:off x="1257298" y="5522112"/>
            <a:ext cx="17030700" cy="0"/>
          </a:xfrm>
          <a:prstGeom prst="straightConnector1">
            <a:avLst/>
          </a:prstGeom>
          <a:noFill/>
          <a:ln cap="flat" cmpd="sng" w="12700">
            <a:solidFill>
              <a:schemeClr val="accent2"/>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37"/>
                                        </p:tgtEl>
                                        <p:attrNameLst>
                                          <p:attrName>style.visibility</p:attrName>
                                        </p:attrNameLst>
                                      </p:cBhvr>
                                      <p:to>
                                        <p:strVal val="visible"/>
                                      </p:to>
                                    </p:set>
                                    <p:animEffect filter="fade" transition="in">
                                      <p:cBhvr>
                                        <p:cTn dur="4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 name="Shape 142"/>
        <p:cNvGrpSpPr/>
        <p:nvPr/>
      </p:nvGrpSpPr>
      <p:grpSpPr>
        <a:xfrm>
          <a:off x="0" y="0"/>
          <a:ext cx="0" cy="0"/>
          <a:chOff x="0" y="0"/>
          <a:chExt cx="0" cy="0"/>
        </a:xfrm>
      </p:grpSpPr>
      <p:sp>
        <p:nvSpPr>
          <p:cNvPr id="143" name="Google Shape;143;g3949e0aee13_1_193"/>
          <p:cNvSpPr/>
          <p:nvPr/>
        </p:nvSpPr>
        <p:spPr>
          <a:xfrm>
            <a:off x="0" y="0"/>
            <a:ext cx="18288000" cy="102870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44" name="Google Shape;144;g3949e0aee13_1_193"/>
          <p:cNvPicPr preferRelativeResize="0"/>
          <p:nvPr/>
        </p:nvPicPr>
        <p:blipFill rotWithShape="1">
          <a:blip r:embed="rId3">
            <a:alphaModFix/>
          </a:blip>
          <a:srcRect b="0" l="12875" r="10437" t="0"/>
          <a:stretch/>
        </p:blipFill>
        <p:spPr>
          <a:xfrm>
            <a:off x="6425853" y="10"/>
            <a:ext cx="11862147" cy="10286993"/>
          </a:xfrm>
          <a:prstGeom prst="rect">
            <a:avLst/>
          </a:prstGeom>
          <a:noFill/>
          <a:ln>
            <a:noFill/>
          </a:ln>
        </p:spPr>
      </p:pic>
      <p:sp>
        <p:nvSpPr>
          <p:cNvPr id="145" name="Google Shape;145;g3949e0aee13_1_193"/>
          <p:cNvSpPr/>
          <p:nvPr/>
        </p:nvSpPr>
        <p:spPr>
          <a:xfrm>
            <a:off x="0" y="0"/>
            <a:ext cx="18288000" cy="10287000"/>
          </a:xfrm>
          <a:prstGeom prst="rect">
            <a:avLst/>
          </a:prstGeom>
          <a:gradFill>
            <a:gsLst>
              <a:gs pos="0">
                <a:srgbClr val="0C0C0C"/>
              </a:gs>
              <a:gs pos="36000">
                <a:srgbClr val="0C0C0C"/>
              </a:gs>
              <a:gs pos="81000">
                <a:srgbClr val="0C0C0C">
                  <a:alpha val="0"/>
                </a:srgbClr>
              </a:gs>
              <a:gs pos="100000">
                <a:srgbClr val="0C0C0C">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6" name="Google Shape;146;g3949e0aee13_1_193"/>
          <p:cNvSpPr txBox="1"/>
          <p:nvPr>
            <p:ph type="title"/>
          </p:nvPr>
        </p:nvSpPr>
        <p:spPr>
          <a:xfrm>
            <a:off x="1092994" y="1672828"/>
            <a:ext cx="82581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000"/>
              <a:buNone/>
            </a:pPr>
            <a:r>
              <a:rPr lang="es-MX" sz="7500">
                <a:latin typeface="Arial"/>
                <a:ea typeface="Arial"/>
                <a:cs typeface="Arial"/>
                <a:sym typeface="Arial"/>
              </a:rPr>
              <a:t>Interfaz de la Aplicación</a:t>
            </a:r>
            <a:endParaRPr sz="7500">
              <a:solidFill>
                <a:schemeClr val="lt1"/>
              </a:solidFill>
              <a:latin typeface="Arial"/>
              <a:ea typeface="Arial"/>
              <a:cs typeface="Arial"/>
              <a:sym typeface="Arial"/>
            </a:endParaRPr>
          </a:p>
        </p:txBody>
      </p:sp>
      <p:cxnSp>
        <p:nvCxnSpPr>
          <p:cNvPr id="147" name="Google Shape;147;g3949e0aee13_1_193"/>
          <p:cNvCxnSpPr/>
          <p:nvPr/>
        </p:nvCxnSpPr>
        <p:spPr>
          <a:xfrm rot="10800000">
            <a:off x="192907" y="5522112"/>
            <a:ext cx="17902200" cy="0"/>
          </a:xfrm>
          <a:prstGeom prst="straightConnector1">
            <a:avLst/>
          </a:prstGeom>
          <a:noFill/>
          <a:ln cap="flat" cmpd="sng" w="12700">
            <a:solidFill>
              <a:schemeClr val="accent2"/>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sp>
        <p:nvSpPr>
          <p:cNvPr id="152" name="Google Shape;152;g3949e0aee13_1_110"/>
          <p:cNvSpPr/>
          <p:nvPr/>
        </p:nvSpPr>
        <p:spPr>
          <a:xfrm>
            <a:off x="0" y="0"/>
            <a:ext cx="18288000" cy="102870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53" name="Google Shape;153;g3949e0aee13_1_110"/>
          <p:cNvPicPr preferRelativeResize="0"/>
          <p:nvPr/>
        </p:nvPicPr>
        <p:blipFill rotWithShape="1">
          <a:blip r:embed="rId3">
            <a:alphaModFix/>
          </a:blip>
          <a:srcRect b="3946" l="0" r="0" t="23903"/>
          <a:stretch/>
        </p:blipFill>
        <p:spPr>
          <a:xfrm>
            <a:off x="6821905" y="-7"/>
            <a:ext cx="11466093" cy="5522109"/>
          </a:xfrm>
          <a:prstGeom prst="rect">
            <a:avLst/>
          </a:prstGeom>
          <a:noFill/>
          <a:ln>
            <a:noFill/>
          </a:ln>
        </p:spPr>
      </p:pic>
      <p:pic>
        <p:nvPicPr>
          <p:cNvPr id="154" name="Google Shape;154;g3949e0aee13_1_110"/>
          <p:cNvPicPr preferRelativeResize="0"/>
          <p:nvPr/>
        </p:nvPicPr>
        <p:blipFill rotWithShape="1">
          <a:blip r:embed="rId4">
            <a:alphaModFix/>
          </a:blip>
          <a:srcRect b="12626" l="0" r="0" t="25115"/>
          <a:stretch/>
        </p:blipFill>
        <p:spPr>
          <a:xfrm>
            <a:off x="6821907" y="5522113"/>
            <a:ext cx="11466094" cy="4764894"/>
          </a:xfrm>
          <a:prstGeom prst="rect">
            <a:avLst/>
          </a:prstGeom>
          <a:noFill/>
          <a:ln>
            <a:noFill/>
          </a:ln>
        </p:spPr>
      </p:pic>
      <p:sp>
        <p:nvSpPr>
          <p:cNvPr id="155" name="Google Shape;155;g3949e0aee13_1_110"/>
          <p:cNvSpPr/>
          <p:nvPr/>
        </p:nvSpPr>
        <p:spPr>
          <a:xfrm>
            <a:off x="0" y="0"/>
            <a:ext cx="18288000" cy="10287000"/>
          </a:xfrm>
          <a:prstGeom prst="rect">
            <a:avLst/>
          </a:prstGeom>
          <a:gradFill>
            <a:gsLst>
              <a:gs pos="0">
                <a:srgbClr val="0C0C0C"/>
              </a:gs>
              <a:gs pos="36000">
                <a:srgbClr val="0C0C0C"/>
              </a:gs>
              <a:gs pos="81000">
                <a:srgbClr val="0C0C0C">
                  <a:alpha val="0"/>
                </a:srgbClr>
              </a:gs>
              <a:gs pos="100000">
                <a:srgbClr val="0C0C0C">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6" name="Google Shape;156;g3949e0aee13_1_110"/>
          <p:cNvSpPr txBox="1"/>
          <p:nvPr>
            <p:ph type="title"/>
          </p:nvPr>
        </p:nvSpPr>
        <p:spPr>
          <a:xfrm>
            <a:off x="1257300" y="1672828"/>
            <a:ext cx="8094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000"/>
              <a:buNone/>
            </a:pPr>
            <a:r>
              <a:rPr lang="es-MX" sz="7500">
                <a:latin typeface="Arial"/>
                <a:ea typeface="Arial"/>
                <a:cs typeface="Arial"/>
                <a:sym typeface="Arial"/>
              </a:rPr>
              <a:t>Funcionalidades de la Aplicación</a:t>
            </a:r>
            <a:endParaRPr/>
          </a:p>
        </p:txBody>
      </p:sp>
      <p:cxnSp>
        <p:nvCxnSpPr>
          <p:cNvPr id="157" name="Google Shape;157;g3949e0aee13_1_110"/>
          <p:cNvCxnSpPr/>
          <p:nvPr/>
        </p:nvCxnSpPr>
        <p:spPr>
          <a:xfrm rot="10800000">
            <a:off x="1257298" y="5522112"/>
            <a:ext cx="17030700" cy="0"/>
          </a:xfrm>
          <a:prstGeom prst="straightConnector1">
            <a:avLst/>
          </a:prstGeom>
          <a:noFill/>
          <a:ln cap="flat" cmpd="sng" w="12700">
            <a:solidFill>
              <a:schemeClr val="accent2"/>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
        <p:nvSpPr>
          <p:cNvPr id="162" name="Google Shape;162;g3949e0aee13_1_101"/>
          <p:cNvSpPr/>
          <p:nvPr/>
        </p:nvSpPr>
        <p:spPr>
          <a:xfrm>
            <a:off x="0" y="0"/>
            <a:ext cx="18288000" cy="102870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63" name="Google Shape;163;g3949e0aee13_1_101"/>
          <p:cNvPicPr preferRelativeResize="0"/>
          <p:nvPr/>
        </p:nvPicPr>
        <p:blipFill rotWithShape="1">
          <a:blip r:embed="rId3">
            <a:alphaModFix/>
          </a:blip>
          <a:srcRect b="10743" l="0" r="0" t="17106"/>
          <a:stretch/>
        </p:blipFill>
        <p:spPr>
          <a:xfrm>
            <a:off x="6821905" y="-7"/>
            <a:ext cx="11466093" cy="5522108"/>
          </a:xfrm>
          <a:prstGeom prst="rect">
            <a:avLst/>
          </a:prstGeom>
          <a:noFill/>
          <a:ln>
            <a:noFill/>
          </a:ln>
        </p:spPr>
      </p:pic>
      <p:pic>
        <p:nvPicPr>
          <p:cNvPr id="164" name="Google Shape;164;g3949e0aee13_1_101"/>
          <p:cNvPicPr preferRelativeResize="0"/>
          <p:nvPr/>
        </p:nvPicPr>
        <p:blipFill rotWithShape="1">
          <a:blip r:embed="rId4">
            <a:alphaModFix/>
          </a:blip>
          <a:srcRect b="22961" l="0" r="0" t="14780"/>
          <a:stretch/>
        </p:blipFill>
        <p:spPr>
          <a:xfrm>
            <a:off x="6821907" y="5522113"/>
            <a:ext cx="11466094" cy="4764893"/>
          </a:xfrm>
          <a:prstGeom prst="rect">
            <a:avLst/>
          </a:prstGeom>
          <a:noFill/>
          <a:ln>
            <a:noFill/>
          </a:ln>
        </p:spPr>
      </p:pic>
      <p:sp>
        <p:nvSpPr>
          <p:cNvPr id="165" name="Google Shape;165;g3949e0aee13_1_101"/>
          <p:cNvSpPr/>
          <p:nvPr/>
        </p:nvSpPr>
        <p:spPr>
          <a:xfrm>
            <a:off x="0" y="0"/>
            <a:ext cx="18288000" cy="10287000"/>
          </a:xfrm>
          <a:prstGeom prst="rect">
            <a:avLst/>
          </a:prstGeom>
          <a:gradFill>
            <a:gsLst>
              <a:gs pos="0">
                <a:srgbClr val="0C0C0C"/>
              </a:gs>
              <a:gs pos="36000">
                <a:srgbClr val="0C0C0C"/>
              </a:gs>
              <a:gs pos="81000">
                <a:srgbClr val="0C0C0C">
                  <a:alpha val="0"/>
                </a:srgbClr>
              </a:gs>
              <a:gs pos="100000">
                <a:srgbClr val="0C0C0C">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6" name="Google Shape;166;g3949e0aee13_1_101"/>
          <p:cNvSpPr txBox="1"/>
          <p:nvPr>
            <p:ph type="title"/>
          </p:nvPr>
        </p:nvSpPr>
        <p:spPr>
          <a:xfrm>
            <a:off x="1257300" y="1672828"/>
            <a:ext cx="8094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000"/>
              <a:buNone/>
            </a:pPr>
            <a:r>
              <a:rPr lang="es-MX" sz="7500">
                <a:latin typeface="Arial"/>
                <a:ea typeface="Arial"/>
                <a:cs typeface="Arial"/>
                <a:sym typeface="Arial"/>
              </a:rPr>
              <a:t>Resumen Ejecutivo y Viabilidad</a:t>
            </a:r>
            <a:endParaRPr sz="7500">
              <a:latin typeface="Arial"/>
              <a:ea typeface="Arial"/>
              <a:cs typeface="Arial"/>
              <a:sym typeface="Arial"/>
            </a:endParaRPr>
          </a:p>
        </p:txBody>
      </p:sp>
      <p:cxnSp>
        <p:nvCxnSpPr>
          <p:cNvPr id="167" name="Google Shape;167;g3949e0aee13_1_101"/>
          <p:cNvCxnSpPr/>
          <p:nvPr/>
        </p:nvCxnSpPr>
        <p:spPr>
          <a:xfrm rot="10800000">
            <a:off x="1257298" y="5522112"/>
            <a:ext cx="17030700" cy="0"/>
          </a:xfrm>
          <a:prstGeom prst="straightConnector1">
            <a:avLst/>
          </a:prstGeom>
          <a:noFill/>
          <a:ln cap="flat" cmpd="sng" w="12700">
            <a:solidFill>
              <a:schemeClr val="accent2"/>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66"/>
                                        </p:tgtEl>
                                        <p:attrNameLst>
                                          <p:attrName>style.visibility</p:attrName>
                                        </p:attrNameLst>
                                      </p:cBhvr>
                                      <p:to>
                                        <p:strVal val="visible"/>
                                      </p:to>
                                    </p:set>
                                    <p:animEffect filter="fade" transition="in">
                                      <p:cBhvr>
                                        <p:cTn dur="4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21"/>
          <p:cNvPicPr preferRelativeResize="0"/>
          <p:nvPr/>
        </p:nvPicPr>
        <p:blipFill rotWithShape="1">
          <a:blip r:embed="rId3">
            <a:alphaModFix/>
          </a:blip>
          <a:srcRect b="0" l="0" r="0" t="0"/>
          <a:stretch/>
        </p:blipFill>
        <p:spPr>
          <a:xfrm>
            <a:off x="14752327" y="5381439"/>
            <a:ext cx="3535673" cy="4905560"/>
          </a:xfrm>
          <a:prstGeom prst="rect">
            <a:avLst/>
          </a:prstGeom>
          <a:noFill/>
          <a:ln>
            <a:noFill/>
          </a:ln>
        </p:spPr>
      </p:pic>
      <p:pic>
        <p:nvPicPr>
          <p:cNvPr id="173" name="Google Shape;173;p21"/>
          <p:cNvPicPr preferRelativeResize="0"/>
          <p:nvPr/>
        </p:nvPicPr>
        <p:blipFill rotWithShape="1">
          <a:blip r:embed="rId4">
            <a:alphaModFix/>
          </a:blip>
          <a:srcRect b="0" l="0" r="0" t="0"/>
          <a:stretch/>
        </p:blipFill>
        <p:spPr>
          <a:xfrm>
            <a:off x="0" y="0"/>
            <a:ext cx="3330911" cy="2790326"/>
          </a:xfrm>
          <a:prstGeom prst="rect">
            <a:avLst/>
          </a:prstGeom>
          <a:noFill/>
          <a:ln>
            <a:noFill/>
          </a:ln>
        </p:spPr>
      </p:pic>
      <p:pic>
        <p:nvPicPr>
          <p:cNvPr id="174" name="Google Shape;174;p21"/>
          <p:cNvPicPr preferRelativeResize="0"/>
          <p:nvPr/>
        </p:nvPicPr>
        <p:blipFill rotWithShape="1">
          <a:blip r:embed="rId5">
            <a:alphaModFix/>
          </a:blip>
          <a:srcRect b="0" l="0" r="0" t="0"/>
          <a:stretch/>
        </p:blipFill>
        <p:spPr>
          <a:xfrm>
            <a:off x="0" y="8775389"/>
            <a:ext cx="4103901" cy="1011110"/>
          </a:xfrm>
          <a:prstGeom prst="rect">
            <a:avLst/>
          </a:prstGeom>
          <a:noFill/>
          <a:ln>
            <a:noFill/>
          </a:ln>
        </p:spPr>
      </p:pic>
      <p:pic>
        <p:nvPicPr>
          <p:cNvPr id="175" name="Google Shape;175;p21"/>
          <p:cNvPicPr preferRelativeResize="0"/>
          <p:nvPr/>
        </p:nvPicPr>
        <p:blipFill rotWithShape="1">
          <a:blip r:embed="rId6">
            <a:alphaModFix/>
          </a:blip>
          <a:srcRect b="0" l="0" r="0" t="0"/>
          <a:stretch/>
        </p:blipFill>
        <p:spPr>
          <a:xfrm>
            <a:off x="13971970" y="475521"/>
            <a:ext cx="4316030" cy="1011109"/>
          </a:xfrm>
          <a:prstGeom prst="rect">
            <a:avLst/>
          </a:prstGeom>
          <a:noFill/>
          <a:ln>
            <a:noFill/>
          </a:ln>
        </p:spPr>
      </p:pic>
      <p:pic>
        <p:nvPicPr>
          <p:cNvPr id="176" name="Google Shape;176;p21"/>
          <p:cNvPicPr preferRelativeResize="0"/>
          <p:nvPr/>
        </p:nvPicPr>
        <p:blipFill rotWithShape="1">
          <a:blip r:embed="rId7">
            <a:alphaModFix/>
          </a:blip>
          <a:srcRect b="0" l="0" r="0" t="0"/>
          <a:stretch/>
        </p:blipFill>
        <p:spPr>
          <a:xfrm>
            <a:off x="8407435" y="8457041"/>
            <a:ext cx="1879565" cy="1329457"/>
          </a:xfrm>
          <a:prstGeom prst="rect">
            <a:avLst/>
          </a:prstGeom>
          <a:noFill/>
          <a:ln>
            <a:noFill/>
          </a:ln>
        </p:spPr>
      </p:pic>
      <p:sp>
        <p:nvSpPr>
          <p:cNvPr id="177" name="Google Shape;177;p21"/>
          <p:cNvSpPr txBox="1"/>
          <p:nvPr>
            <p:ph type="title"/>
          </p:nvPr>
        </p:nvSpPr>
        <p:spPr>
          <a:xfrm>
            <a:off x="3330911" y="977625"/>
            <a:ext cx="11312188" cy="751488"/>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MX" sz="4800">
                <a:latin typeface="Arial"/>
                <a:ea typeface="Arial"/>
                <a:cs typeface="Arial"/>
                <a:sym typeface="Arial"/>
              </a:rPr>
              <a:t>Resumen Ejecutivo y Viabilidad</a:t>
            </a:r>
            <a:endParaRPr sz="4800"/>
          </a:p>
        </p:txBody>
      </p:sp>
      <p:graphicFrame>
        <p:nvGraphicFramePr>
          <p:cNvPr id="178" name="Google Shape;178;p21"/>
          <p:cNvGraphicFramePr/>
          <p:nvPr/>
        </p:nvGraphicFramePr>
        <p:xfrm>
          <a:off x="3330900" y="2925888"/>
          <a:ext cx="3000000" cy="3000000"/>
        </p:xfrm>
        <a:graphic>
          <a:graphicData uri="http://schemas.openxmlformats.org/drawingml/2006/table">
            <a:tbl>
              <a:tblPr>
                <a:noFill/>
                <a:tableStyleId>{E740065E-E62D-4A3E-A034-24EA0CF792AB}</a:tableStyleId>
              </a:tblPr>
              <a:tblGrid>
                <a:gridCol w="2175350"/>
                <a:gridCol w="3701175"/>
                <a:gridCol w="5876500"/>
              </a:tblGrid>
              <a:tr h="304800">
                <a:tc>
                  <a:txBody>
                    <a:bodyPr/>
                    <a:lstStyle/>
                    <a:p>
                      <a:pPr indent="0" lvl="0" marL="0" rtl="0" algn="l">
                        <a:spcBef>
                          <a:spcPts val="0"/>
                        </a:spcBef>
                        <a:spcAft>
                          <a:spcPts val="0"/>
                        </a:spcAft>
                        <a:buNone/>
                      </a:pPr>
                      <a:r>
                        <a:rPr b="1" lang="es-MX" sz="1800">
                          <a:solidFill>
                            <a:srgbClr val="0E2841"/>
                          </a:solidFill>
                        </a:rPr>
                        <a:t>Concepto</a:t>
                      </a:r>
                      <a:endParaRPr b="1"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6925">
                      <a:solidFill>
                        <a:srgbClr val="8ED973"/>
                      </a:solidFill>
                      <a:prstDash val="solid"/>
                      <a:round/>
                      <a:headEnd len="sm" w="sm" type="none"/>
                      <a:tailEnd len="sm" w="sm" type="none"/>
                    </a:lnT>
                    <a:lnB cap="flat" cmpd="sng" w="13850">
                      <a:solidFill>
                        <a:srgbClr val="156082"/>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rPr b="1" lang="es-MX" sz="1800">
                          <a:solidFill>
                            <a:srgbClr val="0E2841"/>
                          </a:solidFill>
                        </a:rPr>
                        <a:t>Valor CLP / %</a:t>
                      </a:r>
                      <a:endParaRPr b="1"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6925">
                      <a:solidFill>
                        <a:srgbClr val="8ED973"/>
                      </a:solidFill>
                      <a:prstDash val="solid"/>
                      <a:round/>
                      <a:headEnd len="sm" w="sm" type="none"/>
                      <a:tailEnd len="sm" w="sm" type="none"/>
                    </a:lnT>
                    <a:lnB cap="flat" cmpd="sng" w="13850">
                      <a:solidFill>
                        <a:srgbClr val="156082"/>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rPr b="1" lang="es-MX" sz="1800">
                          <a:solidFill>
                            <a:srgbClr val="0E2841"/>
                          </a:solidFill>
                        </a:rPr>
                        <a:t>Resumen </a:t>
                      </a:r>
                      <a:endParaRPr b="1"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6925">
                      <a:solidFill>
                        <a:srgbClr val="8ED973"/>
                      </a:solidFill>
                      <a:prstDash val="solid"/>
                      <a:round/>
                      <a:headEnd len="sm" w="sm" type="none"/>
                      <a:tailEnd len="sm" w="sm" type="none"/>
                    </a:lnT>
                    <a:lnB cap="flat" cmpd="sng" w="13850">
                      <a:solidFill>
                        <a:srgbClr val="156082"/>
                      </a:solidFill>
                      <a:prstDash val="solid"/>
                      <a:round/>
                      <a:headEnd len="sm" w="sm" type="none"/>
                      <a:tailEnd len="sm" w="sm" type="none"/>
                    </a:lnB>
                    <a:solidFill>
                      <a:srgbClr val="F2F2F2"/>
                    </a:solidFill>
                  </a:tcPr>
                </a:tc>
              </a:tr>
              <a:tr h="609600">
                <a:tc>
                  <a:txBody>
                    <a:bodyPr/>
                    <a:lstStyle/>
                    <a:p>
                      <a:pPr indent="0" lvl="0" marL="0" rtl="0" algn="l">
                        <a:spcBef>
                          <a:spcPts val="0"/>
                        </a:spcBef>
                        <a:spcAft>
                          <a:spcPts val="0"/>
                        </a:spcAft>
                        <a:buNone/>
                      </a:pPr>
                      <a:r>
                        <a:rPr lang="es-MX" sz="1800">
                          <a:solidFill>
                            <a:srgbClr val="0E2841"/>
                          </a:solidFill>
                        </a:rPr>
                        <a:t>Inversión inicial</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B5E6A2"/>
                    </a:solidFill>
                  </a:tcPr>
                </a:tc>
                <a:tc>
                  <a:txBody>
                    <a:bodyPr/>
                    <a:lstStyle/>
                    <a:p>
                      <a:pPr indent="0" lvl="0" marL="0" rtl="0" algn="l">
                        <a:spcBef>
                          <a:spcPts val="0"/>
                        </a:spcBef>
                        <a:spcAft>
                          <a:spcPts val="0"/>
                        </a:spcAft>
                        <a:buNone/>
                      </a:pPr>
                      <a:r>
                        <a:rPr lang="es-MX" sz="1800">
                          <a:solidFill>
                            <a:srgbClr val="0E2841"/>
                          </a:solidFill>
                        </a:rPr>
                        <a:t>$14.541.000</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B5E6A2"/>
                    </a:solidFill>
                  </a:tcPr>
                </a:tc>
                <a:tc>
                  <a:txBody>
                    <a:bodyPr/>
                    <a:lstStyle/>
                    <a:p>
                      <a:pPr indent="0" lvl="0" marL="0" rtl="0" algn="l">
                        <a:spcBef>
                          <a:spcPts val="0"/>
                        </a:spcBef>
                        <a:spcAft>
                          <a:spcPts val="0"/>
                        </a:spcAft>
                        <a:buNone/>
                      </a:pPr>
                      <a:r>
                        <a:rPr lang="es-MX" sz="1800">
                          <a:solidFill>
                            <a:srgbClr val="0E2841"/>
                          </a:solidFill>
                        </a:rPr>
                        <a:t>Dinero necesario para iniciar el proyecto y cubrir los costos iniciales</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B5E6A2"/>
                    </a:solidFill>
                  </a:tcPr>
                </a:tc>
              </a:tr>
              <a:tr h="609600">
                <a:tc>
                  <a:txBody>
                    <a:bodyPr/>
                    <a:lstStyle/>
                    <a:p>
                      <a:pPr indent="0" lvl="0" marL="0" rtl="0" algn="l">
                        <a:spcBef>
                          <a:spcPts val="0"/>
                        </a:spcBef>
                        <a:spcAft>
                          <a:spcPts val="0"/>
                        </a:spcAft>
                        <a:buNone/>
                      </a:pPr>
                      <a:r>
                        <a:rPr lang="es-MX" sz="1800">
                          <a:solidFill>
                            <a:srgbClr val="0E2841"/>
                          </a:solidFill>
                        </a:rPr>
                        <a:t>VAN (Valor Actual Neto)</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AF2D0"/>
                    </a:solidFill>
                  </a:tcPr>
                </a:tc>
                <a:tc>
                  <a:txBody>
                    <a:bodyPr/>
                    <a:lstStyle/>
                    <a:p>
                      <a:pPr indent="0" lvl="0" marL="0" rtl="0" algn="l">
                        <a:spcBef>
                          <a:spcPts val="0"/>
                        </a:spcBef>
                        <a:spcAft>
                          <a:spcPts val="0"/>
                        </a:spcAft>
                        <a:buNone/>
                      </a:pPr>
                      <a:r>
                        <a:rPr lang="es-MX" sz="1800">
                          <a:solidFill>
                            <a:srgbClr val="0E2841"/>
                          </a:solidFill>
                        </a:rPr>
                        <a:t>$4.073.583</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AF2D0"/>
                    </a:solidFill>
                  </a:tcPr>
                </a:tc>
                <a:tc>
                  <a:txBody>
                    <a:bodyPr/>
                    <a:lstStyle/>
                    <a:p>
                      <a:pPr indent="0" lvl="0" marL="0" rtl="0" algn="l">
                        <a:spcBef>
                          <a:spcPts val="0"/>
                        </a:spcBef>
                        <a:spcAft>
                          <a:spcPts val="0"/>
                        </a:spcAft>
                        <a:buNone/>
                      </a:pPr>
                      <a:r>
                        <a:rPr lang="es-MX" sz="1800">
                          <a:solidFill>
                            <a:srgbClr val="0E2841"/>
                          </a:solidFill>
                        </a:rPr>
                        <a:t>Ganancia neta descontada con tasa de descuento que refleja costo de capital</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AF2D0"/>
                    </a:solidFill>
                  </a:tcPr>
                </a:tc>
              </a:tr>
              <a:tr h="609600">
                <a:tc>
                  <a:txBody>
                    <a:bodyPr/>
                    <a:lstStyle/>
                    <a:p>
                      <a:pPr indent="0" lvl="0" marL="0" rtl="0" algn="l">
                        <a:spcBef>
                          <a:spcPts val="0"/>
                        </a:spcBef>
                        <a:spcAft>
                          <a:spcPts val="0"/>
                        </a:spcAft>
                        <a:buNone/>
                      </a:pPr>
                      <a:r>
                        <a:rPr lang="es-MX" sz="1800">
                          <a:solidFill>
                            <a:srgbClr val="0E2841"/>
                          </a:solidFill>
                        </a:rPr>
                        <a:t>TIR (Tasa Interna de Retorno)</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B5E6A2"/>
                    </a:solidFill>
                  </a:tcPr>
                </a:tc>
                <a:tc>
                  <a:txBody>
                    <a:bodyPr/>
                    <a:lstStyle/>
                    <a:p>
                      <a:pPr indent="0" lvl="0" marL="0" rtl="0" algn="l">
                        <a:spcBef>
                          <a:spcPts val="0"/>
                        </a:spcBef>
                        <a:spcAft>
                          <a:spcPts val="0"/>
                        </a:spcAft>
                        <a:buNone/>
                      </a:pPr>
                      <a:r>
                        <a:rPr lang="es-MX" sz="1800">
                          <a:solidFill>
                            <a:srgbClr val="0E2841"/>
                          </a:solidFill>
                        </a:rPr>
                        <a:t>34%</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B5E6A2"/>
                    </a:solidFill>
                  </a:tcPr>
                </a:tc>
                <a:tc>
                  <a:txBody>
                    <a:bodyPr/>
                    <a:lstStyle/>
                    <a:p>
                      <a:pPr indent="0" lvl="0" marL="0" rtl="0" algn="l">
                        <a:spcBef>
                          <a:spcPts val="0"/>
                        </a:spcBef>
                        <a:spcAft>
                          <a:spcPts val="0"/>
                        </a:spcAft>
                        <a:buNone/>
                      </a:pPr>
                      <a:r>
                        <a:rPr lang="es-MX" sz="1800">
                          <a:solidFill>
                            <a:srgbClr val="0E2841"/>
                          </a:solidFill>
                        </a:rPr>
                        <a:t>Retorno anual esperado basado en los flujos de caja descontados</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B5E6A2"/>
                    </a:solidFill>
                  </a:tcPr>
                </a:tc>
              </a:tr>
              <a:tr h="609600">
                <a:tc>
                  <a:txBody>
                    <a:bodyPr/>
                    <a:lstStyle/>
                    <a:p>
                      <a:pPr indent="0" lvl="0" marL="0" rtl="0" algn="l">
                        <a:spcBef>
                          <a:spcPts val="0"/>
                        </a:spcBef>
                        <a:spcAft>
                          <a:spcPts val="0"/>
                        </a:spcAft>
                        <a:buNone/>
                      </a:pPr>
                      <a:r>
                        <a:rPr lang="es-MX" sz="1800">
                          <a:solidFill>
                            <a:srgbClr val="0E2841"/>
                          </a:solidFill>
                        </a:rPr>
                        <a:t>ROI (Retorno sobre la Inversión)</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AF2D0"/>
                    </a:solidFill>
                  </a:tcPr>
                </a:tc>
                <a:tc>
                  <a:txBody>
                    <a:bodyPr/>
                    <a:lstStyle/>
                    <a:p>
                      <a:pPr indent="0" lvl="0" marL="0" rtl="0" algn="l">
                        <a:spcBef>
                          <a:spcPts val="0"/>
                        </a:spcBef>
                        <a:spcAft>
                          <a:spcPts val="0"/>
                        </a:spcAft>
                        <a:buNone/>
                      </a:pPr>
                      <a:r>
                        <a:rPr lang="es-MX" sz="1800">
                          <a:solidFill>
                            <a:srgbClr val="0E2841"/>
                          </a:solidFill>
                        </a:rPr>
                        <a:t>47%</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AF2D0"/>
                    </a:solidFill>
                  </a:tcPr>
                </a:tc>
                <a:tc>
                  <a:txBody>
                    <a:bodyPr/>
                    <a:lstStyle/>
                    <a:p>
                      <a:pPr indent="0" lvl="0" marL="0" rtl="0" algn="l">
                        <a:spcBef>
                          <a:spcPts val="0"/>
                        </a:spcBef>
                        <a:spcAft>
                          <a:spcPts val="0"/>
                        </a:spcAft>
                        <a:buNone/>
                      </a:pPr>
                      <a:r>
                        <a:rPr lang="es-MX" sz="1800">
                          <a:solidFill>
                            <a:srgbClr val="0E2841"/>
                          </a:solidFill>
                        </a:rPr>
                        <a:t>Ganancia neta dividida por inversión total, expresado en porcentaje</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AF2D0"/>
                    </a:solidFill>
                  </a:tcPr>
                </a:tc>
              </a:tr>
              <a:tr h="609600">
                <a:tc>
                  <a:txBody>
                    <a:bodyPr/>
                    <a:lstStyle/>
                    <a:p>
                      <a:pPr indent="0" lvl="0" marL="0" rtl="0" algn="l">
                        <a:spcBef>
                          <a:spcPts val="0"/>
                        </a:spcBef>
                        <a:spcAft>
                          <a:spcPts val="0"/>
                        </a:spcAft>
                        <a:buNone/>
                      </a:pPr>
                      <a:r>
                        <a:rPr lang="es-MX" sz="1800">
                          <a:solidFill>
                            <a:srgbClr val="0E2841"/>
                          </a:solidFill>
                        </a:rPr>
                        <a:t>Payback</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B5E6A2"/>
                    </a:solidFill>
                  </a:tcPr>
                </a:tc>
                <a:tc>
                  <a:txBody>
                    <a:bodyPr/>
                    <a:lstStyle/>
                    <a:p>
                      <a:pPr indent="0" lvl="0" marL="0" rtl="0" algn="l">
                        <a:spcBef>
                          <a:spcPts val="0"/>
                        </a:spcBef>
                        <a:spcAft>
                          <a:spcPts val="0"/>
                        </a:spcAft>
                        <a:buNone/>
                      </a:pPr>
                      <a:r>
                        <a:rPr lang="es-MX" sz="1800">
                          <a:solidFill>
                            <a:srgbClr val="0E2841"/>
                          </a:solidFill>
                        </a:rPr>
                        <a:t>Año 4</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B5E6A2"/>
                    </a:solidFill>
                  </a:tcPr>
                </a:tc>
                <a:tc>
                  <a:txBody>
                    <a:bodyPr/>
                    <a:lstStyle/>
                    <a:p>
                      <a:pPr indent="0" lvl="0" marL="0" rtl="0" algn="l">
                        <a:spcBef>
                          <a:spcPts val="0"/>
                        </a:spcBef>
                        <a:spcAft>
                          <a:spcPts val="0"/>
                        </a:spcAft>
                        <a:buNone/>
                      </a:pPr>
                      <a:r>
                        <a:rPr lang="es-MX" sz="1800">
                          <a:solidFill>
                            <a:srgbClr val="0E2841"/>
                          </a:solidFill>
                        </a:rPr>
                        <a:t>Se restan los flujos netos al monto invertido hasta recuperar $14.541.000, resultando en 4 años</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B5E6A2"/>
                    </a:solidFill>
                  </a:tcPr>
                </a:tc>
              </a:tr>
              <a:tr h="609600">
                <a:tc>
                  <a:txBody>
                    <a:bodyPr/>
                    <a:lstStyle/>
                    <a:p>
                      <a:pPr indent="0" lvl="0" marL="0" rtl="0" algn="l">
                        <a:spcBef>
                          <a:spcPts val="0"/>
                        </a:spcBef>
                        <a:spcAft>
                          <a:spcPts val="0"/>
                        </a:spcAft>
                        <a:buNone/>
                      </a:pPr>
                      <a:r>
                        <a:rPr lang="es-MX" sz="1800">
                          <a:solidFill>
                            <a:srgbClr val="0E2841"/>
                          </a:solidFill>
                        </a:rPr>
                        <a:t>Punto de Equilibrio</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AF2D0"/>
                    </a:solidFill>
                  </a:tcPr>
                </a:tc>
                <a:tc>
                  <a:txBody>
                    <a:bodyPr/>
                    <a:lstStyle/>
                    <a:p>
                      <a:pPr indent="0" lvl="0" marL="0" rtl="0" algn="l">
                        <a:spcBef>
                          <a:spcPts val="0"/>
                        </a:spcBef>
                        <a:spcAft>
                          <a:spcPts val="0"/>
                        </a:spcAft>
                        <a:buNone/>
                      </a:pPr>
                      <a:r>
                        <a:rPr lang="es-MX" sz="1800">
                          <a:solidFill>
                            <a:srgbClr val="0E2841"/>
                          </a:solidFill>
                        </a:rPr>
                        <a:t>462 usuarios/mes</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AF2D0"/>
                    </a:solidFill>
                  </a:tcPr>
                </a:tc>
                <a:tc>
                  <a:txBody>
                    <a:bodyPr/>
                    <a:lstStyle/>
                    <a:p>
                      <a:pPr indent="0" lvl="0" marL="0" rtl="0" algn="l">
                        <a:spcBef>
                          <a:spcPts val="0"/>
                        </a:spcBef>
                        <a:spcAft>
                          <a:spcPts val="0"/>
                        </a:spcAft>
                        <a:buNone/>
                      </a:pPr>
                      <a:r>
                        <a:rPr lang="es-MX" sz="1800">
                          <a:solidFill>
                            <a:srgbClr val="0E2841"/>
                          </a:solidFill>
                        </a:rPr>
                        <a:t>Se divide el total de costos entre el precio unitario para obtener usuarios mínimos que cubren costos</a:t>
                      </a:r>
                      <a:endParaRPr sz="1800">
                        <a:solidFill>
                          <a:srgbClr val="0E2841"/>
                        </a:solidFill>
                      </a:endParaRPr>
                    </a:p>
                  </a:txBody>
                  <a:tcPr marT="91425" marB="91425" marR="91425" marL="91425">
                    <a:lnL cap="flat" cmpd="sng" w="6925">
                      <a:solidFill>
                        <a:srgbClr val="8ED973"/>
                      </a:solidFill>
                      <a:prstDash val="solid"/>
                      <a:round/>
                      <a:headEnd len="sm" w="sm" type="none"/>
                      <a:tailEnd len="sm" w="sm" type="none"/>
                    </a:lnL>
                    <a:lnR cap="flat" cmpd="sng" w="6925">
                      <a:solidFill>
                        <a:srgbClr val="8ED973"/>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AF2D0"/>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2"/>
          <p:cNvPicPr preferRelativeResize="0"/>
          <p:nvPr/>
        </p:nvPicPr>
        <p:blipFill rotWithShape="1">
          <a:blip r:embed="rId3">
            <a:alphaModFix/>
          </a:blip>
          <a:srcRect b="0" l="0" r="0" t="0"/>
          <a:stretch/>
        </p:blipFill>
        <p:spPr>
          <a:xfrm>
            <a:off x="14752327" y="5381439"/>
            <a:ext cx="3535673" cy="4905560"/>
          </a:xfrm>
          <a:prstGeom prst="rect">
            <a:avLst/>
          </a:prstGeom>
          <a:noFill/>
          <a:ln>
            <a:noFill/>
          </a:ln>
        </p:spPr>
      </p:pic>
      <p:pic>
        <p:nvPicPr>
          <p:cNvPr id="184" name="Google Shape;184;p22"/>
          <p:cNvPicPr preferRelativeResize="0"/>
          <p:nvPr/>
        </p:nvPicPr>
        <p:blipFill rotWithShape="1">
          <a:blip r:embed="rId4">
            <a:alphaModFix/>
          </a:blip>
          <a:srcRect b="0" l="0" r="0" t="0"/>
          <a:stretch/>
        </p:blipFill>
        <p:spPr>
          <a:xfrm>
            <a:off x="0" y="0"/>
            <a:ext cx="3330911" cy="2790326"/>
          </a:xfrm>
          <a:prstGeom prst="rect">
            <a:avLst/>
          </a:prstGeom>
          <a:noFill/>
          <a:ln>
            <a:noFill/>
          </a:ln>
        </p:spPr>
      </p:pic>
      <p:pic>
        <p:nvPicPr>
          <p:cNvPr id="185" name="Google Shape;185;p22"/>
          <p:cNvPicPr preferRelativeResize="0"/>
          <p:nvPr/>
        </p:nvPicPr>
        <p:blipFill rotWithShape="1">
          <a:blip r:embed="rId5">
            <a:alphaModFix/>
          </a:blip>
          <a:srcRect b="0" l="0" r="0" t="0"/>
          <a:stretch/>
        </p:blipFill>
        <p:spPr>
          <a:xfrm>
            <a:off x="0" y="8775389"/>
            <a:ext cx="4103901" cy="1011110"/>
          </a:xfrm>
          <a:prstGeom prst="rect">
            <a:avLst/>
          </a:prstGeom>
          <a:noFill/>
          <a:ln>
            <a:noFill/>
          </a:ln>
        </p:spPr>
      </p:pic>
      <p:pic>
        <p:nvPicPr>
          <p:cNvPr id="186" name="Google Shape;186;p22"/>
          <p:cNvPicPr preferRelativeResize="0"/>
          <p:nvPr/>
        </p:nvPicPr>
        <p:blipFill rotWithShape="1">
          <a:blip r:embed="rId6">
            <a:alphaModFix/>
          </a:blip>
          <a:srcRect b="0" l="0" r="0" t="0"/>
          <a:stretch/>
        </p:blipFill>
        <p:spPr>
          <a:xfrm>
            <a:off x="13971970" y="475521"/>
            <a:ext cx="4316030" cy="1011109"/>
          </a:xfrm>
          <a:prstGeom prst="rect">
            <a:avLst/>
          </a:prstGeom>
          <a:noFill/>
          <a:ln>
            <a:noFill/>
          </a:ln>
        </p:spPr>
      </p:pic>
      <p:pic>
        <p:nvPicPr>
          <p:cNvPr id="187" name="Google Shape;187;p22"/>
          <p:cNvPicPr preferRelativeResize="0"/>
          <p:nvPr/>
        </p:nvPicPr>
        <p:blipFill rotWithShape="1">
          <a:blip r:embed="rId7">
            <a:alphaModFix/>
          </a:blip>
          <a:srcRect b="0" l="0" r="0" t="0"/>
          <a:stretch/>
        </p:blipFill>
        <p:spPr>
          <a:xfrm>
            <a:off x="8153400" y="8310965"/>
            <a:ext cx="1524000" cy="1270275"/>
          </a:xfrm>
          <a:prstGeom prst="rect">
            <a:avLst/>
          </a:prstGeom>
          <a:noFill/>
          <a:ln>
            <a:noFill/>
          </a:ln>
        </p:spPr>
      </p:pic>
      <p:sp>
        <p:nvSpPr>
          <p:cNvPr id="188" name="Google Shape;188;p22"/>
          <p:cNvSpPr txBox="1"/>
          <p:nvPr>
            <p:ph type="title"/>
          </p:nvPr>
        </p:nvSpPr>
        <p:spPr>
          <a:xfrm>
            <a:off x="3330911" y="977625"/>
            <a:ext cx="11312188" cy="1490152"/>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MX" sz="4800">
                <a:latin typeface="Arial"/>
                <a:ea typeface="Arial"/>
                <a:cs typeface="Arial"/>
                <a:sym typeface="Arial"/>
              </a:rPr>
              <a:t>Costos Detallados y Proyección de Ingresos</a:t>
            </a:r>
            <a:endParaRPr sz="4800"/>
          </a:p>
        </p:txBody>
      </p:sp>
      <p:graphicFrame>
        <p:nvGraphicFramePr>
          <p:cNvPr id="189" name="Google Shape;189;p22"/>
          <p:cNvGraphicFramePr/>
          <p:nvPr/>
        </p:nvGraphicFramePr>
        <p:xfrm>
          <a:off x="2537775" y="2790325"/>
          <a:ext cx="3000000" cy="3000000"/>
        </p:xfrm>
        <a:graphic>
          <a:graphicData uri="http://schemas.openxmlformats.org/drawingml/2006/table">
            <a:tbl>
              <a:tblPr>
                <a:noFill/>
                <a:tableStyleId>{E740065E-E62D-4A3E-A034-24EA0CF792AB}</a:tableStyleId>
              </a:tblPr>
              <a:tblGrid>
                <a:gridCol w="2493100"/>
                <a:gridCol w="4230000"/>
                <a:gridCol w="6734900"/>
              </a:tblGrid>
              <a:tr h="539225">
                <a:tc>
                  <a:txBody>
                    <a:bodyPr/>
                    <a:lstStyle/>
                    <a:p>
                      <a:pPr indent="0" lvl="0" marL="0" rtl="0" algn="l">
                        <a:spcBef>
                          <a:spcPts val="0"/>
                        </a:spcBef>
                        <a:spcAft>
                          <a:spcPts val="0"/>
                        </a:spcAft>
                        <a:buNone/>
                      </a:pPr>
                      <a:r>
                        <a:rPr b="1" lang="es-MX" sz="1100">
                          <a:solidFill>
                            <a:srgbClr val="0E2841"/>
                          </a:solidFill>
                        </a:rPr>
                        <a:t>Concepto</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rPr b="1" lang="es-MX" sz="1100">
                          <a:solidFill>
                            <a:srgbClr val="0E2841"/>
                          </a:solidFill>
                        </a:rPr>
                        <a:t>Valor CLP</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rPr b="1" lang="es-MX" sz="1100">
                          <a:solidFill>
                            <a:srgbClr val="0E2841"/>
                          </a:solidFill>
                        </a:rPr>
                        <a:t>Resumen</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F2F2F2"/>
                    </a:solidFill>
                  </a:tcPr>
                </a:tc>
              </a:tr>
              <a:tr h="744075">
                <a:tc>
                  <a:txBody>
                    <a:bodyPr/>
                    <a:lstStyle/>
                    <a:p>
                      <a:pPr indent="0" lvl="0" marL="0" rtl="0" algn="l">
                        <a:spcBef>
                          <a:spcPts val="0"/>
                        </a:spcBef>
                        <a:spcAft>
                          <a:spcPts val="0"/>
                        </a:spcAft>
                        <a:buNone/>
                      </a:pPr>
                      <a:r>
                        <a:rPr b="1" lang="es-MX" sz="1100">
                          <a:solidFill>
                            <a:srgbClr val="0E2841"/>
                          </a:solidFill>
                        </a:rPr>
                        <a:t>Costos fijos</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83CCEB"/>
                    </a:solidFill>
                  </a:tcPr>
                </a:tc>
                <a:tc>
                  <a:txBody>
                    <a:bodyPr/>
                    <a:lstStyle/>
                    <a:p>
                      <a:pPr indent="0" lvl="0" marL="0" rtl="0" algn="l">
                        <a:spcBef>
                          <a:spcPts val="0"/>
                        </a:spcBef>
                        <a:spcAft>
                          <a:spcPts val="0"/>
                        </a:spcAft>
                        <a:buNone/>
                      </a:pPr>
                      <a:r>
                        <a:rPr b="1" lang="es-MX" sz="1100">
                          <a:solidFill>
                            <a:srgbClr val="0E2841"/>
                          </a:solidFill>
                        </a:rPr>
                        <a:t>$15.750.000 anual</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83CCEB"/>
                    </a:solidFill>
                  </a:tcPr>
                </a:tc>
                <a:tc>
                  <a:txBody>
                    <a:bodyPr/>
                    <a:lstStyle/>
                    <a:p>
                      <a:pPr indent="0" lvl="0" marL="0" rtl="0" algn="l">
                        <a:spcBef>
                          <a:spcPts val="0"/>
                        </a:spcBef>
                        <a:spcAft>
                          <a:spcPts val="0"/>
                        </a:spcAft>
                        <a:buNone/>
                      </a:pPr>
                      <a:r>
                        <a:rPr b="1" lang="es-MX" sz="1100">
                          <a:solidFill>
                            <a:srgbClr val="0E2841"/>
                          </a:solidFill>
                        </a:rPr>
                        <a:t>Incluyen sueldos, arriendo, servicios, administración y cargas sociales. Estos costos no varían con la cantidad de usuarios.</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83CCEB"/>
                    </a:solidFill>
                  </a:tcPr>
                </a:tc>
              </a:tr>
              <a:tr h="744075">
                <a:tc>
                  <a:txBody>
                    <a:bodyPr/>
                    <a:lstStyle/>
                    <a:p>
                      <a:pPr indent="0" lvl="0" marL="0" rtl="0" algn="l">
                        <a:spcBef>
                          <a:spcPts val="0"/>
                        </a:spcBef>
                        <a:spcAft>
                          <a:spcPts val="0"/>
                        </a:spcAft>
                        <a:buNone/>
                      </a:pPr>
                      <a:r>
                        <a:rPr b="1" lang="es-MX" sz="1100">
                          <a:solidFill>
                            <a:srgbClr val="0E2841"/>
                          </a:solidFill>
                        </a:rPr>
                        <a:t>Costos variables</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C0E6F5"/>
                    </a:solidFill>
                  </a:tcPr>
                </a:tc>
                <a:tc>
                  <a:txBody>
                    <a:bodyPr/>
                    <a:lstStyle/>
                    <a:p>
                      <a:pPr indent="0" lvl="0" marL="0" rtl="0" algn="l">
                        <a:spcBef>
                          <a:spcPts val="0"/>
                        </a:spcBef>
                        <a:spcAft>
                          <a:spcPts val="0"/>
                        </a:spcAft>
                        <a:buNone/>
                      </a:pPr>
                      <a:r>
                        <a:rPr b="1" lang="es-MX" sz="1100">
                          <a:solidFill>
                            <a:srgbClr val="0E2841"/>
                          </a:solidFill>
                        </a:rPr>
                        <a:t>$290.000 anual OCR</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C0E6F5"/>
                    </a:solidFill>
                  </a:tcPr>
                </a:tc>
                <a:tc>
                  <a:txBody>
                    <a:bodyPr/>
                    <a:lstStyle/>
                    <a:p>
                      <a:pPr indent="0" lvl="0" marL="0" rtl="0" algn="l">
                        <a:spcBef>
                          <a:spcPts val="0"/>
                        </a:spcBef>
                        <a:spcAft>
                          <a:spcPts val="0"/>
                        </a:spcAft>
                        <a:buNone/>
                      </a:pPr>
                      <a:r>
                        <a:rPr b="1" lang="es-MX" sz="1100">
                          <a:solidFill>
                            <a:srgbClr val="0E2841"/>
                          </a:solidFill>
                        </a:rPr>
                        <a:t>Costos que dependen del uso, como servicios por usuario, marketing y licencias.</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C0E6F5"/>
                    </a:solidFill>
                  </a:tcPr>
                </a:tc>
              </a:tr>
              <a:tr h="744075">
                <a:tc>
                  <a:txBody>
                    <a:bodyPr/>
                    <a:lstStyle/>
                    <a:p>
                      <a:pPr indent="0" lvl="0" marL="0" rtl="0" algn="l">
                        <a:spcBef>
                          <a:spcPts val="0"/>
                        </a:spcBef>
                        <a:spcAft>
                          <a:spcPts val="0"/>
                        </a:spcAft>
                        <a:buNone/>
                      </a:pPr>
                      <a:r>
                        <a:rPr b="1" lang="es-MX" sz="1100">
                          <a:solidFill>
                            <a:srgbClr val="0E2841"/>
                          </a:solidFill>
                        </a:rPr>
                        <a:t>Total costos</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83CCEB"/>
                    </a:solidFill>
                  </a:tcPr>
                </a:tc>
                <a:tc>
                  <a:txBody>
                    <a:bodyPr/>
                    <a:lstStyle/>
                    <a:p>
                      <a:pPr indent="0" lvl="0" marL="0" rtl="0" algn="l">
                        <a:spcBef>
                          <a:spcPts val="0"/>
                        </a:spcBef>
                        <a:spcAft>
                          <a:spcPts val="0"/>
                        </a:spcAft>
                        <a:buNone/>
                      </a:pPr>
                      <a:r>
                        <a:rPr b="1" lang="es-MX" sz="1100">
                          <a:solidFill>
                            <a:srgbClr val="0E2841"/>
                          </a:solidFill>
                        </a:rPr>
                        <a:t>~$18.640.000 anual</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83CCEB"/>
                    </a:solidFill>
                  </a:tcPr>
                </a:tc>
                <a:tc>
                  <a:txBody>
                    <a:bodyPr/>
                    <a:lstStyle/>
                    <a:p>
                      <a:pPr indent="0" lvl="0" marL="0" rtl="0" algn="l">
                        <a:spcBef>
                          <a:spcPts val="0"/>
                        </a:spcBef>
                        <a:spcAft>
                          <a:spcPts val="0"/>
                        </a:spcAft>
                        <a:buNone/>
                      </a:pPr>
                      <a:r>
                        <a:rPr b="1" lang="es-MX" sz="1100">
                          <a:solidFill>
                            <a:srgbClr val="0E2841"/>
                          </a:solidFill>
                        </a:rPr>
                        <a:t>Suma de costos fijos y variables, base para fijar el punto de equilibrio y proyección.</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83CCEB"/>
                    </a:solidFill>
                  </a:tcPr>
                </a:tc>
              </a:tr>
              <a:tr h="539225">
                <a:tc>
                  <a:txBody>
                    <a:bodyPr/>
                    <a:lstStyle/>
                    <a:p>
                      <a:pPr indent="0" lvl="0" marL="0" rtl="0" algn="l">
                        <a:spcBef>
                          <a:spcPts val="0"/>
                        </a:spcBef>
                        <a:spcAft>
                          <a:spcPts val="0"/>
                        </a:spcAft>
                        <a:buNone/>
                      </a:pPr>
                      <a:r>
                        <a:rPr b="1" lang="es-MX" sz="1100">
                          <a:solidFill>
                            <a:srgbClr val="0E2841"/>
                          </a:solidFill>
                        </a:rPr>
                        <a:t>Precio unitario</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C0E6F5"/>
                    </a:solidFill>
                  </a:tcPr>
                </a:tc>
                <a:tc>
                  <a:txBody>
                    <a:bodyPr/>
                    <a:lstStyle/>
                    <a:p>
                      <a:pPr indent="0" lvl="0" marL="0" rtl="0" algn="l">
                        <a:spcBef>
                          <a:spcPts val="0"/>
                        </a:spcBef>
                        <a:spcAft>
                          <a:spcPts val="0"/>
                        </a:spcAft>
                        <a:buNone/>
                      </a:pPr>
                      <a:r>
                        <a:rPr b="1" lang="es-MX" sz="1100">
                          <a:solidFill>
                            <a:srgbClr val="0E2841"/>
                          </a:solidFill>
                        </a:rPr>
                        <a:t>$2.500 por usuario</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C0E6F5"/>
                    </a:solidFill>
                  </a:tcPr>
                </a:tc>
                <a:tc>
                  <a:txBody>
                    <a:bodyPr/>
                    <a:lstStyle/>
                    <a:p>
                      <a:pPr indent="0" lvl="0" marL="0" rtl="0" algn="l">
                        <a:spcBef>
                          <a:spcPts val="0"/>
                        </a:spcBef>
                        <a:spcAft>
                          <a:spcPts val="0"/>
                        </a:spcAft>
                        <a:buNone/>
                      </a:pPr>
                      <a:r>
                        <a:rPr b="1" lang="es-MX" sz="1100">
                          <a:solidFill>
                            <a:srgbClr val="0E2841"/>
                          </a:solidFill>
                        </a:rPr>
                        <a:t>Precio promedio mensual que se cobra a cada usuario.</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C0E6F5"/>
                    </a:solidFill>
                  </a:tcPr>
                </a:tc>
              </a:tr>
              <a:tr h="744075">
                <a:tc>
                  <a:txBody>
                    <a:bodyPr/>
                    <a:lstStyle/>
                    <a:p>
                      <a:pPr indent="0" lvl="0" marL="0" rtl="0" algn="l">
                        <a:spcBef>
                          <a:spcPts val="0"/>
                        </a:spcBef>
                        <a:spcAft>
                          <a:spcPts val="0"/>
                        </a:spcAft>
                        <a:buNone/>
                      </a:pPr>
                      <a:r>
                        <a:rPr b="1" lang="es-MX" sz="1100">
                          <a:solidFill>
                            <a:srgbClr val="0E2841"/>
                          </a:solidFill>
                        </a:rPr>
                        <a:t>Proyección usuarios</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83CCEB"/>
                    </a:solidFill>
                  </a:tcPr>
                </a:tc>
                <a:tc>
                  <a:txBody>
                    <a:bodyPr/>
                    <a:lstStyle/>
                    <a:p>
                      <a:pPr indent="0" lvl="0" marL="0" rtl="0" algn="l">
                        <a:spcBef>
                          <a:spcPts val="0"/>
                        </a:spcBef>
                        <a:spcAft>
                          <a:spcPts val="0"/>
                        </a:spcAft>
                        <a:buNone/>
                      </a:pPr>
                      <a:r>
                        <a:rPr b="1" lang="es-MX" sz="1100">
                          <a:solidFill>
                            <a:srgbClr val="0E2841"/>
                          </a:solidFill>
                        </a:rPr>
                        <a:t>Crecimiento de 462 a 850 en 6 años</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83CCEB"/>
                    </a:solidFill>
                  </a:tcPr>
                </a:tc>
                <a:tc>
                  <a:txBody>
                    <a:bodyPr/>
                    <a:lstStyle/>
                    <a:p>
                      <a:pPr indent="0" lvl="0" marL="0" rtl="0" algn="l">
                        <a:spcBef>
                          <a:spcPts val="0"/>
                        </a:spcBef>
                        <a:spcAft>
                          <a:spcPts val="0"/>
                        </a:spcAft>
                        <a:buNone/>
                      </a:pPr>
                      <a:r>
                        <a:rPr b="1" lang="es-MX" sz="1100">
                          <a:solidFill>
                            <a:srgbClr val="0E2841"/>
                          </a:solidFill>
                        </a:rPr>
                        <a:t>Se espera un crecimiento sostenido de usuarios con estrategia de retención y adquisición.</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83CCEB"/>
                    </a:solidFill>
                  </a:tcPr>
                </a:tc>
              </a:tr>
              <a:tr h="539225">
                <a:tc>
                  <a:txBody>
                    <a:bodyPr/>
                    <a:lstStyle/>
                    <a:p>
                      <a:pPr indent="0" lvl="0" marL="0" rtl="0" algn="l">
                        <a:spcBef>
                          <a:spcPts val="0"/>
                        </a:spcBef>
                        <a:spcAft>
                          <a:spcPts val="0"/>
                        </a:spcAft>
                        <a:buNone/>
                      </a:pPr>
                      <a:r>
                        <a:rPr b="1" lang="es-MX" sz="1100">
                          <a:solidFill>
                            <a:srgbClr val="0E2841"/>
                          </a:solidFill>
                        </a:rPr>
                        <a:t>Ingresos año 1</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C0E6F5"/>
                    </a:solidFill>
                  </a:tcPr>
                </a:tc>
                <a:tc>
                  <a:txBody>
                    <a:bodyPr/>
                    <a:lstStyle/>
                    <a:p>
                      <a:pPr indent="0" lvl="0" marL="0" rtl="0" algn="l">
                        <a:spcBef>
                          <a:spcPts val="0"/>
                        </a:spcBef>
                        <a:spcAft>
                          <a:spcPts val="0"/>
                        </a:spcAft>
                        <a:buNone/>
                      </a:pPr>
                      <a:r>
                        <a:rPr b="1" lang="es-MX" sz="1100">
                          <a:solidFill>
                            <a:srgbClr val="0E2841"/>
                          </a:solidFill>
                        </a:rPr>
                        <a:t>$15.750.000</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C0E6F5"/>
                    </a:solidFill>
                  </a:tcPr>
                </a:tc>
                <a:tc>
                  <a:txBody>
                    <a:bodyPr/>
                    <a:lstStyle/>
                    <a:p>
                      <a:pPr indent="0" lvl="0" marL="0" rtl="0" algn="l">
                        <a:spcBef>
                          <a:spcPts val="0"/>
                        </a:spcBef>
                        <a:spcAft>
                          <a:spcPts val="0"/>
                        </a:spcAft>
                        <a:buNone/>
                      </a:pPr>
                      <a:r>
                        <a:rPr b="1" lang="es-MX" sz="1100">
                          <a:solidFill>
                            <a:srgbClr val="0E2841"/>
                          </a:solidFill>
                        </a:rPr>
                        <a:t>Basado en usuarios y precio unitario del primer año.</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C0E6F5"/>
                    </a:solidFill>
                  </a:tcPr>
                </a:tc>
              </a:tr>
              <a:tr h="539225">
                <a:tc>
                  <a:txBody>
                    <a:bodyPr/>
                    <a:lstStyle/>
                    <a:p>
                      <a:pPr indent="0" lvl="0" marL="0" rtl="0" algn="l">
                        <a:spcBef>
                          <a:spcPts val="0"/>
                        </a:spcBef>
                        <a:spcAft>
                          <a:spcPts val="0"/>
                        </a:spcAft>
                        <a:buNone/>
                      </a:pPr>
                      <a:r>
                        <a:rPr b="1" lang="es-MX" sz="1100">
                          <a:solidFill>
                            <a:srgbClr val="0E2841"/>
                          </a:solidFill>
                        </a:rPr>
                        <a:t>Ingresos año 6</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83CCEB"/>
                    </a:solidFill>
                  </a:tcPr>
                </a:tc>
                <a:tc>
                  <a:txBody>
                    <a:bodyPr/>
                    <a:lstStyle/>
                    <a:p>
                      <a:pPr indent="0" lvl="0" marL="0" rtl="0" algn="l">
                        <a:spcBef>
                          <a:spcPts val="0"/>
                        </a:spcBef>
                        <a:spcAft>
                          <a:spcPts val="0"/>
                        </a:spcAft>
                        <a:buNone/>
                      </a:pPr>
                      <a:r>
                        <a:rPr b="1" lang="es-MX" sz="1100">
                          <a:solidFill>
                            <a:srgbClr val="0E2841"/>
                          </a:solidFill>
                        </a:rPr>
                        <a:t>$27.614.318</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83CCEB"/>
                    </a:solidFill>
                  </a:tcPr>
                </a:tc>
                <a:tc>
                  <a:txBody>
                    <a:bodyPr/>
                    <a:lstStyle/>
                    <a:p>
                      <a:pPr indent="0" lvl="0" marL="0" rtl="0" algn="l">
                        <a:spcBef>
                          <a:spcPts val="0"/>
                        </a:spcBef>
                        <a:spcAft>
                          <a:spcPts val="0"/>
                        </a:spcAft>
                        <a:buNone/>
                      </a:pPr>
                      <a:r>
                        <a:rPr b="1" lang="es-MX" sz="1100">
                          <a:solidFill>
                            <a:srgbClr val="0E2841"/>
                          </a:solidFill>
                        </a:rPr>
                        <a:t>Proyección de ingresos considerando crecimiento y retención de usuarios.</a:t>
                      </a:r>
                      <a:endParaRPr b="1" sz="1100">
                        <a:solidFill>
                          <a:srgbClr val="0E2841"/>
                        </a:solidFill>
                      </a:endParaRPr>
                    </a:p>
                  </a:txBody>
                  <a:tcPr marT="91425" marB="91425" marR="91425" marL="91425">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solidFill>
                      <a:srgbClr val="83CCEB"/>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23"/>
          <p:cNvPicPr preferRelativeResize="0"/>
          <p:nvPr/>
        </p:nvPicPr>
        <p:blipFill rotWithShape="1">
          <a:blip r:embed="rId3">
            <a:alphaModFix/>
          </a:blip>
          <a:srcRect b="0" l="0" r="0" t="0"/>
          <a:stretch/>
        </p:blipFill>
        <p:spPr>
          <a:xfrm>
            <a:off x="14752327" y="5381439"/>
            <a:ext cx="3535673" cy="4905560"/>
          </a:xfrm>
          <a:prstGeom prst="rect">
            <a:avLst/>
          </a:prstGeom>
          <a:noFill/>
          <a:ln>
            <a:noFill/>
          </a:ln>
        </p:spPr>
      </p:pic>
      <p:pic>
        <p:nvPicPr>
          <p:cNvPr id="195" name="Google Shape;195;p23"/>
          <p:cNvPicPr preferRelativeResize="0"/>
          <p:nvPr/>
        </p:nvPicPr>
        <p:blipFill rotWithShape="1">
          <a:blip r:embed="rId4">
            <a:alphaModFix/>
          </a:blip>
          <a:srcRect b="0" l="0" r="0" t="0"/>
          <a:stretch/>
        </p:blipFill>
        <p:spPr>
          <a:xfrm>
            <a:off x="0" y="0"/>
            <a:ext cx="3330911" cy="2790326"/>
          </a:xfrm>
          <a:prstGeom prst="rect">
            <a:avLst/>
          </a:prstGeom>
          <a:noFill/>
          <a:ln>
            <a:noFill/>
          </a:ln>
        </p:spPr>
      </p:pic>
      <p:pic>
        <p:nvPicPr>
          <p:cNvPr id="196" name="Google Shape;196;p23"/>
          <p:cNvPicPr preferRelativeResize="0"/>
          <p:nvPr/>
        </p:nvPicPr>
        <p:blipFill rotWithShape="1">
          <a:blip r:embed="rId5">
            <a:alphaModFix/>
          </a:blip>
          <a:srcRect b="0" l="0" r="0" t="0"/>
          <a:stretch/>
        </p:blipFill>
        <p:spPr>
          <a:xfrm>
            <a:off x="0" y="8775389"/>
            <a:ext cx="4103901" cy="1011110"/>
          </a:xfrm>
          <a:prstGeom prst="rect">
            <a:avLst/>
          </a:prstGeom>
          <a:noFill/>
          <a:ln>
            <a:noFill/>
          </a:ln>
        </p:spPr>
      </p:pic>
      <p:pic>
        <p:nvPicPr>
          <p:cNvPr id="197" name="Google Shape;197;p23"/>
          <p:cNvPicPr preferRelativeResize="0"/>
          <p:nvPr/>
        </p:nvPicPr>
        <p:blipFill rotWithShape="1">
          <a:blip r:embed="rId6">
            <a:alphaModFix/>
          </a:blip>
          <a:srcRect b="0" l="0" r="0" t="0"/>
          <a:stretch/>
        </p:blipFill>
        <p:spPr>
          <a:xfrm>
            <a:off x="13971970" y="475521"/>
            <a:ext cx="4316030" cy="1011109"/>
          </a:xfrm>
          <a:prstGeom prst="rect">
            <a:avLst/>
          </a:prstGeom>
          <a:noFill/>
          <a:ln>
            <a:noFill/>
          </a:ln>
        </p:spPr>
      </p:pic>
      <p:pic>
        <p:nvPicPr>
          <p:cNvPr id="198" name="Google Shape;198;p23"/>
          <p:cNvPicPr preferRelativeResize="0"/>
          <p:nvPr/>
        </p:nvPicPr>
        <p:blipFill rotWithShape="1">
          <a:blip r:embed="rId7">
            <a:alphaModFix/>
          </a:blip>
          <a:srcRect b="0" l="0" r="0" t="0"/>
          <a:stretch/>
        </p:blipFill>
        <p:spPr>
          <a:xfrm>
            <a:off x="8077200" y="7886700"/>
            <a:ext cx="2743200" cy="1640477"/>
          </a:xfrm>
          <a:prstGeom prst="rect">
            <a:avLst/>
          </a:prstGeom>
          <a:noFill/>
          <a:ln>
            <a:noFill/>
          </a:ln>
        </p:spPr>
      </p:pic>
      <p:sp>
        <p:nvSpPr>
          <p:cNvPr id="199" name="Google Shape;199;p23"/>
          <p:cNvSpPr txBox="1"/>
          <p:nvPr>
            <p:ph type="title"/>
          </p:nvPr>
        </p:nvSpPr>
        <p:spPr>
          <a:xfrm>
            <a:off x="3330911" y="977625"/>
            <a:ext cx="11312188" cy="1490152"/>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MX" sz="4800">
                <a:latin typeface="Arial"/>
                <a:ea typeface="Arial"/>
                <a:cs typeface="Arial"/>
                <a:sym typeface="Arial"/>
              </a:rPr>
              <a:t>Flujo de Caja y Recuperación de Inversión</a:t>
            </a:r>
            <a:endParaRPr sz="4800"/>
          </a:p>
        </p:txBody>
      </p:sp>
      <p:graphicFrame>
        <p:nvGraphicFramePr>
          <p:cNvPr id="200" name="Google Shape;200;p23"/>
          <p:cNvGraphicFramePr/>
          <p:nvPr/>
        </p:nvGraphicFramePr>
        <p:xfrm>
          <a:off x="2562625" y="2790325"/>
          <a:ext cx="3000000" cy="3000000"/>
        </p:xfrm>
        <a:graphic>
          <a:graphicData uri="http://schemas.openxmlformats.org/drawingml/2006/table">
            <a:tbl>
              <a:tblPr>
                <a:noFill/>
                <a:tableStyleId>{E740065E-E62D-4A3E-A034-24EA0CF792AB}</a:tableStyleId>
              </a:tblPr>
              <a:tblGrid>
                <a:gridCol w="2506475"/>
                <a:gridCol w="4264550"/>
                <a:gridCol w="6771025"/>
              </a:tblGrid>
              <a:tr h="865675">
                <a:tc>
                  <a:txBody>
                    <a:bodyPr/>
                    <a:lstStyle/>
                    <a:p>
                      <a:pPr indent="0" lvl="0" marL="0" rtl="0" algn="l">
                        <a:spcBef>
                          <a:spcPts val="0"/>
                        </a:spcBef>
                        <a:spcAft>
                          <a:spcPts val="0"/>
                        </a:spcAft>
                        <a:buNone/>
                      </a:pPr>
                      <a:r>
                        <a:rPr b="1" lang="es-MX" sz="1500">
                          <a:solidFill>
                            <a:srgbClr val="0E2841"/>
                          </a:solidFill>
                        </a:rPr>
                        <a:t>Concepto</a:t>
                      </a:r>
                      <a:endParaRPr b="1" sz="1500">
                        <a:solidFill>
                          <a:srgbClr val="0E2841"/>
                        </a:solidFill>
                      </a:endParaRPr>
                    </a:p>
                  </a:txBody>
                  <a:tcPr marT="91425" marB="91425" marR="91425" marL="91425">
                    <a:lnL cap="flat" cmpd="sng" w="6925">
                      <a:solidFill>
                        <a:srgbClr val="44B3E1"/>
                      </a:solidFill>
                      <a:prstDash val="solid"/>
                      <a:round/>
                      <a:headEnd len="sm" w="sm" type="none"/>
                      <a:tailEnd len="sm" w="sm" type="none"/>
                    </a:lnL>
                    <a:lnR cap="flat" cmpd="sng" w="6925">
                      <a:solidFill>
                        <a:srgbClr val="44B3E1"/>
                      </a:solidFill>
                      <a:prstDash val="solid"/>
                      <a:round/>
                      <a:headEnd len="sm" w="sm" type="none"/>
                      <a:tailEnd len="sm" w="sm" type="none"/>
                    </a:lnR>
                    <a:lnT cap="flat" cmpd="sng" w="6925">
                      <a:solidFill>
                        <a:srgbClr val="44B3E1"/>
                      </a:solidFill>
                      <a:prstDash val="solid"/>
                      <a:round/>
                      <a:headEnd len="sm" w="sm" type="none"/>
                      <a:tailEnd len="sm" w="sm" type="none"/>
                    </a:lnT>
                    <a:lnB cap="flat" cmpd="sng" w="13850">
                      <a:solidFill>
                        <a:srgbClr val="156082"/>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rPr b="1" lang="es-MX" sz="1500">
                          <a:solidFill>
                            <a:srgbClr val="0E2841"/>
                          </a:solidFill>
                        </a:rPr>
                        <a:t>Valor CLP</a:t>
                      </a:r>
                      <a:endParaRPr b="1" sz="1500">
                        <a:solidFill>
                          <a:srgbClr val="0E2841"/>
                        </a:solidFill>
                      </a:endParaRPr>
                    </a:p>
                  </a:txBody>
                  <a:tcPr marT="91425" marB="91425" marR="91425" marL="91425">
                    <a:lnL cap="flat" cmpd="sng" w="6925">
                      <a:solidFill>
                        <a:srgbClr val="44B3E1"/>
                      </a:solidFill>
                      <a:prstDash val="solid"/>
                      <a:round/>
                      <a:headEnd len="sm" w="sm" type="none"/>
                      <a:tailEnd len="sm" w="sm" type="none"/>
                    </a:lnL>
                    <a:lnR cap="flat" cmpd="sng" w="6925">
                      <a:solidFill>
                        <a:srgbClr val="44B3E1"/>
                      </a:solidFill>
                      <a:prstDash val="solid"/>
                      <a:round/>
                      <a:headEnd len="sm" w="sm" type="none"/>
                      <a:tailEnd len="sm" w="sm" type="none"/>
                    </a:lnR>
                    <a:lnT cap="flat" cmpd="sng" w="6925">
                      <a:solidFill>
                        <a:srgbClr val="44B3E1"/>
                      </a:solidFill>
                      <a:prstDash val="solid"/>
                      <a:round/>
                      <a:headEnd len="sm" w="sm" type="none"/>
                      <a:tailEnd len="sm" w="sm" type="none"/>
                    </a:lnT>
                    <a:lnB cap="flat" cmpd="sng" w="13850">
                      <a:solidFill>
                        <a:srgbClr val="156082"/>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rPr b="1" lang="es-MX" sz="1500">
                          <a:solidFill>
                            <a:srgbClr val="0E2841"/>
                          </a:solidFill>
                        </a:rPr>
                        <a:t>Resumen</a:t>
                      </a:r>
                      <a:endParaRPr b="1" sz="1500">
                        <a:solidFill>
                          <a:srgbClr val="0E2841"/>
                        </a:solidFill>
                      </a:endParaRPr>
                    </a:p>
                  </a:txBody>
                  <a:tcPr marT="91425" marB="91425" marR="91425" marL="91425">
                    <a:lnL cap="flat" cmpd="sng" w="6925">
                      <a:solidFill>
                        <a:srgbClr val="44B3E1"/>
                      </a:solidFill>
                      <a:prstDash val="solid"/>
                      <a:round/>
                      <a:headEnd len="sm" w="sm" type="none"/>
                      <a:tailEnd len="sm" w="sm" type="none"/>
                    </a:lnL>
                    <a:lnR cap="flat" cmpd="sng" w="6925">
                      <a:solidFill>
                        <a:srgbClr val="44B3E1"/>
                      </a:solidFill>
                      <a:prstDash val="solid"/>
                      <a:round/>
                      <a:headEnd len="sm" w="sm" type="none"/>
                      <a:tailEnd len="sm" w="sm" type="none"/>
                    </a:lnR>
                    <a:lnT cap="flat" cmpd="sng" w="6925">
                      <a:solidFill>
                        <a:srgbClr val="44B3E1"/>
                      </a:solidFill>
                      <a:prstDash val="solid"/>
                      <a:round/>
                      <a:headEnd len="sm" w="sm" type="none"/>
                      <a:tailEnd len="sm" w="sm" type="none"/>
                    </a:lnT>
                    <a:lnB cap="flat" cmpd="sng" w="13850">
                      <a:solidFill>
                        <a:srgbClr val="156082"/>
                      </a:solidFill>
                      <a:prstDash val="solid"/>
                      <a:round/>
                      <a:headEnd len="sm" w="sm" type="none"/>
                      <a:tailEnd len="sm" w="sm" type="none"/>
                    </a:lnB>
                    <a:solidFill>
                      <a:srgbClr val="F2F2F2"/>
                    </a:solidFill>
                  </a:tcPr>
                </a:tc>
              </a:tr>
              <a:tr h="1346625">
                <a:tc>
                  <a:txBody>
                    <a:bodyPr/>
                    <a:lstStyle/>
                    <a:p>
                      <a:pPr indent="0" lvl="0" marL="0" rtl="0" algn="l">
                        <a:spcBef>
                          <a:spcPts val="0"/>
                        </a:spcBef>
                        <a:spcAft>
                          <a:spcPts val="0"/>
                        </a:spcAft>
                        <a:buNone/>
                      </a:pPr>
                      <a:r>
                        <a:rPr b="1" lang="es-MX" sz="1500">
                          <a:solidFill>
                            <a:srgbClr val="0E2841"/>
                          </a:solidFill>
                        </a:rPr>
                        <a:t>Inversión inicial</a:t>
                      </a:r>
                      <a:endParaRPr b="1" sz="1500">
                        <a:solidFill>
                          <a:srgbClr val="0E2841"/>
                        </a:solidFill>
                      </a:endParaRPr>
                    </a:p>
                  </a:txBody>
                  <a:tcPr marT="91425" marB="91425" marR="91425" marL="91425">
                    <a:lnL cap="flat" cmpd="sng" w="6925">
                      <a:solidFill>
                        <a:srgbClr val="44B3E1"/>
                      </a:solidFill>
                      <a:prstDash val="solid"/>
                      <a:round/>
                      <a:headEnd len="sm" w="sm" type="none"/>
                      <a:tailEnd len="sm" w="sm" type="none"/>
                    </a:lnL>
                    <a:lnR cap="flat" cmpd="sng" w="6925">
                      <a:solidFill>
                        <a:srgbClr val="44B3E1"/>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83CCEB"/>
                    </a:solidFill>
                  </a:tcPr>
                </a:tc>
                <a:tc>
                  <a:txBody>
                    <a:bodyPr/>
                    <a:lstStyle/>
                    <a:p>
                      <a:pPr indent="0" lvl="0" marL="0" rtl="0" algn="l">
                        <a:spcBef>
                          <a:spcPts val="0"/>
                        </a:spcBef>
                        <a:spcAft>
                          <a:spcPts val="0"/>
                        </a:spcAft>
                        <a:buNone/>
                      </a:pPr>
                      <a:r>
                        <a:rPr b="1" lang="es-MX" sz="1500">
                          <a:solidFill>
                            <a:srgbClr val="0E2841"/>
                          </a:solidFill>
                        </a:rPr>
                        <a:t>$14.410.000</a:t>
                      </a:r>
                      <a:endParaRPr b="1" sz="1500">
                        <a:solidFill>
                          <a:srgbClr val="0E2841"/>
                        </a:solidFill>
                      </a:endParaRPr>
                    </a:p>
                  </a:txBody>
                  <a:tcPr marT="91425" marB="91425" marR="91425" marL="91425">
                    <a:lnL cap="flat" cmpd="sng" w="6925">
                      <a:solidFill>
                        <a:srgbClr val="44B3E1"/>
                      </a:solidFill>
                      <a:prstDash val="solid"/>
                      <a:round/>
                      <a:headEnd len="sm" w="sm" type="none"/>
                      <a:tailEnd len="sm" w="sm" type="none"/>
                    </a:lnL>
                    <a:lnR cap="flat" cmpd="sng" w="6925">
                      <a:solidFill>
                        <a:srgbClr val="44B3E1"/>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83CCEB"/>
                    </a:solidFill>
                  </a:tcPr>
                </a:tc>
                <a:tc>
                  <a:txBody>
                    <a:bodyPr/>
                    <a:lstStyle/>
                    <a:p>
                      <a:pPr indent="0" lvl="0" marL="0" rtl="0" algn="l">
                        <a:spcBef>
                          <a:spcPts val="0"/>
                        </a:spcBef>
                        <a:spcAft>
                          <a:spcPts val="0"/>
                        </a:spcAft>
                        <a:buNone/>
                      </a:pPr>
                      <a:r>
                        <a:rPr b="1" lang="es-MX" sz="1500">
                          <a:solidFill>
                            <a:srgbClr val="0E2841"/>
                          </a:solidFill>
                        </a:rPr>
                        <a:t>El desembolso inicial del proyecto marca inicio del flujo negativo.</a:t>
                      </a:r>
                      <a:endParaRPr b="1" sz="1500">
                        <a:solidFill>
                          <a:srgbClr val="0E2841"/>
                        </a:solidFill>
                      </a:endParaRPr>
                    </a:p>
                  </a:txBody>
                  <a:tcPr marT="91425" marB="91425" marR="91425" marL="91425">
                    <a:lnL cap="flat" cmpd="sng" w="6925">
                      <a:solidFill>
                        <a:srgbClr val="44B3E1"/>
                      </a:solidFill>
                      <a:prstDash val="solid"/>
                      <a:round/>
                      <a:headEnd len="sm" w="sm" type="none"/>
                      <a:tailEnd len="sm" w="sm" type="none"/>
                    </a:lnL>
                    <a:lnR cap="flat" cmpd="sng" w="6925">
                      <a:solidFill>
                        <a:srgbClr val="44B3E1"/>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83CCEB"/>
                    </a:solidFill>
                  </a:tcPr>
                </a:tc>
              </a:tr>
              <a:tr h="1346625">
                <a:tc>
                  <a:txBody>
                    <a:bodyPr/>
                    <a:lstStyle/>
                    <a:p>
                      <a:pPr indent="0" lvl="0" marL="0" rtl="0" algn="l">
                        <a:spcBef>
                          <a:spcPts val="0"/>
                        </a:spcBef>
                        <a:spcAft>
                          <a:spcPts val="0"/>
                        </a:spcAft>
                        <a:buNone/>
                      </a:pPr>
                      <a:r>
                        <a:rPr b="1" lang="es-MX" sz="1500">
                          <a:solidFill>
                            <a:srgbClr val="0E2841"/>
                          </a:solidFill>
                        </a:rPr>
                        <a:t>Resultado neto Año 1</a:t>
                      </a:r>
                      <a:endParaRPr b="1" sz="1500">
                        <a:solidFill>
                          <a:srgbClr val="0E2841"/>
                        </a:solidFill>
                      </a:endParaRPr>
                    </a:p>
                  </a:txBody>
                  <a:tcPr marT="91425" marB="91425" marR="91425" marL="91425">
                    <a:lnL cap="flat" cmpd="sng" w="6925">
                      <a:solidFill>
                        <a:srgbClr val="44B3E1"/>
                      </a:solidFill>
                      <a:prstDash val="solid"/>
                      <a:round/>
                      <a:headEnd len="sm" w="sm" type="none"/>
                      <a:tailEnd len="sm" w="sm" type="none"/>
                    </a:lnL>
                    <a:lnR cap="flat" cmpd="sng" w="6925">
                      <a:solidFill>
                        <a:srgbClr val="44B3E1"/>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C0E6F5"/>
                    </a:solidFill>
                  </a:tcPr>
                </a:tc>
                <a:tc>
                  <a:txBody>
                    <a:bodyPr/>
                    <a:lstStyle/>
                    <a:p>
                      <a:pPr indent="0" lvl="0" marL="0" rtl="0" algn="l">
                        <a:spcBef>
                          <a:spcPts val="0"/>
                        </a:spcBef>
                        <a:spcAft>
                          <a:spcPts val="0"/>
                        </a:spcAft>
                        <a:buNone/>
                      </a:pPr>
                      <a:r>
                        <a:rPr b="1" lang="es-MX" sz="1500">
                          <a:solidFill>
                            <a:srgbClr val="0E2841"/>
                          </a:solidFill>
                        </a:rPr>
                        <a:t>$1.982.800</a:t>
                      </a:r>
                      <a:endParaRPr b="1" sz="1500">
                        <a:solidFill>
                          <a:srgbClr val="0E2841"/>
                        </a:solidFill>
                      </a:endParaRPr>
                    </a:p>
                  </a:txBody>
                  <a:tcPr marT="91425" marB="91425" marR="91425" marL="91425">
                    <a:lnL cap="flat" cmpd="sng" w="6925">
                      <a:solidFill>
                        <a:srgbClr val="44B3E1"/>
                      </a:solidFill>
                      <a:prstDash val="solid"/>
                      <a:round/>
                      <a:headEnd len="sm" w="sm" type="none"/>
                      <a:tailEnd len="sm" w="sm" type="none"/>
                    </a:lnL>
                    <a:lnR cap="flat" cmpd="sng" w="6925">
                      <a:solidFill>
                        <a:srgbClr val="44B3E1"/>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C0E6F5"/>
                    </a:solidFill>
                  </a:tcPr>
                </a:tc>
                <a:tc>
                  <a:txBody>
                    <a:bodyPr/>
                    <a:lstStyle/>
                    <a:p>
                      <a:pPr indent="0" lvl="0" marL="0" rtl="0" algn="l">
                        <a:spcBef>
                          <a:spcPts val="0"/>
                        </a:spcBef>
                        <a:spcAft>
                          <a:spcPts val="0"/>
                        </a:spcAft>
                        <a:buNone/>
                      </a:pPr>
                      <a:r>
                        <a:rPr b="1" lang="es-MX" sz="1500">
                          <a:solidFill>
                            <a:srgbClr val="0E2841"/>
                          </a:solidFill>
                        </a:rPr>
                        <a:t>Utilidad generada después de impuestos en el primer año.</a:t>
                      </a:r>
                      <a:endParaRPr b="1" sz="1500">
                        <a:solidFill>
                          <a:srgbClr val="0E2841"/>
                        </a:solidFill>
                      </a:endParaRPr>
                    </a:p>
                  </a:txBody>
                  <a:tcPr marT="91425" marB="91425" marR="91425" marL="91425">
                    <a:lnL cap="flat" cmpd="sng" w="6925">
                      <a:solidFill>
                        <a:srgbClr val="44B3E1"/>
                      </a:solidFill>
                      <a:prstDash val="solid"/>
                      <a:round/>
                      <a:headEnd len="sm" w="sm" type="none"/>
                      <a:tailEnd len="sm" w="sm" type="none"/>
                    </a:lnL>
                    <a:lnR cap="flat" cmpd="sng" w="6925">
                      <a:solidFill>
                        <a:srgbClr val="44B3E1"/>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C0E6F5"/>
                    </a:solidFill>
                  </a:tcPr>
                </a:tc>
              </a:tr>
              <a:tr h="1346625">
                <a:tc>
                  <a:txBody>
                    <a:bodyPr/>
                    <a:lstStyle/>
                    <a:p>
                      <a:pPr indent="0" lvl="0" marL="0" rtl="0" algn="l">
                        <a:spcBef>
                          <a:spcPts val="0"/>
                        </a:spcBef>
                        <a:spcAft>
                          <a:spcPts val="0"/>
                        </a:spcAft>
                        <a:buNone/>
                      </a:pPr>
                      <a:r>
                        <a:rPr b="1" lang="es-MX" sz="1500">
                          <a:solidFill>
                            <a:srgbClr val="0E2841"/>
                          </a:solidFill>
                        </a:rPr>
                        <a:t>Flujo acumulado</a:t>
                      </a:r>
                      <a:endParaRPr b="1" sz="1500">
                        <a:solidFill>
                          <a:srgbClr val="0E2841"/>
                        </a:solidFill>
                      </a:endParaRPr>
                    </a:p>
                  </a:txBody>
                  <a:tcPr marT="91425" marB="91425" marR="91425" marL="91425">
                    <a:lnL cap="flat" cmpd="sng" w="6925">
                      <a:solidFill>
                        <a:srgbClr val="44B3E1"/>
                      </a:solidFill>
                      <a:prstDash val="solid"/>
                      <a:round/>
                      <a:headEnd len="sm" w="sm" type="none"/>
                      <a:tailEnd len="sm" w="sm" type="none"/>
                    </a:lnL>
                    <a:lnR cap="flat" cmpd="sng" w="6925">
                      <a:solidFill>
                        <a:srgbClr val="44B3E1"/>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83CCEB"/>
                    </a:solidFill>
                  </a:tcPr>
                </a:tc>
                <a:tc>
                  <a:txBody>
                    <a:bodyPr/>
                    <a:lstStyle/>
                    <a:p>
                      <a:pPr indent="0" lvl="0" marL="0" rtl="0" algn="l">
                        <a:spcBef>
                          <a:spcPts val="0"/>
                        </a:spcBef>
                        <a:spcAft>
                          <a:spcPts val="0"/>
                        </a:spcAft>
                        <a:buNone/>
                      </a:pPr>
                      <a:r>
                        <a:rPr b="1" lang="es-MX" sz="1500">
                          <a:solidFill>
                            <a:srgbClr val="0E2841"/>
                          </a:solidFill>
                        </a:rPr>
                        <a:t>De -$14.410.000 a $30.745.275</a:t>
                      </a:r>
                      <a:endParaRPr b="1" sz="1500">
                        <a:solidFill>
                          <a:srgbClr val="0E2841"/>
                        </a:solidFill>
                      </a:endParaRPr>
                    </a:p>
                  </a:txBody>
                  <a:tcPr marT="91425" marB="91425" marR="91425" marL="91425">
                    <a:lnL cap="flat" cmpd="sng" w="6925">
                      <a:solidFill>
                        <a:srgbClr val="44B3E1"/>
                      </a:solidFill>
                      <a:prstDash val="solid"/>
                      <a:round/>
                      <a:headEnd len="sm" w="sm" type="none"/>
                      <a:tailEnd len="sm" w="sm" type="none"/>
                    </a:lnL>
                    <a:lnR cap="flat" cmpd="sng" w="6925">
                      <a:solidFill>
                        <a:srgbClr val="44B3E1"/>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83CCEB"/>
                    </a:solidFill>
                  </a:tcPr>
                </a:tc>
                <a:tc>
                  <a:txBody>
                    <a:bodyPr/>
                    <a:lstStyle/>
                    <a:p>
                      <a:pPr indent="0" lvl="0" marL="0" rtl="0" algn="l">
                        <a:spcBef>
                          <a:spcPts val="0"/>
                        </a:spcBef>
                        <a:spcAft>
                          <a:spcPts val="0"/>
                        </a:spcAft>
                        <a:buNone/>
                      </a:pPr>
                      <a:r>
                        <a:rPr b="1" lang="es-MX" sz="1500">
                          <a:solidFill>
                            <a:srgbClr val="0E2841"/>
                          </a:solidFill>
                        </a:rPr>
                        <a:t>Evolución de caja acumulada confirma recuperación y ganancias.</a:t>
                      </a:r>
                      <a:endParaRPr b="1" sz="1500">
                        <a:solidFill>
                          <a:srgbClr val="0E2841"/>
                        </a:solidFill>
                      </a:endParaRPr>
                    </a:p>
                  </a:txBody>
                  <a:tcPr marT="91425" marB="91425" marR="91425" marL="91425">
                    <a:lnL cap="flat" cmpd="sng" w="6925">
                      <a:solidFill>
                        <a:srgbClr val="44B3E1"/>
                      </a:solidFill>
                      <a:prstDash val="solid"/>
                      <a:round/>
                      <a:headEnd len="sm" w="sm" type="none"/>
                      <a:tailEnd len="sm" w="sm" type="none"/>
                    </a:lnL>
                    <a:lnR cap="flat" cmpd="sng" w="6925">
                      <a:solidFill>
                        <a:srgbClr val="44B3E1"/>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83CCE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24"/>
          <p:cNvPicPr preferRelativeResize="0"/>
          <p:nvPr/>
        </p:nvPicPr>
        <p:blipFill rotWithShape="1">
          <a:blip r:embed="rId3">
            <a:alphaModFix/>
          </a:blip>
          <a:srcRect b="0" l="0" r="0" t="0"/>
          <a:stretch/>
        </p:blipFill>
        <p:spPr>
          <a:xfrm>
            <a:off x="14752327" y="5381439"/>
            <a:ext cx="3535673" cy="4905560"/>
          </a:xfrm>
          <a:prstGeom prst="rect">
            <a:avLst/>
          </a:prstGeom>
          <a:noFill/>
          <a:ln>
            <a:noFill/>
          </a:ln>
        </p:spPr>
      </p:pic>
      <p:pic>
        <p:nvPicPr>
          <p:cNvPr id="206" name="Google Shape;206;p24"/>
          <p:cNvPicPr preferRelativeResize="0"/>
          <p:nvPr/>
        </p:nvPicPr>
        <p:blipFill rotWithShape="1">
          <a:blip r:embed="rId4">
            <a:alphaModFix/>
          </a:blip>
          <a:srcRect b="0" l="0" r="0" t="0"/>
          <a:stretch/>
        </p:blipFill>
        <p:spPr>
          <a:xfrm>
            <a:off x="0" y="0"/>
            <a:ext cx="3330911" cy="2790326"/>
          </a:xfrm>
          <a:prstGeom prst="rect">
            <a:avLst/>
          </a:prstGeom>
          <a:noFill/>
          <a:ln>
            <a:noFill/>
          </a:ln>
        </p:spPr>
      </p:pic>
      <p:pic>
        <p:nvPicPr>
          <p:cNvPr id="207" name="Google Shape;207;p24"/>
          <p:cNvPicPr preferRelativeResize="0"/>
          <p:nvPr/>
        </p:nvPicPr>
        <p:blipFill rotWithShape="1">
          <a:blip r:embed="rId5">
            <a:alphaModFix/>
          </a:blip>
          <a:srcRect b="0" l="0" r="0" t="0"/>
          <a:stretch/>
        </p:blipFill>
        <p:spPr>
          <a:xfrm>
            <a:off x="0" y="8775389"/>
            <a:ext cx="4103901" cy="1011110"/>
          </a:xfrm>
          <a:prstGeom prst="rect">
            <a:avLst/>
          </a:prstGeom>
          <a:noFill/>
          <a:ln>
            <a:noFill/>
          </a:ln>
        </p:spPr>
      </p:pic>
      <p:pic>
        <p:nvPicPr>
          <p:cNvPr id="208" name="Google Shape;208;p24"/>
          <p:cNvPicPr preferRelativeResize="0"/>
          <p:nvPr/>
        </p:nvPicPr>
        <p:blipFill rotWithShape="1">
          <a:blip r:embed="rId6">
            <a:alphaModFix/>
          </a:blip>
          <a:srcRect b="0" l="0" r="0" t="0"/>
          <a:stretch/>
        </p:blipFill>
        <p:spPr>
          <a:xfrm>
            <a:off x="13971970" y="475521"/>
            <a:ext cx="4316030" cy="1011109"/>
          </a:xfrm>
          <a:prstGeom prst="rect">
            <a:avLst/>
          </a:prstGeom>
          <a:noFill/>
          <a:ln>
            <a:noFill/>
          </a:ln>
        </p:spPr>
      </p:pic>
      <p:pic>
        <p:nvPicPr>
          <p:cNvPr id="209" name="Google Shape;209;p24"/>
          <p:cNvPicPr preferRelativeResize="0"/>
          <p:nvPr/>
        </p:nvPicPr>
        <p:blipFill rotWithShape="1">
          <a:blip r:embed="rId7">
            <a:alphaModFix/>
          </a:blip>
          <a:srcRect b="0" l="0" r="0" t="0"/>
          <a:stretch/>
        </p:blipFill>
        <p:spPr>
          <a:xfrm>
            <a:off x="7924800" y="7834219"/>
            <a:ext cx="2743200" cy="1640477"/>
          </a:xfrm>
          <a:prstGeom prst="rect">
            <a:avLst/>
          </a:prstGeom>
          <a:noFill/>
          <a:ln>
            <a:noFill/>
          </a:ln>
        </p:spPr>
      </p:pic>
      <p:sp>
        <p:nvSpPr>
          <p:cNvPr id="210" name="Google Shape;210;p24"/>
          <p:cNvSpPr txBox="1"/>
          <p:nvPr>
            <p:ph type="title"/>
          </p:nvPr>
        </p:nvSpPr>
        <p:spPr>
          <a:xfrm>
            <a:off x="3330911" y="977625"/>
            <a:ext cx="11312188" cy="751488"/>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MX" sz="4800">
                <a:latin typeface="Arial"/>
                <a:ea typeface="Arial"/>
                <a:cs typeface="Arial"/>
                <a:sym typeface="Arial"/>
              </a:rPr>
              <a:t>Análisis del Punto de Equilibrio</a:t>
            </a:r>
            <a:endParaRPr sz="4800"/>
          </a:p>
        </p:txBody>
      </p:sp>
      <p:graphicFrame>
        <p:nvGraphicFramePr>
          <p:cNvPr id="211" name="Google Shape;211;p24"/>
          <p:cNvGraphicFramePr/>
          <p:nvPr/>
        </p:nvGraphicFramePr>
        <p:xfrm>
          <a:off x="3113475" y="2790325"/>
          <a:ext cx="3000000" cy="3000000"/>
        </p:xfrm>
        <a:graphic>
          <a:graphicData uri="http://schemas.openxmlformats.org/drawingml/2006/table">
            <a:tbl>
              <a:tblPr>
                <a:noFill/>
                <a:tableStyleId>{E740065E-E62D-4A3E-A034-24EA0CF792AB}</a:tableStyleId>
              </a:tblPr>
              <a:tblGrid>
                <a:gridCol w="2317900"/>
                <a:gridCol w="3943750"/>
                <a:gridCol w="6261650"/>
              </a:tblGrid>
              <a:tr h="1233025">
                <a:tc>
                  <a:txBody>
                    <a:bodyPr/>
                    <a:lstStyle/>
                    <a:p>
                      <a:pPr indent="0" lvl="0" marL="0" rtl="0" algn="l">
                        <a:spcBef>
                          <a:spcPts val="0"/>
                        </a:spcBef>
                        <a:spcAft>
                          <a:spcPts val="0"/>
                        </a:spcAft>
                        <a:buNone/>
                      </a:pPr>
                      <a:r>
                        <a:rPr lang="es-MX" sz="1800">
                          <a:solidFill>
                            <a:srgbClr val="0E2841"/>
                          </a:solidFill>
                        </a:rPr>
                        <a:t>Punto de Equilibrio</a:t>
                      </a:r>
                      <a:endParaRPr sz="1800">
                        <a:solidFill>
                          <a:srgbClr val="0E2841"/>
                        </a:solidFill>
                      </a:endParaRPr>
                    </a:p>
                  </a:txBody>
                  <a:tcPr marT="91425" marB="91425" marR="91425" marL="91425">
                    <a:lnR cap="flat" cmpd="sng" w="6925">
                      <a:solidFill>
                        <a:srgbClr val="FFFFFF"/>
                      </a:solidFill>
                      <a:prstDash val="solid"/>
                      <a:round/>
                      <a:headEnd len="sm" w="sm" type="none"/>
                      <a:tailEnd len="sm" w="sm" type="none"/>
                    </a:lnR>
                    <a:lnT cap="flat" cmpd="sng" w="6925">
                      <a:solidFill>
                        <a:srgbClr val="FFFFFF"/>
                      </a:solidFill>
                      <a:prstDash val="solid"/>
                      <a:round/>
                      <a:headEnd len="sm" w="sm" type="none"/>
                      <a:tailEnd len="sm" w="sm" type="none"/>
                    </a:lnT>
                    <a:lnB cap="flat" cmpd="sng" w="13850">
                      <a:solidFill>
                        <a:srgbClr val="156082"/>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s-MX" sz="1800">
                          <a:solidFill>
                            <a:srgbClr val="0E2841"/>
                          </a:solidFill>
                        </a:rPr>
                        <a:t>462 usuarios/mes</a:t>
                      </a:r>
                      <a:endParaRPr sz="1800">
                        <a:solidFill>
                          <a:srgbClr val="0E2841"/>
                        </a:solidFill>
                      </a:endParaRPr>
                    </a:p>
                  </a:txBody>
                  <a:tcPr marT="91425" marB="91425" marR="91425" marL="91425">
                    <a:lnL cap="flat" cmpd="sng" w="6925">
                      <a:solidFill>
                        <a:srgbClr val="FFFFFF"/>
                      </a:solidFill>
                      <a:prstDash val="solid"/>
                      <a:round/>
                      <a:headEnd len="sm" w="sm" type="none"/>
                      <a:tailEnd len="sm" w="sm" type="none"/>
                    </a:lnL>
                    <a:lnR cap="flat" cmpd="sng" w="6925">
                      <a:solidFill>
                        <a:srgbClr val="FFFFFF"/>
                      </a:solidFill>
                      <a:prstDash val="solid"/>
                      <a:round/>
                      <a:headEnd len="sm" w="sm" type="none"/>
                      <a:tailEnd len="sm" w="sm" type="none"/>
                    </a:lnR>
                    <a:lnT cap="flat" cmpd="sng" w="6925">
                      <a:solidFill>
                        <a:srgbClr val="FFFFFF"/>
                      </a:solidFill>
                      <a:prstDash val="solid"/>
                      <a:round/>
                      <a:headEnd len="sm" w="sm" type="none"/>
                      <a:tailEnd len="sm" w="sm" type="none"/>
                    </a:lnT>
                    <a:lnB cap="flat" cmpd="sng" w="13850">
                      <a:solidFill>
                        <a:srgbClr val="156082"/>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s-MX" sz="1800">
                          <a:solidFill>
                            <a:srgbClr val="0E2841"/>
                          </a:solidFill>
                        </a:rPr>
                        <a:t>Número mínimo de usuarios para cubrir costos fijos y variables</a:t>
                      </a:r>
                      <a:endParaRPr sz="1800">
                        <a:solidFill>
                          <a:srgbClr val="0E2841"/>
                        </a:solidFill>
                      </a:endParaRPr>
                    </a:p>
                  </a:txBody>
                  <a:tcPr marT="91425" marB="91425" marR="91425" marL="91425">
                    <a:lnL cap="flat" cmpd="sng" w="6925">
                      <a:solidFill>
                        <a:srgbClr val="FFFFFF"/>
                      </a:solidFill>
                      <a:prstDash val="solid"/>
                      <a:round/>
                      <a:headEnd len="sm" w="sm" type="none"/>
                      <a:tailEnd len="sm" w="sm" type="none"/>
                    </a:lnL>
                    <a:lnT cap="flat" cmpd="sng" w="6925">
                      <a:solidFill>
                        <a:srgbClr val="FFFFFF"/>
                      </a:solidFill>
                      <a:prstDash val="solid"/>
                      <a:round/>
                      <a:headEnd len="sm" w="sm" type="none"/>
                      <a:tailEnd len="sm" w="sm" type="none"/>
                    </a:lnT>
                    <a:lnB cap="flat" cmpd="sng" w="13850">
                      <a:solidFill>
                        <a:srgbClr val="156082"/>
                      </a:solidFill>
                      <a:prstDash val="solid"/>
                      <a:round/>
                      <a:headEnd len="sm" w="sm" type="none"/>
                      <a:tailEnd len="sm" w="sm" type="none"/>
                    </a:lnB>
                    <a:solidFill>
                      <a:srgbClr val="A6A6A6"/>
                    </a:solidFill>
                  </a:tcPr>
                </a:tc>
              </a:tr>
              <a:tr h="1233025">
                <a:tc>
                  <a:txBody>
                    <a:bodyPr/>
                    <a:lstStyle/>
                    <a:p>
                      <a:pPr indent="0" lvl="0" marL="0" rtl="0" algn="l">
                        <a:spcBef>
                          <a:spcPts val="0"/>
                        </a:spcBef>
                        <a:spcAft>
                          <a:spcPts val="0"/>
                        </a:spcAft>
                        <a:buNone/>
                      </a:pPr>
                      <a:r>
                        <a:rPr lang="es-MX" sz="1800">
                          <a:solidFill>
                            <a:srgbClr val="0E2841"/>
                          </a:solidFill>
                        </a:rPr>
                        <a:t>Costos fijos</a:t>
                      </a:r>
                      <a:endParaRPr sz="1800">
                        <a:solidFill>
                          <a:srgbClr val="0E2841"/>
                        </a:solidFill>
                      </a:endParaRPr>
                    </a:p>
                  </a:txBody>
                  <a:tcPr marT="91425" marB="91425" marR="91425" marL="91425">
                    <a:lnR cap="flat" cmpd="sng" w="6925">
                      <a:solidFill>
                        <a:srgbClr val="FFFFFF"/>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s-MX" sz="1800">
                          <a:solidFill>
                            <a:srgbClr val="0E2841"/>
                          </a:solidFill>
                        </a:rPr>
                        <a:t>$15.750.000 anual</a:t>
                      </a:r>
                      <a:endParaRPr sz="1800">
                        <a:solidFill>
                          <a:srgbClr val="0E2841"/>
                        </a:solidFill>
                      </a:endParaRPr>
                    </a:p>
                  </a:txBody>
                  <a:tcPr marT="91425" marB="91425" marR="91425" marL="91425">
                    <a:lnL cap="flat" cmpd="sng" w="6925">
                      <a:solidFill>
                        <a:srgbClr val="FFFFFF"/>
                      </a:solidFill>
                      <a:prstDash val="solid"/>
                      <a:round/>
                      <a:headEnd len="sm" w="sm" type="none"/>
                      <a:tailEnd len="sm" w="sm" type="none"/>
                    </a:lnL>
                    <a:lnR cap="flat" cmpd="sng" w="6925">
                      <a:solidFill>
                        <a:srgbClr val="FFFFFF"/>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s-MX" sz="1800">
                          <a:solidFill>
                            <a:srgbClr val="0E2841"/>
                          </a:solidFill>
                        </a:rPr>
                        <a:t>Gastos independientes del nivel de ventas, como arriendo y sueldos</a:t>
                      </a:r>
                      <a:endParaRPr sz="1800">
                        <a:solidFill>
                          <a:srgbClr val="0E2841"/>
                        </a:solidFill>
                      </a:endParaRPr>
                    </a:p>
                  </a:txBody>
                  <a:tcPr marT="91425" marB="91425" marR="91425" marL="91425">
                    <a:lnL cap="flat" cmpd="sng" w="6925">
                      <a:solidFill>
                        <a:srgbClr val="FFFFFF"/>
                      </a:solidFill>
                      <a:prstDash val="solid"/>
                      <a:round/>
                      <a:headEnd len="sm" w="sm" type="none"/>
                      <a:tailEnd len="sm" w="sm" type="none"/>
                    </a:lnL>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9D9D9"/>
                    </a:solidFill>
                  </a:tcPr>
                </a:tc>
              </a:tr>
              <a:tr h="769825">
                <a:tc>
                  <a:txBody>
                    <a:bodyPr/>
                    <a:lstStyle/>
                    <a:p>
                      <a:pPr indent="0" lvl="0" marL="0" rtl="0" algn="l">
                        <a:spcBef>
                          <a:spcPts val="0"/>
                        </a:spcBef>
                        <a:spcAft>
                          <a:spcPts val="0"/>
                        </a:spcAft>
                        <a:buNone/>
                      </a:pPr>
                      <a:r>
                        <a:rPr lang="es-MX" sz="1800">
                          <a:solidFill>
                            <a:srgbClr val="0E2841"/>
                          </a:solidFill>
                        </a:rPr>
                        <a:t>Costos variables</a:t>
                      </a:r>
                      <a:endParaRPr sz="1800">
                        <a:solidFill>
                          <a:srgbClr val="0E2841"/>
                        </a:solidFill>
                      </a:endParaRPr>
                    </a:p>
                  </a:txBody>
                  <a:tcPr marT="91425" marB="91425" marR="91425" marL="91425">
                    <a:lnR cap="flat" cmpd="sng" w="6925">
                      <a:solidFill>
                        <a:srgbClr val="FFFFFF"/>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s-MX" sz="1800">
                          <a:solidFill>
                            <a:srgbClr val="0E2841"/>
                          </a:solidFill>
                        </a:rPr>
                        <a:t>Variables según uso y clientes</a:t>
                      </a:r>
                      <a:endParaRPr sz="1800">
                        <a:solidFill>
                          <a:srgbClr val="0E2841"/>
                        </a:solidFill>
                      </a:endParaRPr>
                    </a:p>
                  </a:txBody>
                  <a:tcPr marT="91425" marB="91425" marR="91425" marL="91425">
                    <a:lnL cap="flat" cmpd="sng" w="6925">
                      <a:solidFill>
                        <a:srgbClr val="FFFFFF"/>
                      </a:solidFill>
                      <a:prstDash val="solid"/>
                      <a:round/>
                      <a:headEnd len="sm" w="sm" type="none"/>
                      <a:tailEnd len="sm" w="sm" type="none"/>
                    </a:lnL>
                    <a:lnR cap="flat" cmpd="sng" w="6925">
                      <a:solidFill>
                        <a:srgbClr val="FFFFFF"/>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s-MX" sz="1800">
                          <a:solidFill>
                            <a:srgbClr val="0E2841"/>
                          </a:solidFill>
                        </a:rPr>
                        <a:t>Aumentan proporcionales al número de usuarios</a:t>
                      </a:r>
                      <a:endParaRPr sz="1800">
                        <a:solidFill>
                          <a:srgbClr val="0E2841"/>
                        </a:solidFill>
                      </a:endParaRPr>
                    </a:p>
                  </a:txBody>
                  <a:tcPr marT="91425" marB="91425" marR="91425" marL="91425">
                    <a:lnL cap="flat" cmpd="sng" w="6925">
                      <a:solidFill>
                        <a:srgbClr val="FFFFFF"/>
                      </a:solidFill>
                      <a:prstDash val="solid"/>
                      <a:round/>
                      <a:headEnd len="sm" w="sm" type="none"/>
                      <a:tailEnd len="sm" w="sm" type="none"/>
                    </a:lnL>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A6A6A6"/>
                    </a:solidFill>
                  </a:tcPr>
                </a:tc>
              </a:tr>
              <a:tr h="769825">
                <a:tc>
                  <a:txBody>
                    <a:bodyPr/>
                    <a:lstStyle/>
                    <a:p>
                      <a:pPr indent="0" lvl="0" marL="0" rtl="0" algn="l">
                        <a:spcBef>
                          <a:spcPts val="0"/>
                        </a:spcBef>
                        <a:spcAft>
                          <a:spcPts val="0"/>
                        </a:spcAft>
                        <a:buNone/>
                      </a:pPr>
                      <a:r>
                        <a:rPr lang="es-MX" sz="1800">
                          <a:solidFill>
                            <a:srgbClr val="0E2841"/>
                          </a:solidFill>
                        </a:rPr>
                        <a:t>Precio unitario</a:t>
                      </a:r>
                      <a:endParaRPr sz="1800">
                        <a:solidFill>
                          <a:srgbClr val="0E2841"/>
                        </a:solidFill>
                      </a:endParaRPr>
                    </a:p>
                  </a:txBody>
                  <a:tcPr marT="91425" marB="91425" marR="91425" marL="91425">
                    <a:lnR cap="flat" cmpd="sng" w="6925">
                      <a:solidFill>
                        <a:srgbClr val="FFFFFF"/>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s-MX" sz="1800">
                          <a:solidFill>
                            <a:srgbClr val="0E2841"/>
                          </a:solidFill>
                        </a:rPr>
                        <a:t>$2.500</a:t>
                      </a:r>
                      <a:endParaRPr sz="1800">
                        <a:solidFill>
                          <a:srgbClr val="0E2841"/>
                        </a:solidFill>
                      </a:endParaRPr>
                    </a:p>
                  </a:txBody>
                  <a:tcPr marT="91425" marB="91425" marR="91425" marL="91425">
                    <a:lnL cap="flat" cmpd="sng" w="6925">
                      <a:solidFill>
                        <a:srgbClr val="FFFFFF"/>
                      </a:solidFill>
                      <a:prstDash val="solid"/>
                      <a:round/>
                      <a:headEnd len="sm" w="sm" type="none"/>
                      <a:tailEnd len="sm" w="sm" type="none"/>
                    </a:lnL>
                    <a:lnR cap="flat" cmpd="sng" w="6925">
                      <a:solidFill>
                        <a:srgbClr val="FFFFFF"/>
                      </a:solidFill>
                      <a:prstDash val="solid"/>
                      <a:round/>
                      <a:headEnd len="sm" w="sm" type="none"/>
                      <a:tailEnd len="sm" w="sm" type="none"/>
                    </a:lnR>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s-MX" sz="1800">
                          <a:solidFill>
                            <a:srgbClr val="0E2841"/>
                          </a:solidFill>
                        </a:rPr>
                        <a:t>Precio mensual por usuario para calcular ingresos</a:t>
                      </a:r>
                      <a:endParaRPr sz="1800">
                        <a:solidFill>
                          <a:srgbClr val="0E2841"/>
                        </a:solidFill>
                      </a:endParaRPr>
                    </a:p>
                  </a:txBody>
                  <a:tcPr marT="91425" marB="91425" marR="91425" marL="91425">
                    <a:lnL cap="flat" cmpd="sng" w="6925">
                      <a:solidFill>
                        <a:srgbClr val="FFFFFF"/>
                      </a:solidFill>
                      <a:prstDash val="solid"/>
                      <a:round/>
                      <a:headEnd len="sm" w="sm" type="none"/>
                      <a:tailEnd len="sm" w="sm" type="none"/>
                    </a:lnL>
                    <a:lnT cap="flat" cmpd="sng" w="13850">
                      <a:solidFill>
                        <a:srgbClr val="156082"/>
                      </a:solidFill>
                      <a:prstDash val="solid"/>
                      <a:round/>
                      <a:headEnd len="sm" w="sm" type="none"/>
                      <a:tailEnd len="sm" w="sm" type="none"/>
                    </a:lnT>
                    <a:lnB cap="flat" cmpd="sng" w="13850">
                      <a:solidFill>
                        <a:srgbClr val="156082"/>
                      </a:solidFill>
                      <a:prstDash val="solid"/>
                      <a:round/>
                      <a:headEnd len="sm" w="sm" type="none"/>
                      <a:tailEnd len="sm" w="sm" type="none"/>
                    </a:lnB>
                    <a:solidFill>
                      <a:srgbClr val="D9D9D9"/>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grpSp>
        <p:nvGrpSpPr>
          <p:cNvPr id="216" name="Google Shape;216;p25"/>
          <p:cNvGrpSpPr/>
          <p:nvPr/>
        </p:nvGrpSpPr>
        <p:grpSpPr>
          <a:xfrm>
            <a:off x="12552680" y="5174343"/>
            <a:ext cx="5735105" cy="5143500"/>
            <a:chOff x="12552894" y="5143500"/>
            <a:chExt cx="5735105" cy="5143500"/>
          </a:xfrm>
        </p:grpSpPr>
        <p:pic>
          <p:nvPicPr>
            <p:cNvPr id="217" name="Google Shape;217;p25"/>
            <p:cNvPicPr preferRelativeResize="0"/>
            <p:nvPr/>
          </p:nvPicPr>
          <p:blipFill rotWithShape="1">
            <a:blip r:embed="rId3">
              <a:alphaModFix/>
            </a:blip>
            <a:srcRect b="0" l="0" r="0" t="0"/>
            <a:stretch/>
          </p:blipFill>
          <p:spPr>
            <a:xfrm>
              <a:off x="12552894" y="5143500"/>
              <a:ext cx="5735105" cy="5143500"/>
            </a:xfrm>
            <a:prstGeom prst="rect">
              <a:avLst/>
            </a:prstGeom>
            <a:noFill/>
            <a:ln>
              <a:noFill/>
            </a:ln>
          </p:spPr>
        </p:pic>
        <p:pic>
          <p:nvPicPr>
            <p:cNvPr id="218" name="Google Shape;218;p25"/>
            <p:cNvPicPr preferRelativeResize="0"/>
            <p:nvPr/>
          </p:nvPicPr>
          <p:blipFill rotWithShape="1">
            <a:blip r:embed="rId4">
              <a:alphaModFix/>
            </a:blip>
            <a:srcRect b="0" l="0" r="0" t="0"/>
            <a:stretch/>
          </p:blipFill>
          <p:spPr>
            <a:xfrm>
              <a:off x="13678297" y="6088225"/>
              <a:ext cx="4086559" cy="4198774"/>
            </a:xfrm>
            <a:prstGeom prst="rect">
              <a:avLst/>
            </a:prstGeom>
            <a:noFill/>
            <a:ln>
              <a:noFill/>
            </a:ln>
          </p:spPr>
        </p:pic>
      </p:grpSp>
      <p:sp>
        <p:nvSpPr>
          <p:cNvPr id="219" name="Google Shape;219;p25"/>
          <p:cNvSpPr txBox="1"/>
          <p:nvPr>
            <p:ph type="title"/>
          </p:nvPr>
        </p:nvSpPr>
        <p:spPr>
          <a:xfrm>
            <a:off x="4735654" y="56047"/>
            <a:ext cx="8816691" cy="2385060"/>
          </a:xfrm>
          <a:prstGeom prst="rect">
            <a:avLst/>
          </a:prstGeom>
          <a:noFill/>
          <a:ln>
            <a:noFill/>
          </a:ln>
        </p:spPr>
        <p:txBody>
          <a:bodyPr anchorCtr="0" anchor="t" bIns="0" lIns="0" spcFirstLastPara="1" rIns="0" wrap="square" tIns="198275">
            <a:spAutoFit/>
          </a:bodyPr>
          <a:lstStyle/>
          <a:p>
            <a:pPr indent="0" lvl="0" marL="1134110" rtl="0" algn="l">
              <a:lnSpc>
                <a:spcPct val="100000"/>
              </a:lnSpc>
              <a:spcBef>
                <a:spcPts val="0"/>
              </a:spcBef>
              <a:spcAft>
                <a:spcPts val="0"/>
              </a:spcAft>
              <a:buNone/>
            </a:pPr>
            <a:r>
              <a:rPr lang="es-MX"/>
              <a:t>Conclusiones</a:t>
            </a:r>
            <a:endParaRPr/>
          </a:p>
        </p:txBody>
      </p:sp>
      <p:pic>
        <p:nvPicPr>
          <p:cNvPr id="220" name="Google Shape;220;p25"/>
          <p:cNvPicPr preferRelativeResize="0"/>
          <p:nvPr/>
        </p:nvPicPr>
        <p:blipFill rotWithShape="1">
          <a:blip r:embed="rId5">
            <a:alphaModFix/>
          </a:blip>
          <a:srcRect b="0" l="0" r="0" t="0"/>
          <a:stretch/>
        </p:blipFill>
        <p:spPr>
          <a:xfrm>
            <a:off x="0" y="0"/>
            <a:ext cx="5779858" cy="2647308"/>
          </a:xfrm>
          <a:prstGeom prst="rect">
            <a:avLst/>
          </a:prstGeom>
          <a:noFill/>
          <a:ln>
            <a:noFill/>
          </a:ln>
        </p:spPr>
      </p:pic>
      <p:pic>
        <p:nvPicPr>
          <p:cNvPr id="221" name="Google Shape;221;p25"/>
          <p:cNvPicPr preferRelativeResize="0"/>
          <p:nvPr/>
        </p:nvPicPr>
        <p:blipFill rotWithShape="1">
          <a:blip r:embed="rId6">
            <a:alphaModFix/>
          </a:blip>
          <a:srcRect b="0" l="0" r="0" t="0"/>
          <a:stretch/>
        </p:blipFill>
        <p:spPr>
          <a:xfrm>
            <a:off x="523144" y="6180994"/>
            <a:ext cx="1011110" cy="4106005"/>
          </a:xfrm>
          <a:prstGeom prst="rect">
            <a:avLst/>
          </a:prstGeom>
          <a:noFill/>
          <a:ln>
            <a:noFill/>
          </a:ln>
        </p:spPr>
      </p:pic>
      <p:pic>
        <p:nvPicPr>
          <p:cNvPr id="222" name="Google Shape;222;p25"/>
          <p:cNvPicPr preferRelativeResize="0"/>
          <p:nvPr/>
        </p:nvPicPr>
        <p:blipFill rotWithShape="1">
          <a:blip r:embed="rId7">
            <a:alphaModFix/>
          </a:blip>
          <a:srcRect b="0" l="0" r="0" t="0"/>
          <a:stretch/>
        </p:blipFill>
        <p:spPr>
          <a:xfrm>
            <a:off x="16753744" y="0"/>
            <a:ext cx="1011111" cy="4209416"/>
          </a:xfrm>
          <a:prstGeom prst="rect">
            <a:avLst/>
          </a:prstGeom>
          <a:noFill/>
          <a:ln>
            <a:noFill/>
          </a:ln>
        </p:spPr>
      </p:pic>
      <p:sp>
        <p:nvSpPr>
          <p:cNvPr id="223" name="Google Shape;223;p25"/>
          <p:cNvSpPr txBox="1"/>
          <p:nvPr/>
        </p:nvSpPr>
        <p:spPr>
          <a:xfrm>
            <a:off x="2095675" y="3086100"/>
            <a:ext cx="13639800" cy="2383200"/>
          </a:xfrm>
          <a:prstGeom prst="rect">
            <a:avLst/>
          </a:prstGeom>
          <a:noFill/>
          <a:ln>
            <a:noFill/>
          </a:ln>
        </p:spPr>
        <p:txBody>
          <a:bodyPr anchorCtr="0" anchor="t" bIns="0" lIns="0" spcFirstLastPara="1" rIns="0" wrap="square" tIns="12700">
            <a:spAutoFit/>
          </a:bodyPr>
          <a:lstStyle/>
          <a:p>
            <a:pPr indent="0" lvl="1" marL="12700" marR="5080" rtl="0" algn="l">
              <a:lnSpc>
                <a:spcPct val="150000"/>
              </a:lnSpc>
              <a:spcBef>
                <a:spcPts val="0"/>
              </a:spcBef>
              <a:spcAft>
                <a:spcPts val="0"/>
              </a:spcAft>
              <a:buNone/>
            </a:pPr>
            <a:r>
              <a:rPr lang="es-MX" sz="2800">
                <a:solidFill>
                  <a:srgbClr val="FFFFFF"/>
                </a:solidFill>
              </a:rPr>
              <a:t>Desarrollo de plataforma e integración de módulos principales: 50%</a:t>
            </a:r>
            <a:endParaRPr sz="2800">
              <a:solidFill>
                <a:srgbClr val="FFFFFF"/>
              </a:solidFill>
            </a:endParaRPr>
          </a:p>
          <a:p>
            <a:pPr indent="0" lvl="1" marL="12700" marR="5080" rtl="0" algn="l">
              <a:lnSpc>
                <a:spcPct val="150000"/>
              </a:lnSpc>
              <a:spcBef>
                <a:spcPts val="0"/>
              </a:spcBef>
              <a:spcAft>
                <a:spcPts val="0"/>
              </a:spcAft>
              <a:buNone/>
            </a:pPr>
            <a:r>
              <a:rPr lang="es-MX" sz="2800">
                <a:solidFill>
                  <a:srgbClr val="FFFFFF"/>
                </a:solidFill>
              </a:rPr>
              <a:t>Automatización de inventario y OCR: 80%</a:t>
            </a:r>
            <a:endParaRPr sz="2800">
              <a:solidFill>
                <a:srgbClr val="FFFFFF"/>
              </a:solidFill>
            </a:endParaRPr>
          </a:p>
          <a:p>
            <a:pPr indent="0" lvl="1" marL="12700" marR="5080" rtl="0" algn="l">
              <a:lnSpc>
                <a:spcPct val="150000"/>
              </a:lnSpc>
              <a:spcBef>
                <a:spcPts val="0"/>
              </a:spcBef>
              <a:spcAft>
                <a:spcPts val="0"/>
              </a:spcAft>
              <a:buNone/>
            </a:pPr>
            <a:r>
              <a:rPr lang="es-MX" sz="2800">
                <a:solidFill>
                  <a:srgbClr val="FFFFFF"/>
                </a:solidFill>
              </a:rPr>
              <a:t>Recomendaciones inteligentes y funcionalidades base: 60%</a:t>
            </a:r>
            <a:endParaRPr sz="2800">
              <a:solidFill>
                <a:srgbClr val="FFFFFF"/>
              </a:solidFill>
            </a:endParaRPr>
          </a:p>
          <a:p>
            <a:pPr indent="0" lvl="1" marL="12700" marR="5080" rtl="0" algn="l">
              <a:lnSpc>
                <a:spcPct val="150000"/>
              </a:lnSpc>
              <a:spcBef>
                <a:spcPts val="0"/>
              </a:spcBef>
              <a:spcAft>
                <a:spcPts val="0"/>
              </a:spcAft>
              <a:buNone/>
            </a:pPr>
            <a:r>
              <a:rPr lang="es-MX" sz="2800">
                <a:solidFill>
                  <a:srgbClr val="FFFFFF"/>
                </a:solidFill>
              </a:rPr>
              <a:t>Implementación financiera y análisis económico: 70%</a:t>
            </a:r>
            <a:endParaRPr sz="28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type="title"/>
          </p:nvPr>
        </p:nvSpPr>
        <p:spPr>
          <a:xfrm>
            <a:off x="4351274" y="1910171"/>
            <a:ext cx="9585960" cy="4106545"/>
          </a:xfrm>
          <a:prstGeom prst="rect">
            <a:avLst/>
          </a:prstGeom>
          <a:noFill/>
          <a:ln>
            <a:noFill/>
          </a:ln>
        </p:spPr>
        <p:txBody>
          <a:bodyPr anchorCtr="0" anchor="t" bIns="0" lIns="0" spcFirstLastPara="1" rIns="0" wrap="square" tIns="12700">
            <a:spAutoFit/>
          </a:bodyPr>
          <a:lstStyle/>
          <a:p>
            <a:pPr indent="3809" lvl="0" marL="3381375" marR="3378200" rtl="0" algn="ctr">
              <a:lnSpc>
                <a:spcPct val="123900"/>
              </a:lnSpc>
              <a:spcBef>
                <a:spcPts val="0"/>
              </a:spcBef>
              <a:spcAft>
                <a:spcPts val="0"/>
              </a:spcAft>
              <a:buNone/>
            </a:pPr>
            <a:r>
              <a:rPr b="0" lang="es-MX" sz="4000">
                <a:latin typeface="Arial"/>
                <a:ea typeface="Arial"/>
                <a:cs typeface="Arial"/>
                <a:sym typeface="Arial"/>
              </a:rPr>
              <a:t>Capstone PantrySmart</a:t>
            </a:r>
            <a:endParaRPr sz="4000">
              <a:latin typeface="Arial"/>
              <a:ea typeface="Arial"/>
              <a:cs typeface="Arial"/>
              <a:sym typeface="Arial"/>
            </a:endParaRPr>
          </a:p>
          <a:p>
            <a:pPr indent="0" lvl="0" marL="0" rtl="0" algn="ctr">
              <a:lnSpc>
                <a:spcPct val="112416"/>
              </a:lnSpc>
              <a:spcBef>
                <a:spcPts val="0"/>
              </a:spcBef>
              <a:spcAft>
                <a:spcPts val="0"/>
              </a:spcAft>
              <a:buNone/>
            </a:pPr>
            <a:r>
              <a:rPr lang="es-MX" sz="18000"/>
              <a:t>¡Gracias!</a:t>
            </a:r>
            <a:endParaRPr sz="18000"/>
          </a:p>
        </p:txBody>
      </p:sp>
      <p:pic>
        <p:nvPicPr>
          <p:cNvPr id="229" name="Google Shape;229;p26"/>
          <p:cNvPicPr preferRelativeResize="0"/>
          <p:nvPr/>
        </p:nvPicPr>
        <p:blipFill rotWithShape="1">
          <a:blip r:embed="rId3">
            <a:alphaModFix/>
          </a:blip>
          <a:srcRect b="0" l="0" r="0" t="0"/>
          <a:stretch/>
        </p:blipFill>
        <p:spPr>
          <a:xfrm>
            <a:off x="12947146" y="3552471"/>
            <a:ext cx="5340853" cy="6734527"/>
          </a:xfrm>
          <a:prstGeom prst="rect">
            <a:avLst/>
          </a:prstGeom>
          <a:noFill/>
          <a:ln>
            <a:noFill/>
          </a:ln>
        </p:spPr>
      </p:pic>
      <p:pic>
        <p:nvPicPr>
          <p:cNvPr id="230" name="Google Shape;230;p26"/>
          <p:cNvPicPr preferRelativeResize="0"/>
          <p:nvPr/>
        </p:nvPicPr>
        <p:blipFill rotWithShape="1">
          <a:blip r:embed="rId4">
            <a:alphaModFix/>
          </a:blip>
          <a:srcRect b="0" l="0" r="0" t="0"/>
          <a:stretch/>
        </p:blipFill>
        <p:spPr>
          <a:xfrm>
            <a:off x="0" y="8598985"/>
            <a:ext cx="4107237" cy="1011110"/>
          </a:xfrm>
          <a:prstGeom prst="rect">
            <a:avLst/>
          </a:prstGeom>
          <a:noFill/>
          <a:ln>
            <a:noFill/>
          </a:ln>
        </p:spPr>
      </p:pic>
      <p:pic>
        <p:nvPicPr>
          <p:cNvPr id="231" name="Google Shape;231;p26"/>
          <p:cNvPicPr preferRelativeResize="0"/>
          <p:nvPr/>
        </p:nvPicPr>
        <p:blipFill rotWithShape="1">
          <a:blip r:embed="rId5">
            <a:alphaModFix/>
          </a:blip>
          <a:srcRect b="0" l="0" r="0" t="0"/>
          <a:stretch/>
        </p:blipFill>
        <p:spPr>
          <a:xfrm>
            <a:off x="13991563" y="523146"/>
            <a:ext cx="4296436" cy="1011109"/>
          </a:xfrm>
          <a:prstGeom prst="rect">
            <a:avLst/>
          </a:prstGeom>
          <a:noFill/>
          <a:ln>
            <a:noFill/>
          </a:ln>
        </p:spPr>
      </p:pic>
      <p:pic>
        <p:nvPicPr>
          <p:cNvPr id="232" name="Google Shape;232;p26"/>
          <p:cNvPicPr preferRelativeResize="0"/>
          <p:nvPr/>
        </p:nvPicPr>
        <p:blipFill rotWithShape="1">
          <a:blip r:embed="rId6">
            <a:alphaModFix/>
          </a:blip>
          <a:srcRect b="0" l="0" r="0" t="0"/>
          <a:stretch/>
        </p:blipFill>
        <p:spPr>
          <a:xfrm>
            <a:off x="7742873" y="6590665"/>
            <a:ext cx="3177892" cy="30189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2025-10-09T21:17:06Z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2025-10-09T00:00:00Z</vt:filetime>
  </property>
  <property fmtid="{D5CDD505-2E9C-101B-9397-08002B2CF9AE}" pid="3" name="Creator">
    <vt:lpwstr>Google</vt:lpwstr>
  </property>
  <property fmtid="{D5CDD505-2E9C-101B-9397-08002B2CF9AE}" pid="4" name="LastSaved">
    <vt:filetime>2025-10-09T00:00:00Z</vt:filetime>
  </property>
</Properties>
</file>