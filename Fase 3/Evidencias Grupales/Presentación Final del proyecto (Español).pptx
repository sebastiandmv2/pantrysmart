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10287000" cx="18288000"/>
  <p:notesSz cx="18288000" cy="10287000"/>
  <p:embeddedFontLst>
    <p:embeddedFont>
      <p:font typeface="Roboto Thin"/>
      <p:regular r:id="rId28"/>
      <p:bold r:id="rId29"/>
      <p:italic r:id="rId30"/>
      <p:boldItalic r:id="rId31"/>
    </p:embeddedFont>
    <p:embeddedFont>
      <p:font typeface="Roboto"/>
      <p:regular r:id="rId32"/>
      <p:bold r:id="rId33"/>
      <p:italic r:id="rId34"/>
      <p:boldItalic r:id="rId35"/>
    </p:embeddedFont>
    <p:embeddedFont>
      <p:font typeface="Roboto Medium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40" roundtripDataSignature="AMtx7mgM4YjTrKfvG/Y1DXRtAfNQ6bBs3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443BE07-F323-4733-9C74-3EB1BA36E93E}">
  <a:tblStyle styleId="{D443BE07-F323-4733-9C74-3EB1BA36E93E}" styleName="Table_0">
    <a:wholeTbl>
      <a:tcTxStyle b="off" i="off">
        <a:font>
          <a:latin typeface="Arial"/>
          <a:ea typeface="Arial"/>
          <a:cs typeface="Arial"/>
        </a:font>
        <a:schemeClr val="lt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3"/>
          </a:solidFill>
        </a:fill>
      </a:tcStyle>
    </a:wholeTbl>
    <a:band1H>
      <a:tcTxStyle/>
      <a:tcStyle>
        <a:fill>
          <a:solidFill>
            <a:srgbClr val="3A7BA1"/>
          </a:solidFill>
        </a:fill>
      </a:tcStyle>
    </a:band1H>
    <a:band2H>
      <a:tcTxStyle/>
    </a:band2H>
    <a:band1V>
      <a:tcTxStyle/>
      <a:tcStyle>
        <a:fill>
          <a:solidFill>
            <a:srgbClr val="3A7BA1"/>
          </a:solidFill>
        </a:fill>
      </a:tcStyle>
    </a:band1V>
    <a:band2V>
      <a:tcTxStyle/>
    </a:band2V>
    <a:lastCol>
      <a:tcTxStyle b="on" i="off"/>
      <a:tcStyle>
        <a:tcBdr>
          <a:left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</a:tcBdr>
        <a:fill>
          <a:solidFill>
            <a:srgbClr val="3A7BA1"/>
          </a:solidFill>
        </a:fill>
      </a:tcStyle>
    </a:lastCol>
    <a:firstCol>
      <a:tcTxStyle b="on" i="off"/>
      <a:tcStyle>
        <a:tcBdr>
          <a:right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</a:tcBdr>
        <a:fill>
          <a:solidFill>
            <a:srgbClr val="3A7BA1"/>
          </a:solidFill>
        </a:fill>
      </a:tcStyle>
    </a:firstCol>
    <a:lastRow>
      <a:tcTxStyle b="on" i="off"/>
      <a:tcStyle>
        <a:tcBdr>
          <a:top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306686"/>
          </a:solidFill>
        </a:fill>
      </a:tcStyle>
    </a:lastRow>
    <a:seCell>
      <a:tcTxStyle/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</a:tcBdr>
      </a:tcStyle>
    </a:seCell>
    <a:swCell>
      <a:tcTxStyle/>
      <a:tcStyle>
        <a:tcBdr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swCell>
    <a:firstRow>
      <a:tcTxStyle b="on" i="off"/>
      <a:tcStyle>
        <a:tcBdr>
          <a:bottom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</a:tcBdr>
      </a:tcStyle>
    </a:neCell>
    <a:nwCell>
      <a:tcTxStyle/>
      <a:tcStyle>
        <a:tcBdr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nwCell>
  </a:tblStyle>
  <a:tblStyle styleId="{1706572C-C272-4AB8-A1C4-CEDF5ADC8F51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RobotoThin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Thin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Thin-boldItalic.fntdata"/><Relationship Id="rId30" Type="http://schemas.openxmlformats.org/officeDocument/2006/relationships/font" Target="fonts/RobotoThin-italic.fntdata"/><Relationship Id="rId11" Type="http://schemas.openxmlformats.org/officeDocument/2006/relationships/slide" Target="slides/slide5.xml"/><Relationship Id="rId33" Type="http://schemas.openxmlformats.org/officeDocument/2006/relationships/font" Target="fonts/Roboto-bold.fntdata"/><Relationship Id="rId10" Type="http://schemas.openxmlformats.org/officeDocument/2006/relationships/slide" Target="slides/slide4.xml"/><Relationship Id="rId32" Type="http://schemas.openxmlformats.org/officeDocument/2006/relationships/font" Target="fonts/Roboto-regular.fntdata"/><Relationship Id="rId13" Type="http://schemas.openxmlformats.org/officeDocument/2006/relationships/slide" Target="slides/slide7.xml"/><Relationship Id="rId35" Type="http://schemas.openxmlformats.org/officeDocument/2006/relationships/font" Target="fonts/Roboto-boldItalic.fntdata"/><Relationship Id="rId12" Type="http://schemas.openxmlformats.org/officeDocument/2006/relationships/slide" Target="slides/slide6.xml"/><Relationship Id="rId34" Type="http://schemas.openxmlformats.org/officeDocument/2006/relationships/font" Target="fonts/Roboto-italic.fntdata"/><Relationship Id="rId15" Type="http://schemas.openxmlformats.org/officeDocument/2006/relationships/slide" Target="slides/slide9.xml"/><Relationship Id="rId37" Type="http://schemas.openxmlformats.org/officeDocument/2006/relationships/font" Target="fonts/RobotoMedium-bold.fntdata"/><Relationship Id="rId14" Type="http://schemas.openxmlformats.org/officeDocument/2006/relationships/slide" Target="slides/slide8.xml"/><Relationship Id="rId36" Type="http://schemas.openxmlformats.org/officeDocument/2006/relationships/font" Target="fonts/RobotoMedium-regular.fntdata"/><Relationship Id="rId17" Type="http://schemas.openxmlformats.org/officeDocument/2006/relationships/slide" Target="slides/slide11.xml"/><Relationship Id="rId39" Type="http://schemas.openxmlformats.org/officeDocument/2006/relationships/font" Target="fonts/RobotoMedium-boldItalic.fntdata"/><Relationship Id="rId16" Type="http://schemas.openxmlformats.org/officeDocument/2006/relationships/slide" Target="slides/slide10.xml"/><Relationship Id="rId38" Type="http://schemas.openxmlformats.org/officeDocument/2006/relationships/font" Target="fonts/RobotoMedium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048600" y="771525"/>
            <a:ext cx="12192600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5aa66a6da_0_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g3a5aa66a6da_0_0:notes"/>
          <p:cNvSpPr/>
          <p:nvPr>
            <p:ph idx="2" type="sldImg"/>
          </p:nvPr>
        </p:nvSpPr>
        <p:spPr>
          <a:xfrm>
            <a:off x="5715000" y="771525"/>
            <a:ext cx="68595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8647092fc0_0_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g38647092fc0_0_0:notes"/>
          <p:cNvSpPr/>
          <p:nvPr>
            <p:ph idx="2" type="sldImg"/>
          </p:nvPr>
        </p:nvSpPr>
        <p:spPr>
          <a:xfrm>
            <a:off x="5715000" y="771525"/>
            <a:ext cx="6859588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p2:notes"/>
          <p:cNvSpPr/>
          <p:nvPr>
            <p:ph idx="2" type="sldImg"/>
          </p:nvPr>
        </p:nvSpPr>
        <p:spPr>
          <a:xfrm>
            <a:off x="5715000" y="771525"/>
            <a:ext cx="6859588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8647092fc0_0_21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g38647092fc0_0_21:notes"/>
          <p:cNvSpPr/>
          <p:nvPr>
            <p:ph idx="2" type="sldImg"/>
          </p:nvPr>
        </p:nvSpPr>
        <p:spPr>
          <a:xfrm>
            <a:off x="5715000" y="771525"/>
            <a:ext cx="6859588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9d964d0c30_0_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g39d964d0c30_0_0:notes"/>
          <p:cNvSpPr/>
          <p:nvPr>
            <p:ph idx="2" type="sldImg"/>
          </p:nvPr>
        </p:nvSpPr>
        <p:spPr>
          <a:xfrm>
            <a:off x="5715000" y="771525"/>
            <a:ext cx="6859588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p4:notes"/>
          <p:cNvSpPr/>
          <p:nvPr>
            <p:ph idx="2" type="sldImg"/>
          </p:nvPr>
        </p:nvSpPr>
        <p:spPr>
          <a:xfrm>
            <a:off x="5715000" y="771525"/>
            <a:ext cx="6859588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8647092fc0_0_39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0" name="Google Shape;260;g38647092fc0_0_39:notes"/>
          <p:cNvSpPr/>
          <p:nvPr>
            <p:ph idx="2" type="sldImg"/>
          </p:nvPr>
        </p:nvSpPr>
        <p:spPr>
          <a:xfrm>
            <a:off x="5715000" y="771525"/>
            <a:ext cx="6859588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865c3a86bd_0_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5" name="Google Shape;285;g3865c3a86bd_0_0:notes"/>
          <p:cNvSpPr/>
          <p:nvPr>
            <p:ph idx="2" type="sldImg"/>
          </p:nvPr>
        </p:nvSpPr>
        <p:spPr>
          <a:xfrm>
            <a:off x="5715000" y="771525"/>
            <a:ext cx="68595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9e8d811e63_0_48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5" name="Google Shape;315;g39e8d811e63_0_48:notes"/>
          <p:cNvSpPr/>
          <p:nvPr>
            <p:ph idx="2" type="sldImg"/>
          </p:nvPr>
        </p:nvSpPr>
        <p:spPr>
          <a:xfrm>
            <a:off x="5715000" y="771525"/>
            <a:ext cx="6859588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6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9" name="Google Shape;339;p6:notes"/>
          <p:cNvSpPr/>
          <p:nvPr>
            <p:ph idx="2" type="sldImg"/>
          </p:nvPr>
        </p:nvSpPr>
        <p:spPr>
          <a:xfrm>
            <a:off x="5715000" y="771525"/>
            <a:ext cx="6859588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9d964d0c30_0_6229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0" name="Google Shape;360;g39d964d0c30_0_6229:notes"/>
          <p:cNvSpPr/>
          <p:nvPr>
            <p:ph idx="2" type="sldImg"/>
          </p:nvPr>
        </p:nvSpPr>
        <p:spPr>
          <a:xfrm>
            <a:off x="5715000" y="771525"/>
            <a:ext cx="6859588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8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4" name="Google Shape;394;p8:notes"/>
          <p:cNvSpPr/>
          <p:nvPr>
            <p:ph idx="2" type="sldImg"/>
          </p:nvPr>
        </p:nvSpPr>
        <p:spPr>
          <a:xfrm>
            <a:off x="5715000" y="771525"/>
            <a:ext cx="6859588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9fe4725518_0_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MX"/>
              <a:t>FeFood (fefood.cl): Validado. El sitio confirma "IA Visual" y "Sugerencias de Recetas". No menciona "Listas de Compras" ni "Captura de Gastos/Precios".KitchenPal (kitchenpal.app): Validado. El sitio confirma "Pantry Manager" e ingreso por "Scan Barcodes". No menciona OCR de boletas.ReciMe (recime.app): Validado. El sitio se enfoca 100% en "Recetas" y "Listas de Súper". No menciona "Inventario" (Pantry).Compralista (compralista.app): Validado. El sitio confirma que es exclusivamente para "Listas de Compras". No menciona recetas ni inventario.</a:t>
            </a:r>
            <a:endParaRPr/>
          </a:p>
        </p:txBody>
      </p:sp>
      <p:sp>
        <p:nvSpPr>
          <p:cNvPr id="404" name="Google Shape;404;g39fe4725518_0_0:notes"/>
          <p:cNvSpPr/>
          <p:nvPr>
            <p:ph idx="2" type="sldImg"/>
          </p:nvPr>
        </p:nvSpPr>
        <p:spPr>
          <a:xfrm>
            <a:off x="5715000" y="771525"/>
            <a:ext cx="6859588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987adf0d5e_0_10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3" name="Google Shape;423;g3987adf0d5e_0_10:notes"/>
          <p:cNvSpPr/>
          <p:nvPr>
            <p:ph idx="2" type="sldImg"/>
          </p:nvPr>
        </p:nvSpPr>
        <p:spPr>
          <a:xfrm>
            <a:off x="5715000" y="771525"/>
            <a:ext cx="6859500" cy="385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9d964d0c30_0_6408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4" name="Google Shape;434;g39d964d0c30_0_6408:notes"/>
          <p:cNvSpPr/>
          <p:nvPr>
            <p:ph idx="2" type="sldImg"/>
          </p:nvPr>
        </p:nvSpPr>
        <p:spPr>
          <a:xfrm>
            <a:off x="5715000" y="771525"/>
            <a:ext cx="6859588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5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0" name="Google Shape;460;p25:notes"/>
          <p:cNvSpPr/>
          <p:nvPr>
            <p:ph idx="2" type="sldImg"/>
          </p:nvPr>
        </p:nvSpPr>
        <p:spPr>
          <a:xfrm>
            <a:off x="5715000" y="771525"/>
            <a:ext cx="6859588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7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6" name="Google Shape;496;p27:notes"/>
          <p:cNvSpPr/>
          <p:nvPr>
            <p:ph idx="2" type="sldImg"/>
          </p:nvPr>
        </p:nvSpPr>
        <p:spPr>
          <a:xfrm>
            <a:off x="5715000" y="771525"/>
            <a:ext cx="6859588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9d964d0c30_0_6967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3" name="Google Shape;523;g39d964d0c30_0_6967:notes"/>
          <p:cNvSpPr/>
          <p:nvPr>
            <p:ph idx="2" type="sldImg"/>
          </p:nvPr>
        </p:nvSpPr>
        <p:spPr>
          <a:xfrm>
            <a:off x="5715000" y="771525"/>
            <a:ext cx="6859588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8:notes"/>
          <p:cNvSpPr txBox="1"/>
          <p:nvPr>
            <p:ph idx="1" type="body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1" name="Google Shape;541;p28:notes"/>
          <p:cNvSpPr/>
          <p:nvPr>
            <p:ph idx="2" type="sldImg"/>
          </p:nvPr>
        </p:nvSpPr>
        <p:spPr>
          <a:xfrm>
            <a:off x="5715000" y="771525"/>
            <a:ext cx="6859588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0" name="Google Shape;550;p3:notes"/>
          <p:cNvSpPr/>
          <p:nvPr>
            <p:ph idx="2" type="sldImg"/>
          </p:nvPr>
        </p:nvSpPr>
        <p:spPr>
          <a:xfrm>
            <a:off x="5715000" y="771525"/>
            <a:ext cx="6859588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6:notes"/>
          <p:cNvSpPr txBox="1"/>
          <p:nvPr>
            <p:ph idx="1" type="body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1" name="Google Shape;561;p26:notes"/>
          <p:cNvSpPr/>
          <p:nvPr>
            <p:ph idx="2" type="sldImg"/>
          </p:nvPr>
        </p:nvSpPr>
        <p:spPr>
          <a:xfrm>
            <a:off x="5715000" y="771525"/>
            <a:ext cx="6859588" cy="3857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title"/>
          </p:nvPr>
        </p:nvSpPr>
        <p:spPr>
          <a:xfrm>
            <a:off x="1370693" y="914401"/>
            <a:ext cx="15530642" cy="19894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body"/>
          </p:nvPr>
        </p:nvSpPr>
        <p:spPr>
          <a:xfrm>
            <a:off x="1370693" y="3144096"/>
            <a:ext cx="15530643" cy="5542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11518104" y="8824913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1370692" y="8824913"/>
            <a:ext cx="1000929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15771017" y="8824913"/>
            <a:ext cx="11303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/>
          <p:nvPr>
            <p:ph type="title"/>
          </p:nvPr>
        </p:nvSpPr>
        <p:spPr>
          <a:xfrm>
            <a:off x="4735654" y="56047"/>
            <a:ext cx="8816691" cy="2385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rebuchet MS"/>
              <a:buNone/>
              <a:defRPr b="1" i="0" sz="8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Rockwell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ckwel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ckwel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ckwel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ckwel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ckwel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ckwel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ckwel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ckwell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0" type="dt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Rockwell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ckwel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ckwel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ckwel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ckwel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ckwel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ckwel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ckwel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ckwell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2" type="sldNum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0"/>
          <p:cNvSpPr txBox="1"/>
          <p:nvPr>
            <p:ph type="ctrTitle"/>
          </p:nvPr>
        </p:nvSpPr>
        <p:spPr>
          <a:xfrm>
            <a:off x="2392904" y="1683545"/>
            <a:ext cx="13502193" cy="358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Bookman Old Style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" type="subTitle"/>
          </p:nvPr>
        </p:nvSpPr>
        <p:spPr>
          <a:xfrm>
            <a:off x="2392904" y="5403057"/>
            <a:ext cx="13502193" cy="24836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/>
            </a:lvl1pPr>
            <a:lvl2pPr lvl="1" algn="ctr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/>
            </a:lvl2pPr>
            <a:lvl3pPr lvl="2" algn="ctr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/>
            </a:lvl3pPr>
            <a:lvl4pPr lvl="3" algn="ctr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 algn="ctr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 algn="ctr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 algn="ctr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 algn="ctr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 algn="ctr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25" name="Google Shape;25;p10"/>
          <p:cNvSpPr txBox="1"/>
          <p:nvPr>
            <p:ph idx="10" type="dt"/>
          </p:nvPr>
        </p:nvSpPr>
        <p:spPr>
          <a:xfrm>
            <a:off x="11518104" y="8824913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1" type="ftr"/>
          </p:nvPr>
        </p:nvSpPr>
        <p:spPr>
          <a:xfrm>
            <a:off x="1370692" y="8824913"/>
            <a:ext cx="1000929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2" type="sldNum"/>
          </p:nvPr>
        </p:nvSpPr>
        <p:spPr>
          <a:xfrm>
            <a:off x="15771017" y="8824913"/>
            <a:ext cx="11303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"/>
          <p:cNvSpPr txBox="1"/>
          <p:nvPr>
            <p:ph type="title"/>
          </p:nvPr>
        </p:nvSpPr>
        <p:spPr>
          <a:xfrm>
            <a:off x="1843866" y="985840"/>
            <a:ext cx="14600268" cy="427910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Font typeface="Bookman Old Style"/>
              <a:buNone/>
              <a:defRPr sz="5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1"/>
          <p:cNvSpPr txBox="1"/>
          <p:nvPr>
            <p:ph idx="1" type="body"/>
          </p:nvPr>
        </p:nvSpPr>
        <p:spPr>
          <a:xfrm>
            <a:off x="1843866" y="5403058"/>
            <a:ext cx="14600268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" name="Google Shape;31;p11"/>
          <p:cNvSpPr txBox="1"/>
          <p:nvPr>
            <p:ph idx="10" type="dt"/>
          </p:nvPr>
        </p:nvSpPr>
        <p:spPr>
          <a:xfrm>
            <a:off x="11518104" y="8824913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1" type="ftr"/>
          </p:nvPr>
        </p:nvSpPr>
        <p:spPr>
          <a:xfrm>
            <a:off x="1370692" y="8824913"/>
            <a:ext cx="1000929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2" type="sldNum"/>
          </p:nvPr>
        </p:nvSpPr>
        <p:spPr>
          <a:xfrm>
            <a:off x="15771017" y="8824913"/>
            <a:ext cx="11303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2"/>
          <p:cNvSpPr txBox="1"/>
          <p:nvPr>
            <p:ph type="title"/>
          </p:nvPr>
        </p:nvSpPr>
        <p:spPr>
          <a:xfrm>
            <a:off x="1370693" y="914401"/>
            <a:ext cx="15530642" cy="19894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1" type="body"/>
          </p:nvPr>
        </p:nvSpPr>
        <p:spPr>
          <a:xfrm>
            <a:off x="1370693" y="3132479"/>
            <a:ext cx="7659006" cy="5554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2" type="body"/>
          </p:nvPr>
        </p:nvSpPr>
        <p:spPr>
          <a:xfrm>
            <a:off x="9260105" y="3132479"/>
            <a:ext cx="7641231" cy="5554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0" type="dt"/>
          </p:nvPr>
        </p:nvSpPr>
        <p:spPr>
          <a:xfrm>
            <a:off x="11518104" y="8824913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1" type="ftr"/>
          </p:nvPr>
        </p:nvSpPr>
        <p:spPr>
          <a:xfrm>
            <a:off x="1370692" y="8824913"/>
            <a:ext cx="1000929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12" type="sldNum"/>
          </p:nvPr>
        </p:nvSpPr>
        <p:spPr>
          <a:xfrm>
            <a:off x="15771017" y="8824913"/>
            <a:ext cx="11303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/>
          <p:nvPr>
            <p:ph type="title"/>
          </p:nvPr>
        </p:nvSpPr>
        <p:spPr>
          <a:xfrm>
            <a:off x="1370693" y="914401"/>
            <a:ext cx="15530642" cy="19883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" type="body"/>
          </p:nvPr>
        </p:nvSpPr>
        <p:spPr>
          <a:xfrm>
            <a:off x="1712707" y="3132480"/>
            <a:ext cx="7318799" cy="12358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/>
            </a:lvl1pPr>
            <a:lvl2pPr indent="-2286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/>
            </a:lvl2pPr>
            <a:lvl3pPr indent="-2286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b="1" sz="2700"/>
            </a:lvl3pPr>
            <a:lvl4pPr indent="-2286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4pPr>
            <a:lvl5pPr indent="-2286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5pPr>
            <a:lvl6pPr indent="-2286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6pPr>
            <a:lvl7pPr indent="-2286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7pPr>
            <a:lvl8pPr indent="-2286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8pPr>
            <a:lvl9pPr indent="-2286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9pPr>
          </a:lstStyle>
          <a:p/>
        </p:txBody>
      </p:sp>
      <p:sp>
        <p:nvSpPr>
          <p:cNvPr id="44" name="Google Shape;44;p13"/>
          <p:cNvSpPr txBox="1"/>
          <p:nvPr>
            <p:ph idx="2" type="body"/>
          </p:nvPr>
        </p:nvSpPr>
        <p:spPr>
          <a:xfrm>
            <a:off x="1370693" y="4368348"/>
            <a:ext cx="7660812" cy="43184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3"/>
          <p:cNvSpPr txBox="1"/>
          <p:nvPr>
            <p:ph idx="3" type="body"/>
          </p:nvPr>
        </p:nvSpPr>
        <p:spPr>
          <a:xfrm>
            <a:off x="9603005" y="3132480"/>
            <a:ext cx="7298331" cy="12358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/>
            </a:lvl1pPr>
            <a:lvl2pPr indent="-2286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/>
            </a:lvl2pPr>
            <a:lvl3pPr indent="-2286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b="1" sz="2700"/>
            </a:lvl3pPr>
            <a:lvl4pPr indent="-2286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4pPr>
            <a:lvl5pPr indent="-2286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5pPr>
            <a:lvl6pPr indent="-2286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6pPr>
            <a:lvl7pPr indent="-2286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7pPr>
            <a:lvl8pPr indent="-2286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8pPr>
            <a:lvl9pPr indent="-2286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9pPr>
          </a:lstStyle>
          <a:p/>
        </p:txBody>
      </p:sp>
      <p:sp>
        <p:nvSpPr>
          <p:cNvPr id="46" name="Google Shape;46;p13"/>
          <p:cNvSpPr txBox="1"/>
          <p:nvPr>
            <p:ph idx="4" type="body"/>
          </p:nvPr>
        </p:nvSpPr>
        <p:spPr>
          <a:xfrm>
            <a:off x="9258300" y="4368348"/>
            <a:ext cx="7643036" cy="43184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0" type="dt"/>
          </p:nvPr>
        </p:nvSpPr>
        <p:spPr>
          <a:xfrm>
            <a:off x="11518104" y="8824913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1" type="ftr"/>
          </p:nvPr>
        </p:nvSpPr>
        <p:spPr>
          <a:xfrm>
            <a:off x="1370692" y="8824913"/>
            <a:ext cx="1000929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15771017" y="8824913"/>
            <a:ext cx="11303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/>
          <p:nvPr>
            <p:ph type="title"/>
          </p:nvPr>
        </p:nvSpPr>
        <p:spPr>
          <a:xfrm>
            <a:off x="1370693" y="914401"/>
            <a:ext cx="15530642" cy="19894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0" type="dt"/>
          </p:nvPr>
        </p:nvSpPr>
        <p:spPr>
          <a:xfrm>
            <a:off x="11518104" y="8824913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1" type="ftr"/>
          </p:nvPr>
        </p:nvSpPr>
        <p:spPr>
          <a:xfrm>
            <a:off x="1370692" y="8824913"/>
            <a:ext cx="1000929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15771017" y="8824913"/>
            <a:ext cx="11303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idx="10" type="dt"/>
          </p:nvPr>
        </p:nvSpPr>
        <p:spPr>
          <a:xfrm>
            <a:off x="11518104" y="8824913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1" type="ftr"/>
          </p:nvPr>
        </p:nvSpPr>
        <p:spPr>
          <a:xfrm>
            <a:off x="1370692" y="8824913"/>
            <a:ext cx="1000929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5"/>
          <p:cNvSpPr txBox="1"/>
          <p:nvPr>
            <p:ph idx="12" type="sldNum"/>
          </p:nvPr>
        </p:nvSpPr>
        <p:spPr>
          <a:xfrm>
            <a:off x="15771017" y="8824913"/>
            <a:ext cx="11303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/>
          <p:nvPr>
            <p:ph type="title"/>
          </p:nvPr>
        </p:nvSpPr>
        <p:spPr>
          <a:xfrm>
            <a:off x="1375843" y="914400"/>
            <a:ext cx="5898356" cy="35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Bookman Old Style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6"/>
          <p:cNvSpPr txBox="1"/>
          <p:nvPr>
            <p:ph idx="1" type="body"/>
          </p:nvPr>
        </p:nvSpPr>
        <p:spPr>
          <a:xfrm>
            <a:off x="7617096" y="914400"/>
            <a:ext cx="9284238" cy="77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2" type="body"/>
          </p:nvPr>
        </p:nvSpPr>
        <p:spPr>
          <a:xfrm>
            <a:off x="1375843" y="4457700"/>
            <a:ext cx="5898356" cy="4229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indent="-2286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/>
            </a:lvl2pPr>
            <a:lvl3pPr indent="-2286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4pPr>
            <a:lvl5pPr indent="-2286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5pPr>
            <a:lvl6pPr indent="-2286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6pPr>
            <a:lvl7pPr indent="-2286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7pPr>
            <a:lvl8pPr indent="-2286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8pPr>
            <a:lvl9pPr indent="-2286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63" name="Google Shape;63;p16"/>
          <p:cNvSpPr txBox="1"/>
          <p:nvPr>
            <p:ph idx="10" type="dt"/>
          </p:nvPr>
        </p:nvSpPr>
        <p:spPr>
          <a:xfrm>
            <a:off x="11518104" y="8824913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1" type="ftr"/>
          </p:nvPr>
        </p:nvSpPr>
        <p:spPr>
          <a:xfrm>
            <a:off x="1370692" y="8824913"/>
            <a:ext cx="1000929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15771017" y="8824913"/>
            <a:ext cx="11303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1375841" y="914400"/>
            <a:ext cx="8894660" cy="3543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Bookman Old Style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7"/>
          <p:cNvSpPr/>
          <p:nvPr>
            <p:ph idx="2" type="pic"/>
          </p:nvPr>
        </p:nvSpPr>
        <p:spPr>
          <a:xfrm>
            <a:off x="11137206" y="1138322"/>
            <a:ext cx="4883034" cy="7324557"/>
          </a:xfrm>
          <a:prstGeom prst="rect">
            <a:avLst/>
          </a:prstGeom>
          <a:noFill/>
          <a:ln cap="sq" cmpd="sng" w="1905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sp>
      <p:sp>
        <p:nvSpPr>
          <p:cNvPr id="69" name="Google Shape;69;p17"/>
          <p:cNvSpPr txBox="1"/>
          <p:nvPr>
            <p:ph idx="1" type="body"/>
          </p:nvPr>
        </p:nvSpPr>
        <p:spPr>
          <a:xfrm>
            <a:off x="1370691" y="4457700"/>
            <a:ext cx="8902425" cy="4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/>
            </a:lvl1pPr>
            <a:lvl2pPr indent="-2286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/>
            </a:lvl2pPr>
            <a:lvl3pPr indent="-2286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4pPr>
            <a:lvl5pPr indent="-2286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5pPr>
            <a:lvl6pPr indent="-2286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6pPr>
            <a:lvl7pPr indent="-2286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7pPr>
            <a:lvl8pPr indent="-2286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8pPr>
            <a:lvl9pPr indent="-2286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70" name="Google Shape;70;p17"/>
          <p:cNvSpPr txBox="1"/>
          <p:nvPr>
            <p:ph idx="10" type="dt"/>
          </p:nvPr>
        </p:nvSpPr>
        <p:spPr>
          <a:xfrm>
            <a:off x="11518104" y="8824913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1" type="ftr"/>
          </p:nvPr>
        </p:nvSpPr>
        <p:spPr>
          <a:xfrm>
            <a:off x="1370692" y="8824913"/>
            <a:ext cx="1000929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2" type="sldNum"/>
          </p:nvPr>
        </p:nvSpPr>
        <p:spPr>
          <a:xfrm>
            <a:off x="15771017" y="8824913"/>
            <a:ext cx="11303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panorámica con descripción">
  <p:cSld name="Imagen panorámica con descripción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/>
          <p:nvPr>
            <p:ph type="title"/>
          </p:nvPr>
        </p:nvSpPr>
        <p:spPr>
          <a:xfrm>
            <a:off x="1370709" y="6434059"/>
            <a:ext cx="15551346" cy="122903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Bookman Old Style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8"/>
          <p:cNvSpPr/>
          <p:nvPr>
            <p:ph idx="2" type="pic"/>
          </p:nvPr>
        </p:nvSpPr>
        <p:spPr>
          <a:xfrm>
            <a:off x="1370709" y="931982"/>
            <a:ext cx="15551346" cy="5069603"/>
          </a:xfrm>
          <a:prstGeom prst="rect">
            <a:avLst/>
          </a:prstGeom>
          <a:noFill/>
          <a:ln cap="sq" cmpd="sng" w="1905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sp>
      <p:sp>
        <p:nvSpPr>
          <p:cNvPr id="76" name="Google Shape;76;p18"/>
          <p:cNvSpPr txBox="1"/>
          <p:nvPr>
            <p:ph idx="1" type="body"/>
          </p:nvPr>
        </p:nvSpPr>
        <p:spPr>
          <a:xfrm>
            <a:off x="1370693" y="7663092"/>
            <a:ext cx="15548997" cy="10237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2700"/>
            </a:lvl1pPr>
            <a:lvl2pPr indent="-2286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/>
            </a:lvl2pPr>
            <a:lvl3pPr indent="-2286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4pPr>
            <a:lvl5pPr indent="-2286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5pPr>
            <a:lvl6pPr indent="-2286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6pPr>
            <a:lvl7pPr indent="-2286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7pPr>
            <a:lvl8pPr indent="-2286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8pPr>
            <a:lvl9pPr indent="-2286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11518104" y="8824913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1370692" y="8824913"/>
            <a:ext cx="1000929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15771017" y="8824913"/>
            <a:ext cx="11303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type="title"/>
          </p:nvPr>
        </p:nvSpPr>
        <p:spPr>
          <a:xfrm>
            <a:off x="1370693" y="914401"/>
            <a:ext cx="15530643" cy="51372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Bookman Old Style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" type="body"/>
          </p:nvPr>
        </p:nvSpPr>
        <p:spPr>
          <a:xfrm>
            <a:off x="1370693" y="6307230"/>
            <a:ext cx="15530642" cy="23882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indent="-2286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/>
            </a:lvl2pPr>
            <a:lvl3pPr indent="-2286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4pPr>
            <a:lvl5pPr indent="-2286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5pPr>
            <a:lvl6pPr indent="-2286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6pPr>
            <a:lvl7pPr indent="-2286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7pPr>
            <a:lvl8pPr indent="-2286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8pPr>
            <a:lvl9pPr indent="-2286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83" name="Google Shape;83;p19"/>
          <p:cNvSpPr txBox="1"/>
          <p:nvPr>
            <p:ph idx="10" type="dt"/>
          </p:nvPr>
        </p:nvSpPr>
        <p:spPr>
          <a:xfrm>
            <a:off x="11518104" y="8824913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11" type="ftr"/>
          </p:nvPr>
        </p:nvSpPr>
        <p:spPr>
          <a:xfrm>
            <a:off x="1370692" y="8824913"/>
            <a:ext cx="1000929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12" type="sldNum"/>
          </p:nvPr>
        </p:nvSpPr>
        <p:spPr>
          <a:xfrm>
            <a:off x="15771017" y="8824913"/>
            <a:ext cx="11303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>
  <p:cSld name="Cita con descripció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 txBox="1"/>
          <p:nvPr>
            <p:ph type="title"/>
          </p:nvPr>
        </p:nvSpPr>
        <p:spPr>
          <a:xfrm>
            <a:off x="2169318" y="914400"/>
            <a:ext cx="13954128" cy="44893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Bookman Old Style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0"/>
          <p:cNvSpPr txBox="1"/>
          <p:nvPr>
            <p:ph idx="1" type="body"/>
          </p:nvPr>
        </p:nvSpPr>
        <p:spPr>
          <a:xfrm>
            <a:off x="2580967" y="5415048"/>
            <a:ext cx="13128449" cy="640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/>
            </a:lvl1pPr>
            <a:lvl2pPr indent="-2286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/>
            </a:lvl2pPr>
            <a:lvl3pPr indent="-2286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4pPr>
            <a:lvl5pPr indent="-2286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5pPr>
            <a:lvl6pPr indent="-2286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6pPr>
            <a:lvl7pPr indent="-2286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7pPr>
            <a:lvl8pPr indent="-2286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8pPr>
            <a:lvl9pPr indent="-2286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89" name="Google Shape;89;p20"/>
          <p:cNvSpPr txBox="1"/>
          <p:nvPr>
            <p:ph idx="2" type="body"/>
          </p:nvPr>
        </p:nvSpPr>
        <p:spPr>
          <a:xfrm>
            <a:off x="1370691" y="6307232"/>
            <a:ext cx="15530643" cy="2379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indent="-2286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/>
            </a:lvl2pPr>
            <a:lvl3pPr indent="-2286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4pPr>
            <a:lvl5pPr indent="-2286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5pPr>
            <a:lvl6pPr indent="-2286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6pPr>
            <a:lvl7pPr indent="-2286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7pPr>
            <a:lvl8pPr indent="-2286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8pPr>
            <a:lvl9pPr indent="-2286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90" name="Google Shape;90;p20"/>
          <p:cNvSpPr txBox="1"/>
          <p:nvPr>
            <p:ph idx="10" type="dt"/>
          </p:nvPr>
        </p:nvSpPr>
        <p:spPr>
          <a:xfrm>
            <a:off x="11518104" y="8824913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0"/>
          <p:cNvSpPr txBox="1"/>
          <p:nvPr>
            <p:ph idx="11" type="ftr"/>
          </p:nvPr>
        </p:nvSpPr>
        <p:spPr>
          <a:xfrm>
            <a:off x="1370692" y="8824913"/>
            <a:ext cx="1000929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0"/>
          <p:cNvSpPr txBox="1"/>
          <p:nvPr>
            <p:ph idx="12" type="sldNum"/>
          </p:nvPr>
        </p:nvSpPr>
        <p:spPr>
          <a:xfrm>
            <a:off x="15771017" y="8824913"/>
            <a:ext cx="11303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93" name="Google Shape;93;p20"/>
          <p:cNvSpPr txBox="1"/>
          <p:nvPr/>
        </p:nvSpPr>
        <p:spPr>
          <a:xfrm>
            <a:off x="1254918" y="1102862"/>
            <a:ext cx="914400" cy="877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137150" spcFirstLastPara="1" rIns="137150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ckwell"/>
              <a:buNone/>
            </a:pPr>
            <a:r>
              <a:rPr b="0" i="0" lang="es-MX" sz="120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0"/>
          <p:cNvSpPr txBox="1"/>
          <p:nvPr/>
        </p:nvSpPr>
        <p:spPr>
          <a:xfrm>
            <a:off x="15986934" y="4458140"/>
            <a:ext cx="914400" cy="877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137150" spcFirstLastPara="1" rIns="137150" wrap="square" tIns="68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ckwell"/>
              <a:buNone/>
            </a:pPr>
            <a:r>
              <a:rPr b="0" i="0" lang="es-MX" sz="120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>
  <p:cSld name="Tarjeta de nombre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/>
          <p:nvPr>
            <p:ph type="title"/>
          </p:nvPr>
        </p:nvSpPr>
        <p:spPr>
          <a:xfrm>
            <a:off x="1370710" y="3190414"/>
            <a:ext cx="15532991" cy="37677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Bookman Old Style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1"/>
          <p:cNvSpPr txBox="1"/>
          <p:nvPr>
            <p:ph idx="1" type="body"/>
          </p:nvPr>
        </p:nvSpPr>
        <p:spPr>
          <a:xfrm>
            <a:off x="1370692" y="6975834"/>
            <a:ext cx="15530645" cy="17109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indent="-2286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/>
            </a:lvl2pPr>
            <a:lvl3pPr indent="-2286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4pPr>
            <a:lvl5pPr indent="-2286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5pPr>
            <a:lvl6pPr indent="-2286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6pPr>
            <a:lvl7pPr indent="-2286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7pPr>
            <a:lvl8pPr indent="-2286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8pPr>
            <a:lvl9pPr indent="-2286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98" name="Google Shape;98;p21"/>
          <p:cNvSpPr txBox="1"/>
          <p:nvPr>
            <p:ph idx="10" type="dt"/>
          </p:nvPr>
        </p:nvSpPr>
        <p:spPr>
          <a:xfrm>
            <a:off x="11518104" y="8824913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1"/>
          <p:cNvSpPr txBox="1"/>
          <p:nvPr>
            <p:ph idx="11" type="ftr"/>
          </p:nvPr>
        </p:nvSpPr>
        <p:spPr>
          <a:xfrm>
            <a:off x="1370692" y="8824913"/>
            <a:ext cx="1000929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1"/>
          <p:cNvSpPr txBox="1"/>
          <p:nvPr>
            <p:ph idx="12" type="sldNum"/>
          </p:nvPr>
        </p:nvSpPr>
        <p:spPr>
          <a:xfrm>
            <a:off x="15771017" y="8824913"/>
            <a:ext cx="11303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3">
  <p:cSld name="Columna 3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3"/>
          <p:cNvSpPr txBox="1"/>
          <p:nvPr>
            <p:ph type="title"/>
          </p:nvPr>
        </p:nvSpPr>
        <p:spPr>
          <a:xfrm>
            <a:off x="1370691" y="914401"/>
            <a:ext cx="15530643" cy="19883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3"/>
          <p:cNvSpPr txBox="1"/>
          <p:nvPr>
            <p:ph idx="1" type="body"/>
          </p:nvPr>
        </p:nvSpPr>
        <p:spPr>
          <a:xfrm>
            <a:off x="1370691" y="3132479"/>
            <a:ext cx="4948434" cy="123495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0" sz="3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/>
            </a:lvl2pPr>
            <a:lvl3pPr indent="-2286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b="1" sz="2700"/>
            </a:lvl3pPr>
            <a:lvl4pPr indent="-2286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4pPr>
            <a:lvl5pPr indent="-2286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5pPr>
            <a:lvl6pPr indent="-2286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6pPr>
            <a:lvl7pPr indent="-2286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7pPr>
            <a:lvl8pPr indent="-2286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8pPr>
            <a:lvl9pPr indent="-2286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9pPr>
          </a:lstStyle>
          <a:p/>
        </p:txBody>
      </p:sp>
      <p:sp>
        <p:nvSpPr>
          <p:cNvPr id="104" name="Google Shape;104;p23"/>
          <p:cNvSpPr txBox="1"/>
          <p:nvPr>
            <p:ph idx="2" type="body"/>
          </p:nvPr>
        </p:nvSpPr>
        <p:spPr>
          <a:xfrm>
            <a:off x="1370691" y="4367436"/>
            <a:ext cx="4948434" cy="43193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/>
            </a:lvl1pPr>
            <a:lvl2pPr indent="-2286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2pPr>
            <a:lvl3pPr indent="-2286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3pPr>
            <a:lvl4pPr indent="-2286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4pPr>
            <a:lvl5pPr indent="-2286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5pPr>
            <a:lvl6pPr indent="-2286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6pPr>
            <a:lvl7pPr indent="-2286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7pPr>
            <a:lvl8pPr indent="-2286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8pPr>
            <a:lvl9pPr indent="-2286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9pPr>
          </a:lstStyle>
          <a:p/>
        </p:txBody>
      </p:sp>
      <p:sp>
        <p:nvSpPr>
          <p:cNvPr id="105" name="Google Shape;105;p23"/>
          <p:cNvSpPr txBox="1"/>
          <p:nvPr>
            <p:ph idx="3" type="body"/>
          </p:nvPr>
        </p:nvSpPr>
        <p:spPr>
          <a:xfrm>
            <a:off x="6667317" y="3132480"/>
            <a:ext cx="4947837" cy="12349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0" sz="3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/>
            </a:lvl2pPr>
            <a:lvl3pPr indent="-2286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b="1" sz="2700"/>
            </a:lvl3pPr>
            <a:lvl4pPr indent="-2286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4pPr>
            <a:lvl5pPr indent="-2286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5pPr>
            <a:lvl6pPr indent="-2286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6pPr>
            <a:lvl7pPr indent="-2286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7pPr>
            <a:lvl8pPr indent="-2286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8pPr>
            <a:lvl9pPr indent="-2286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9pPr>
          </a:lstStyle>
          <a:p/>
        </p:txBody>
      </p:sp>
      <p:sp>
        <p:nvSpPr>
          <p:cNvPr id="106" name="Google Shape;106;p23"/>
          <p:cNvSpPr txBox="1"/>
          <p:nvPr>
            <p:ph idx="4" type="body"/>
          </p:nvPr>
        </p:nvSpPr>
        <p:spPr>
          <a:xfrm>
            <a:off x="6667318" y="4367436"/>
            <a:ext cx="4949732" cy="43193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/>
            </a:lvl1pPr>
            <a:lvl2pPr indent="-2286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2pPr>
            <a:lvl3pPr indent="-2286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3pPr>
            <a:lvl4pPr indent="-2286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4pPr>
            <a:lvl5pPr indent="-2286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5pPr>
            <a:lvl6pPr indent="-2286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6pPr>
            <a:lvl7pPr indent="-2286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7pPr>
            <a:lvl8pPr indent="-2286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8pPr>
            <a:lvl9pPr indent="-2286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9pPr>
          </a:lstStyle>
          <a:p/>
        </p:txBody>
      </p:sp>
      <p:sp>
        <p:nvSpPr>
          <p:cNvPr id="107" name="Google Shape;107;p23"/>
          <p:cNvSpPr txBox="1"/>
          <p:nvPr>
            <p:ph idx="5" type="body"/>
          </p:nvPr>
        </p:nvSpPr>
        <p:spPr>
          <a:xfrm>
            <a:off x="11959948" y="3132480"/>
            <a:ext cx="4936817" cy="12349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0" sz="3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/>
            </a:lvl2pPr>
            <a:lvl3pPr indent="-2286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b="1" sz="2700"/>
            </a:lvl3pPr>
            <a:lvl4pPr indent="-2286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4pPr>
            <a:lvl5pPr indent="-2286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5pPr>
            <a:lvl6pPr indent="-2286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6pPr>
            <a:lvl7pPr indent="-2286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7pPr>
            <a:lvl8pPr indent="-2286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8pPr>
            <a:lvl9pPr indent="-2286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9pPr>
          </a:lstStyle>
          <a:p/>
        </p:txBody>
      </p:sp>
      <p:sp>
        <p:nvSpPr>
          <p:cNvPr id="108" name="Google Shape;108;p23"/>
          <p:cNvSpPr txBox="1"/>
          <p:nvPr>
            <p:ph idx="6" type="body"/>
          </p:nvPr>
        </p:nvSpPr>
        <p:spPr>
          <a:xfrm>
            <a:off x="11964520" y="4367436"/>
            <a:ext cx="4936817" cy="43193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/>
            </a:lvl1pPr>
            <a:lvl2pPr indent="-2286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2pPr>
            <a:lvl3pPr indent="-2286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3pPr>
            <a:lvl4pPr indent="-2286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4pPr>
            <a:lvl5pPr indent="-2286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5pPr>
            <a:lvl6pPr indent="-2286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6pPr>
            <a:lvl7pPr indent="-2286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7pPr>
            <a:lvl8pPr indent="-2286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8pPr>
            <a:lvl9pPr indent="-2286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9pPr>
          </a:lstStyle>
          <a:p/>
        </p:txBody>
      </p:sp>
      <p:sp>
        <p:nvSpPr>
          <p:cNvPr id="109" name="Google Shape;109;p23"/>
          <p:cNvSpPr txBox="1"/>
          <p:nvPr>
            <p:ph idx="10" type="dt"/>
          </p:nvPr>
        </p:nvSpPr>
        <p:spPr>
          <a:xfrm>
            <a:off x="11518104" y="8824913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3"/>
          <p:cNvSpPr txBox="1"/>
          <p:nvPr>
            <p:ph idx="11" type="ftr"/>
          </p:nvPr>
        </p:nvSpPr>
        <p:spPr>
          <a:xfrm>
            <a:off x="1370692" y="8824913"/>
            <a:ext cx="1000929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3"/>
          <p:cNvSpPr txBox="1"/>
          <p:nvPr>
            <p:ph idx="12" type="sldNum"/>
          </p:nvPr>
        </p:nvSpPr>
        <p:spPr>
          <a:xfrm>
            <a:off x="15771017" y="8824913"/>
            <a:ext cx="11303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de imagen 3">
  <p:cSld name="Columna de imagen 3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4"/>
          <p:cNvSpPr txBox="1"/>
          <p:nvPr>
            <p:ph type="title"/>
          </p:nvPr>
        </p:nvSpPr>
        <p:spPr>
          <a:xfrm>
            <a:off x="1370693" y="914401"/>
            <a:ext cx="15530643" cy="19883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4"/>
          <p:cNvSpPr txBox="1"/>
          <p:nvPr>
            <p:ph idx="1" type="body"/>
          </p:nvPr>
        </p:nvSpPr>
        <p:spPr>
          <a:xfrm>
            <a:off x="1370693" y="6293849"/>
            <a:ext cx="4948433" cy="8643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3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/>
            </a:lvl2pPr>
            <a:lvl3pPr indent="-2286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b="1" sz="2700"/>
            </a:lvl3pPr>
            <a:lvl4pPr indent="-2286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4pPr>
            <a:lvl5pPr indent="-2286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5pPr>
            <a:lvl6pPr indent="-2286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6pPr>
            <a:lvl7pPr indent="-2286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7pPr>
            <a:lvl8pPr indent="-2286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8pPr>
            <a:lvl9pPr indent="-2286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9pPr>
          </a:lstStyle>
          <a:p/>
        </p:txBody>
      </p:sp>
      <p:sp>
        <p:nvSpPr>
          <p:cNvPr id="115" name="Google Shape;115;p24"/>
          <p:cNvSpPr/>
          <p:nvPr>
            <p:ph idx="2" type="pic"/>
          </p:nvPr>
        </p:nvSpPr>
        <p:spPr>
          <a:xfrm>
            <a:off x="1638030" y="3448481"/>
            <a:ext cx="4410075" cy="2286000"/>
          </a:xfrm>
          <a:prstGeom prst="roundRect">
            <a:avLst>
              <a:gd fmla="val 0" name="adj"/>
            </a:avLst>
          </a:prstGeom>
          <a:noFill/>
          <a:ln cap="sq" cmpd="sng" w="14605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sp>
      <p:sp>
        <p:nvSpPr>
          <p:cNvPr id="116" name="Google Shape;116;p24"/>
          <p:cNvSpPr txBox="1"/>
          <p:nvPr>
            <p:ph idx="3" type="body"/>
          </p:nvPr>
        </p:nvSpPr>
        <p:spPr>
          <a:xfrm>
            <a:off x="1370693" y="7158242"/>
            <a:ext cx="4948433" cy="1528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/>
            </a:lvl1pPr>
            <a:lvl2pPr indent="-2286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2pPr>
            <a:lvl3pPr indent="-2286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3pPr>
            <a:lvl4pPr indent="-2286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4pPr>
            <a:lvl5pPr indent="-2286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5pPr>
            <a:lvl6pPr indent="-2286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6pPr>
            <a:lvl7pPr indent="-2286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7pPr>
            <a:lvl8pPr indent="-2286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8pPr>
            <a:lvl9pPr indent="-2286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9pPr>
          </a:lstStyle>
          <a:p/>
        </p:txBody>
      </p:sp>
      <p:sp>
        <p:nvSpPr>
          <p:cNvPr id="117" name="Google Shape;117;p24"/>
          <p:cNvSpPr txBox="1"/>
          <p:nvPr>
            <p:ph idx="4" type="body"/>
          </p:nvPr>
        </p:nvSpPr>
        <p:spPr>
          <a:xfrm>
            <a:off x="6664052" y="6293849"/>
            <a:ext cx="4948475" cy="8643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3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/>
            </a:lvl2pPr>
            <a:lvl3pPr indent="-2286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b="1" sz="2700"/>
            </a:lvl3pPr>
            <a:lvl4pPr indent="-2286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4pPr>
            <a:lvl5pPr indent="-2286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5pPr>
            <a:lvl6pPr indent="-2286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6pPr>
            <a:lvl7pPr indent="-2286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7pPr>
            <a:lvl8pPr indent="-2286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8pPr>
            <a:lvl9pPr indent="-2286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9pPr>
          </a:lstStyle>
          <a:p/>
        </p:txBody>
      </p:sp>
      <p:sp>
        <p:nvSpPr>
          <p:cNvPr id="118" name="Google Shape;118;p24"/>
          <p:cNvSpPr/>
          <p:nvPr>
            <p:ph idx="5" type="pic"/>
          </p:nvPr>
        </p:nvSpPr>
        <p:spPr>
          <a:xfrm>
            <a:off x="6853495" y="3448481"/>
            <a:ext cx="4395788" cy="2286000"/>
          </a:xfrm>
          <a:prstGeom prst="roundRect">
            <a:avLst>
              <a:gd fmla="val 0" name="adj"/>
            </a:avLst>
          </a:prstGeom>
          <a:noFill/>
          <a:ln cap="sq" cmpd="sng" w="14605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sp>
      <p:sp>
        <p:nvSpPr>
          <p:cNvPr id="119" name="Google Shape;119;p24"/>
          <p:cNvSpPr txBox="1"/>
          <p:nvPr>
            <p:ph idx="6" type="body"/>
          </p:nvPr>
        </p:nvSpPr>
        <p:spPr>
          <a:xfrm>
            <a:off x="6662022" y="7158240"/>
            <a:ext cx="4950504" cy="1528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/>
            </a:lvl1pPr>
            <a:lvl2pPr indent="-2286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2pPr>
            <a:lvl3pPr indent="-2286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3pPr>
            <a:lvl4pPr indent="-2286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4pPr>
            <a:lvl5pPr indent="-2286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5pPr>
            <a:lvl6pPr indent="-2286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6pPr>
            <a:lvl7pPr indent="-2286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7pPr>
            <a:lvl8pPr indent="-2286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8pPr>
            <a:lvl9pPr indent="-2286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9pPr>
          </a:lstStyle>
          <a:p/>
        </p:txBody>
      </p:sp>
      <p:sp>
        <p:nvSpPr>
          <p:cNvPr id="120" name="Google Shape;120;p24"/>
          <p:cNvSpPr txBox="1"/>
          <p:nvPr>
            <p:ph idx="7" type="body"/>
          </p:nvPr>
        </p:nvSpPr>
        <p:spPr>
          <a:xfrm>
            <a:off x="11960135" y="6293849"/>
            <a:ext cx="4934850" cy="8643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3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 sz="3000"/>
            </a:lvl2pPr>
            <a:lvl3pPr indent="-2286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b="1" sz="2700"/>
            </a:lvl3pPr>
            <a:lvl4pPr indent="-2286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4pPr>
            <a:lvl5pPr indent="-2286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5pPr>
            <a:lvl6pPr indent="-2286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6pPr>
            <a:lvl7pPr indent="-2286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7pPr>
            <a:lvl8pPr indent="-2286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8pPr>
            <a:lvl9pPr indent="-2286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9pPr>
          </a:lstStyle>
          <a:p/>
        </p:txBody>
      </p:sp>
      <p:sp>
        <p:nvSpPr>
          <p:cNvPr id="121" name="Google Shape;121;p24"/>
          <p:cNvSpPr/>
          <p:nvPr>
            <p:ph idx="8" type="pic"/>
          </p:nvPr>
        </p:nvSpPr>
        <p:spPr>
          <a:xfrm>
            <a:off x="12229205" y="3448481"/>
            <a:ext cx="4398170" cy="2286000"/>
          </a:xfrm>
          <a:prstGeom prst="roundRect">
            <a:avLst>
              <a:gd fmla="val 0" name="adj"/>
            </a:avLst>
          </a:prstGeom>
          <a:noFill/>
          <a:ln cap="sq" cmpd="sng" w="14605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sp>
      <p:sp>
        <p:nvSpPr>
          <p:cNvPr id="122" name="Google Shape;122;p24"/>
          <p:cNvSpPr txBox="1"/>
          <p:nvPr>
            <p:ph idx="9" type="body"/>
          </p:nvPr>
        </p:nvSpPr>
        <p:spPr>
          <a:xfrm>
            <a:off x="11959947" y="7158242"/>
            <a:ext cx="4941387" cy="1528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/>
            </a:lvl1pPr>
            <a:lvl2pPr indent="-2286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2pPr>
            <a:lvl3pPr indent="-2286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3pPr>
            <a:lvl4pPr indent="-2286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4pPr>
            <a:lvl5pPr indent="-2286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5pPr>
            <a:lvl6pPr indent="-2286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6pPr>
            <a:lvl7pPr indent="-2286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7pPr>
            <a:lvl8pPr indent="-2286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8pPr>
            <a:lvl9pPr indent="-2286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9pPr>
          </a:lstStyle>
          <a:p/>
        </p:txBody>
      </p:sp>
      <p:sp>
        <p:nvSpPr>
          <p:cNvPr id="123" name="Google Shape;123;p24"/>
          <p:cNvSpPr txBox="1"/>
          <p:nvPr>
            <p:ph idx="10" type="dt"/>
          </p:nvPr>
        </p:nvSpPr>
        <p:spPr>
          <a:xfrm>
            <a:off x="11518104" y="8824913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1" type="ftr"/>
          </p:nvPr>
        </p:nvSpPr>
        <p:spPr>
          <a:xfrm>
            <a:off x="1370692" y="8824913"/>
            <a:ext cx="1000929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4"/>
          <p:cNvSpPr txBox="1"/>
          <p:nvPr>
            <p:ph idx="12" type="sldNum"/>
          </p:nvPr>
        </p:nvSpPr>
        <p:spPr>
          <a:xfrm>
            <a:off x="15771017" y="8824913"/>
            <a:ext cx="11303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3"/>
          <p:cNvSpPr txBox="1"/>
          <p:nvPr>
            <p:ph type="title"/>
          </p:nvPr>
        </p:nvSpPr>
        <p:spPr>
          <a:xfrm>
            <a:off x="1370693" y="914401"/>
            <a:ext cx="15530642" cy="19894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3"/>
          <p:cNvSpPr txBox="1"/>
          <p:nvPr>
            <p:ph idx="1" type="body"/>
          </p:nvPr>
        </p:nvSpPr>
        <p:spPr>
          <a:xfrm rot="5400000">
            <a:off x="6364662" y="-1849873"/>
            <a:ext cx="5542704" cy="155306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33"/>
          <p:cNvSpPr txBox="1"/>
          <p:nvPr>
            <p:ph idx="10" type="dt"/>
          </p:nvPr>
        </p:nvSpPr>
        <p:spPr>
          <a:xfrm>
            <a:off x="11518104" y="8824913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33"/>
          <p:cNvSpPr txBox="1"/>
          <p:nvPr>
            <p:ph idx="11" type="ftr"/>
          </p:nvPr>
        </p:nvSpPr>
        <p:spPr>
          <a:xfrm>
            <a:off x="1370692" y="8824913"/>
            <a:ext cx="1000929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3"/>
          <p:cNvSpPr txBox="1"/>
          <p:nvPr>
            <p:ph idx="12" type="sldNum"/>
          </p:nvPr>
        </p:nvSpPr>
        <p:spPr>
          <a:xfrm>
            <a:off x="15771017" y="8824913"/>
            <a:ext cx="11303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4"/>
          <p:cNvSpPr txBox="1"/>
          <p:nvPr>
            <p:ph type="title"/>
          </p:nvPr>
        </p:nvSpPr>
        <p:spPr>
          <a:xfrm rot="5400000">
            <a:off x="11108143" y="2893607"/>
            <a:ext cx="7772402" cy="38139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Font typeface="Bookman Old Style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4"/>
          <p:cNvSpPr txBox="1"/>
          <p:nvPr>
            <p:ph idx="1" type="body"/>
          </p:nvPr>
        </p:nvSpPr>
        <p:spPr>
          <a:xfrm rot="5400000">
            <a:off x="3228520" y="-943429"/>
            <a:ext cx="7772402" cy="114880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5" name="Google Shape;135;p34"/>
          <p:cNvSpPr txBox="1"/>
          <p:nvPr>
            <p:ph idx="10" type="dt"/>
          </p:nvPr>
        </p:nvSpPr>
        <p:spPr>
          <a:xfrm>
            <a:off x="11518104" y="8824913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4"/>
          <p:cNvSpPr txBox="1"/>
          <p:nvPr>
            <p:ph idx="11" type="ftr"/>
          </p:nvPr>
        </p:nvSpPr>
        <p:spPr>
          <a:xfrm>
            <a:off x="1370692" y="8824913"/>
            <a:ext cx="1000929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4"/>
          <p:cNvSpPr txBox="1"/>
          <p:nvPr>
            <p:ph idx="12" type="sldNum"/>
          </p:nvPr>
        </p:nvSpPr>
        <p:spPr>
          <a:xfrm>
            <a:off x="15771017" y="8824913"/>
            <a:ext cx="11303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1370693" y="914401"/>
            <a:ext cx="15530642" cy="19894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Font typeface="Bookman Old Style"/>
              <a:buNone/>
              <a:defRPr b="1" i="0" sz="5100" u="none" cap="none" strike="noStrik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1370693" y="3144096"/>
            <a:ext cx="15530643" cy="5542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marR="0" rtl="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-400050" lvl="1" marL="914400" marR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-381000" lvl="2" marL="1371600" marR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-361950" lvl="3" marL="1828800" marR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-342900" lvl="4" marL="2286000" marR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-342900" lvl="5" marL="2743200" marR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-342900" lvl="6" marL="3200400" marR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-342900" lvl="7" marL="3657600" marR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-342900" lvl="8" marL="4114800" marR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11518104" y="8824913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1370692" y="8824913"/>
            <a:ext cx="1000929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15771017" y="8824913"/>
            <a:ext cx="1130318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ckwell"/>
              <a:buNone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27.png"/><Relationship Id="rId6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27.png"/><Relationship Id="rId6" Type="http://schemas.openxmlformats.org/officeDocument/2006/relationships/image" Target="../media/image5.png"/><Relationship Id="rId7" Type="http://schemas.openxmlformats.org/officeDocument/2006/relationships/image" Target="../media/image22.png"/><Relationship Id="rId8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27.png"/><Relationship Id="rId6" Type="http://schemas.openxmlformats.org/officeDocument/2006/relationships/image" Target="../media/image13.png"/><Relationship Id="rId7" Type="http://schemas.openxmlformats.org/officeDocument/2006/relationships/image" Target="../media/image19.jpg"/><Relationship Id="rId8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5.png"/><Relationship Id="rId4" Type="http://schemas.openxmlformats.org/officeDocument/2006/relationships/image" Target="../media/image29.png"/><Relationship Id="rId5" Type="http://schemas.openxmlformats.org/officeDocument/2006/relationships/image" Target="../media/image24.jpg"/><Relationship Id="rId6" Type="http://schemas.openxmlformats.org/officeDocument/2006/relationships/image" Target="../media/image2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5.png"/><Relationship Id="rId4" Type="http://schemas.openxmlformats.org/officeDocument/2006/relationships/image" Target="../media/image2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27.png"/><Relationship Id="rId6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27.png"/><Relationship Id="rId6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27.png"/><Relationship Id="rId6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27.png"/><Relationship Id="rId6" Type="http://schemas.openxmlformats.org/officeDocument/2006/relationships/image" Target="../media/image13.png"/><Relationship Id="rId7" Type="http://schemas.openxmlformats.org/officeDocument/2006/relationships/image" Target="../media/image57.jpg"/><Relationship Id="rId8" Type="http://schemas.openxmlformats.org/officeDocument/2006/relationships/image" Target="../media/image4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27.png"/><Relationship Id="rId6" Type="http://schemas.openxmlformats.org/officeDocument/2006/relationships/image" Target="../media/image13.png"/><Relationship Id="rId7" Type="http://schemas.openxmlformats.org/officeDocument/2006/relationships/image" Target="../media/image3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43.png"/><Relationship Id="rId5" Type="http://schemas.openxmlformats.org/officeDocument/2006/relationships/image" Target="../media/image27.png"/><Relationship Id="rId6" Type="http://schemas.openxmlformats.org/officeDocument/2006/relationships/image" Target="../media/image6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27.png"/><Relationship Id="rId6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47.png"/><Relationship Id="rId6" Type="http://schemas.openxmlformats.org/officeDocument/2006/relationships/image" Target="../media/image30.png"/><Relationship Id="rId7" Type="http://schemas.openxmlformats.org/officeDocument/2006/relationships/image" Target="../media/image4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47.png"/><Relationship Id="rId6" Type="http://schemas.openxmlformats.org/officeDocument/2006/relationships/image" Target="../media/image30.png"/><Relationship Id="rId7" Type="http://schemas.openxmlformats.org/officeDocument/2006/relationships/image" Target="../media/image44.pn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image" Target="../media/image59.png"/><Relationship Id="rId10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8.png"/><Relationship Id="rId4" Type="http://schemas.openxmlformats.org/officeDocument/2006/relationships/image" Target="../media/image8.png"/><Relationship Id="rId9" Type="http://schemas.openxmlformats.org/officeDocument/2006/relationships/image" Target="../media/image53.png"/><Relationship Id="rId5" Type="http://schemas.openxmlformats.org/officeDocument/2006/relationships/image" Target="../media/image58.png"/><Relationship Id="rId6" Type="http://schemas.openxmlformats.org/officeDocument/2006/relationships/image" Target="../media/image56.png"/><Relationship Id="rId7" Type="http://schemas.openxmlformats.org/officeDocument/2006/relationships/image" Target="../media/image39.png"/><Relationship Id="rId8" Type="http://schemas.openxmlformats.org/officeDocument/2006/relationships/image" Target="../media/image4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47.png"/><Relationship Id="rId6" Type="http://schemas.openxmlformats.org/officeDocument/2006/relationships/image" Target="../media/image30.png"/><Relationship Id="rId7" Type="http://schemas.openxmlformats.org/officeDocument/2006/relationships/image" Target="../media/image54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47.png"/><Relationship Id="rId6" Type="http://schemas.openxmlformats.org/officeDocument/2006/relationships/image" Target="../media/image30.png"/><Relationship Id="rId7" Type="http://schemas.openxmlformats.org/officeDocument/2006/relationships/image" Target="../media/image54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27.png"/><Relationship Id="rId6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8.png"/><Relationship Id="rId4" Type="http://schemas.openxmlformats.org/officeDocument/2006/relationships/image" Target="../media/image63.jpg"/><Relationship Id="rId5" Type="http://schemas.openxmlformats.org/officeDocument/2006/relationships/image" Target="../media/image8.png"/><Relationship Id="rId6" Type="http://schemas.openxmlformats.org/officeDocument/2006/relationships/image" Target="../media/image5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62.png"/><Relationship Id="rId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g3a5aa66a6da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99265" y="2996688"/>
            <a:ext cx="8288731" cy="7290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3a5aa66a6da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5779857" cy="2647308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3a5aa66a6da_0_0"/>
          <p:cNvSpPr txBox="1"/>
          <p:nvPr>
            <p:ph type="title"/>
          </p:nvPr>
        </p:nvSpPr>
        <p:spPr>
          <a:xfrm>
            <a:off x="2220231" y="1891524"/>
            <a:ext cx="12342900" cy="3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1028063" rtl="0" algn="l">
              <a:lnSpc>
                <a:spcPct val="1104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ookman Old Style"/>
              <a:buNone/>
            </a:pPr>
            <a:r>
              <a:t/>
            </a:r>
            <a:endParaRPr sz="9850"/>
          </a:p>
          <a:p>
            <a:pPr indent="0" lvl="0" marL="313690" rtl="0" algn="l">
              <a:lnSpc>
                <a:spcPct val="100000"/>
              </a:lnSpc>
              <a:spcBef>
                <a:spcPts val="1230"/>
              </a:spcBef>
              <a:spcAft>
                <a:spcPts val="0"/>
              </a:spcAft>
              <a:buClr>
                <a:srgbClr val="F4B400"/>
              </a:buClr>
              <a:buSzPts val="1400"/>
              <a:buFont typeface="Bookman Old Style"/>
              <a:buNone/>
            </a:pPr>
            <a:r>
              <a:rPr lang="es-MX" sz="9850">
                <a:solidFill>
                  <a:srgbClr val="F4B400"/>
                </a:solidFill>
              </a:rPr>
              <a:t>“PANTRYSMART”</a:t>
            </a:r>
            <a:endParaRPr sz="9850">
              <a:solidFill>
                <a:srgbClr val="F4B400"/>
              </a:solidFill>
            </a:endParaRPr>
          </a:p>
        </p:txBody>
      </p:sp>
      <p:sp>
        <p:nvSpPr>
          <p:cNvPr id="145" name="Google Shape;145;g3a5aa66a6da_0_0"/>
          <p:cNvSpPr txBox="1"/>
          <p:nvPr/>
        </p:nvSpPr>
        <p:spPr>
          <a:xfrm>
            <a:off x="3055389" y="5278854"/>
            <a:ext cx="70344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s-MX" sz="2250" u="none" cap="none" strike="noStrike">
                <a:solidFill>
                  <a:srgbClr val="F4B400"/>
                </a:solidFill>
                <a:latin typeface="Trebuchet MS"/>
                <a:ea typeface="Trebuchet MS"/>
                <a:cs typeface="Trebuchet MS"/>
                <a:sym typeface="Trebuchet MS"/>
              </a:rPr>
              <a:t>Aplicación móvil para la gestión inteligente del hogar</a:t>
            </a:r>
            <a:endParaRPr b="0" i="0" sz="2250" u="none" cap="none" strike="noStrike">
              <a:solidFill>
                <a:srgbClr val="F4B4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46" name="Google Shape;146;g3a5aa66a6da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0232" y="8692222"/>
            <a:ext cx="4527362" cy="1011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g3a5aa66a6da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539435" y="766108"/>
            <a:ext cx="4527359" cy="101110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8" name="Google Shape;148;g3a5aa66a6da_0_0"/>
          <p:cNvGrpSpPr/>
          <p:nvPr/>
        </p:nvGrpSpPr>
        <p:grpSpPr>
          <a:xfrm>
            <a:off x="5699671" y="113589"/>
            <a:ext cx="6888662" cy="2316148"/>
            <a:chOff x="6471289" y="56149"/>
            <a:chExt cx="5345435" cy="1797275"/>
          </a:xfrm>
        </p:grpSpPr>
        <p:pic>
          <p:nvPicPr>
            <p:cNvPr id="149" name="Google Shape;149;g3a5aa66a6da_0_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471289" y="56149"/>
              <a:ext cx="5345435" cy="1797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" name="Google Shape;150;g3a5aa66a6da_0_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528439" y="94249"/>
              <a:ext cx="5231136" cy="16829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1" name="Google Shape;151;g3a5aa66a6da_0_0"/>
          <p:cNvSpPr txBox="1"/>
          <p:nvPr/>
        </p:nvSpPr>
        <p:spPr>
          <a:xfrm>
            <a:off x="4106849" y="7007000"/>
            <a:ext cx="70344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s-MX" sz="2250" u="none" cap="none" strike="noStrike">
                <a:solidFill>
                  <a:srgbClr val="F4B400"/>
                </a:solidFill>
                <a:latin typeface="Trebuchet MS"/>
                <a:ea typeface="Trebuchet MS"/>
                <a:cs typeface="Trebuchet MS"/>
                <a:sym typeface="Trebuchet MS"/>
              </a:rPr>
              <a:t>“Ahorra dinero y reduce desperdicios mediante inteligencia artificial” </a:t>
            </a:r>
            <a:endParaRPr b="0" i="0" sz="2250" u="none" cap="none" strike="noStrike">
              <a:solidFill>
                <a:srgbClr val="F4B4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g38647092fc0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877314"/>
            <a:ext cx="4232544" cy="5409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g38647092fc0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43066" y="0"/>
            <a:ext cx="4644931" cy="5169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g38647092fc0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643066" y="8752746"/>
            <a:ext cx="4527360" cy="101110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g38647092fc0_0_0"/>
          <p:cNvSpPr txBox="1"/>
          <p:nvPr>
            <p:ph type="title"/>
          </p:nvPr>
        </p:nvSpPr>
        <p:spPr>
          <a:xfrm>
            <a:off x="2962175" y="1862950"/>
            <a:ext cx="10880400" cy="7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200"/>
              <a:buFont typeface="Arial"/>
              <a:buChar char="➢"/>
            </a:pPr>
            <a:r>
              <a:rPr lang="es-MX" sz="42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INTRODUCCIÓN</a:t>
            </a:r>
            <a:endParaRPr sz="4200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200"/>
              <a:buFont typeface="Arial"/>
              <a:buChar char="➢"/>
            </a:pPr>
            <a:r>
              <a:rPr lang="es-MX" sz="42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SITUACIÓN ACTUAL</a:t>
            </a:r>
            <a:endParaRPr sz="4200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200"/>
              <a:buFont typeface="Arial"/>
              <a:buChar char="➢"/>
            </a:pPr>
            <a:r>
              <a:rPr lang="es-MX" sz="42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PROBLEMÁTICA</a:t>
            </a:r>
            <a:endParaRPr sz="4200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200"/>
              <a:buFont typeface="Arial"/>
              <a:buChar char="➢"/>
            </a:pPr>
            <a:r>
              <a:rPr lang="es-MX" sz="42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OBJETIVOS</a:t>
            </a:r>
            <a:endParaRPr sz="4200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200"/>
              <a:buFont typeface="Arial"/>
              <a:buChar char="➢"/>
            </a:pPr>
            <a:r>
              <a:rPr lang="es-MX" sz="42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REQUERIMIENTOS</a:t>
            </a:r>
            <a:endParaRPr sz="4200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200"/>
              <a:buFont typeface="Arial"/>
              <a:buChar char="➢"/>
            </a:pPr>
            <a:r>
              <a:rPr lang="es-MX" sz="42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SOLUCIÓN </a:t>
            </a:r>
            <a:endParaRPr sz="4200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200"/>
              <a:buFont typeface="Arial"/>
              <a:buChar char="➢"/>
            </a:pPr>
            <a:r>
              <a:rPr lang="es-MX" sz="42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INDICADORES ECONÓMICOS</a:t>
            </a:r>
            <a:endParaRPr sz="4200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200"/>
              <a:buFont typeface="Arial"/>
              <a:buChar char="➢"/>
            </a:pPr>
            <a:r>
              <a:rPr lang="es-MX" sz="42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IMPLEMENTACIÓN</a:t>
            </a:r>
            <a:endParaRPr sz="4200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200"/>
              <a:buFont typeface="Arial"/>
              <a:buChar char="➢"/>
            </a:pPr>
            <a:r>
              <a:rPr lang="es-MX" sz="42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DEMOSTRACIÓN </a:t>
            </a:r>
            <a:endParaRPr sz="4200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200"/>
              <a:buFont typeface="Arial"/>
              <a:buChar char="➢"/>
            </a:pPr>
            <a:r>
              <a:rPr lang="es-MX" sz="4200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  <a:endParaRPr sz="4200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rebuchet MS"/>
              <a:buNone/>
            </a:pPr>
            <a:br>
              <a:rPr lang="es-MX" sz="4750"/>
            </a:br>
            <a:endParaRPr sz="4750"/>
          </a:p>
        </p:txBody>
      </p:sp>
      <p:pic>
        <p:nvPicPr>
          <p:cNvPr id="160" name="Google Shape;160;g38647092fc0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30922" y="0"/>
            <a:ext cx="5352751" cy="1589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877314"/>
            <a:ext cx="4232545" cy="5409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43066" y="0"/>
            <a:ext cx="4644933" cy="5169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643066" y="8752746"/>
            <a:ext cx="4527360" cy="101110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8" name="Google Shape;168;p2"/>
          <p:cNvGrpSpPr/>
          <p:nvPr/>
        </p:nvGrpSpPr>
        <p:grpSpPr>
          <a:xfrm>
            <a:off x="6143677" y="2594119"/>
            <a:ext cx="5467458" cy="7390574"/>
            <a:chOff x="6143677" y="2594119"/>
            <a:chExt cx="5467458" cy="7390574"/>
          </a:xfrm>
        </p:grpSpPr>
        <p:pic>
          <p:nvPicPr>
            <p:cNvPr id="169" name="Google Shape;169;p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143677" y="2594119"/>
              <a:ext cx="5467458" cy="48865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645457" y="7520795"/>
              <a:ext cx="2463898" cy="24638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1" name="Google Shape;171;p2"/>
          <p:cNvSpPr txBox="1"/>
          <p:nvPr>
            <p:ph type="title"/>
          </p:nvPr>
        </p:nvSpPr>
        <p:spPr>
          <a:xfrm>
            <a:off x="1157679" y="961413"/>
            <a:ext cx="55767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B400"/>
              </a:buClr>
              <a:buSzPts val="1400"/>
              <a:buFont typeface="Arial"/>
              <a:buNone/>
            </a:pPr>
            <a:r>
              <a:rPr lang="es-MX" sz="5500" u="sng">
                <a:solidFill>
                  <a:srgbClr val="F4B400"/>
                </a:solidFill>
                <a:latin typeface="Arial"/>
                <a:ea typeface="Arial"/>
                <a:cs typeface="Arial"/>
                <a:sym typeface="Arial"/>
              </a:rPr>
              <a:t>INTEGRANTES</a:t>
            </a:r>
            <a:endParaRPr sz="5500" u="sng">
              <a:solidFill>
                <a:srgbClr val="F4B4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30922" y="0"/>
            <a:ext cx="5352752" cy="1589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g38647092fc0_0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37446" y="0"/>
            <a:ext cx="4750553" cy="3956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g38647092fc0_0_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7492844"/>
            <a:ext cx="5846531" cy="27941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g38647092fc0_0_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649044" y="8770218"/>
            <a:ext cx="4527360" cy="1011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g38647092fc0_0_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2615" y="0"/>
            <a:ext cx="1011110" cy="4162423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g38647092fc0_0_21"/>
          <p:cNvSpPr txBox="1"/>
          <p:nvPr>
            <p:ph type="title"/>
          </p:nvPr>
        </p:nvSpPr>
        <p:spPr>
          <a:xfrm>
            <a:off x="6121650" y="377850"/>
            <a:ext cx="60447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B400"/>
              </a:buClr>
              <a:buSzPts val="1400"/>
              <a:buFont typeface="Bookman Old Style"/>
              <a:buNone/>
            </a:pPr>
            <a:r>
              <a:rPr lang="es-MX" sz="5400" u="sng">
                <a:solidFill>
                  <a:srgbClr val="F4B400"/>
                </a:solidFill>
              </a:rPr>
              <a:t>INTRODUCCIÓN</a:t>
            </a:r>
            <a:endParaRPr sz="5400" u="sng">
              <a:solidFill>
                <a:srgbClr val="F4B400"/>
              </a:solidFill>
            </a:endParaRPr>
          </a:p>
        </p:txBody>
      </p:sp>
      <p:pic>
        <p:nvPicPr>
          <p:cNvPr descr="3D Rendering of computer mother board chip with AI text and glowing circuit background. (proporcionado por Getty Images)" id="182" name="Google Shape;182;g38647092fc0_0_21"/>
          <p:cNvPicPr preferRelativeResize="0"/>
          <p:nvPr/>
        </p:nvPicPr>
        <p:blipFill rotWithShape="1">
          <a:blip r:embed="rId7">
            <a:alphaModFix amt="70000"/>
          </a:blip>
          <a:srcRect b="0" l="0" r="0" t="0"/>
          <a:stretch/>
        </p:blipFill>
        <p:spPr>
          <a:xfrm>
            <a:off x="14775532" y="2934909"/>
            <a:ext cx="3290977" cy="30100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3d mobile phone app wifi (proporcionado por Getty Images)" id="183" name="Google Shape;183;g38647092fc0_0_21"/>
          <p:cNvPicPr preferRelativeResize="0"/>
          <p:nvPr/>
        </p:nvPicPr>
        <p:blipFill rotWithShape="1">
          <a:blip r:embed="rId8">
            <a:alphaModFix amt="63000"/>
          </a:blip>
          <a:srcRect b="0" l="0" r="0" t="0"/>
          <a:stretch/>
        </p:blipFill>
        <p:spPr>
          <a:xfrm>
            <a:off x="14681907" y="6216405"/>
            <a:ext cx="3384602" cy="23651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1176"/>
              </a:srgbClr>
            </a:outerShdw>
          </a:effectLst>
        </p:spPr>
      </p:pic>
      <p:grpSp>
        <p:nvGrpSpPr>
          <p:cNvPr id="184" name="Google Shape;184;g38647092fc0_0_21"/>
          <p:cNvGrpSpPr/>
          <p:nvPr/>
        </p:nvGrpSpPr>
        <p:grpSpPr>
          <a:xfrm>
            <a:off x="3156395" y="2589100"/>
            <a:ext cx="9661130" cy="6622468"/>
            <a:chOff x="1823207" y="2992"/>
            <a:chExt cx="7608387" cy="5215363"/>
          </a:xfrm>
        </p:grpSpPr>
        <p:sp>
          <p:nvSpPr>
            <p:cNvPr id="185" name="Google Shape;185;g38647092fc0_0_21"/>
            <p:cNvSpPr/>
            <p:nvPr/>
          </p:nvSpPr>
          <p:spPr>
            <a:xfrm>
              <a:off x="1823207" y="2992"/>
              <a:ext cx="1303840" cy="1303840"/>
            </a:xfrm>
            <a:prstGeom prst="ellipse">
              <a:avLst/>
            </a:prstGeom>
            <a:solidFill>
              <a:schemeClr val="dk2">
                <a:alpha val="49019"/>
              </a:schemeClr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g38647092fc0_0_21"/>
            <p:cNvSpPr/>
            <p:nvPr/>
          </p:nvSpPr>
          <p:spPr>
            <a:xfrm>
              <a:off x="2475127" y="2992"/>
              <a:ext cx="6956467" cy="1303840"/>
            </a:xfrm>
            <a:prstGeom prst="rect">
              <a:avLst/>
            </a:prstGeom>
            <a:noFill/>
            <a:ln cap="flat" cmpd="sng" w="16150">
              <a:solidFill>
                <a:schemeClr val="dk1">
                  <a:alpha val="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g38647092fc0_0_21"/>
            <p:cNvSpPr txBox="1"/>
            <p:nvPr/>
          </p:nvSpPr>
          <p:spPr>
            <a:xfrm>
              <a:off x="2475127" y="2992"/>
              <a:ext cx="6956467" cy="1303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700" lIns="0" spcFirstLastPara="1" rIns="0" wrap="square" tIns="38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47"/>
                <a:buFont typeface="Arial"/>
                <a:buNone/>
              </a:pPr>
              <a:r>
                <a:rPr b="0" i="0" lang="es-MX" sz="3189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Qué hacemos: Plataforma móvil que organiza y gestiona el inventario del hogar.</a:t>
              </a:r>
              <a:endParaRPr b="0" i="0" sz="3189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g38647092fc0_0_21"/>
            <p:cNvSpPr/>
            <p:nvPr/>
          </p:nvSpPr>
          <p:spPr>
            <a:xfrm>
              <a:off x="1823207" y="1306833"/>
              <a:ext cx="1303840" cy="1303840"/>
            </a:xfrm>
            <a:prstGeom prst="ellipse">
              <a:avLst/>
            </a:prstGeom>
            <a:solidFill>
              <a:schemeClr val="dk2">
                <a:alpha val="49019"/>
              </a:schemeClr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g38647092fc0_0_21"/>
            <p:cNvSpPr/>
            <p:nvPr/>
          </p:nvSpPr>
          <p:spPr>
            <a:xfrm>
              <a:off x="2475127" y="1306833"/>
              <a:ext cx="6956467" cy="1303840"/>
            </a:xfrm>
            <a:prstGeom prst="rect">
              <a:avLst/>
            </a:prstGeom>
            <a:noFill/>
            <a:ln cap="flat" cmpd="sng" w="16150">
              <a:solidFill>
                <a:schemeClr val="dk1">
                  <a:alpha val="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g38647092fc0_0_21"/>
            <p:cNvSpPr txBox="1"/>
            <p:nvPr/>
          </p:nvSpPr>
          <p:spPr>
            <a:xfrm>
              <a:off x="2475127" y="1306833"/>
              <a:ext cx="6956467" cy="1303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700" lIns="0" spcFirstLastPara="1" rIns="0" wrap="square" tIns="38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47"/>
                <a:buFont typeface="Arial"/>
                <a:buNone/>
              </a:pPr>
              <a:r>
                <a:rPr b="0" i="0" lang="es-MX" sz="3189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Para quién: Personas y familias que buscan eficiencia y orden en su despensa.</a:t>
              </a:r>
              <a:endParaRPr b="0" i="0" sz="3189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g38647092fc0_0_21"/>
            <p:cNvSpPr/>
            <p:nvPr/>
          </p:nvSpPr>
          <p:spPr>
            <a:xfrm>
              <a:off x="1823207" y="2610674"/>
              <a:ext cx="1303840" cy="1303840"/>
            </a:xfrm>
            <a:prstGeom prst="ellipse">
              <a:avLst/>
            </a:prstGeom>
            <a:solidFill>
              <a:schemeClr val="dk2">
                <a:alpha val="49019"/>
              </a:schemeClr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g38647092fc0_0_21"/>
            <p:cNvSpPr/>
            <p:nvPr/>
          </p:nvSpPr>
          <p:spPr>
            <a:xfrm>
              <a:off x="2475127" y="2610674"/>
              <a:ext cx="6956467" cy="1303840"/>
            </a:xfrm>
            <a:prstGeom prst="rect">
              <a:avLst/>
            </a:prstGeom>
            <a:noFill/>
            <a:ln cap="flat" cmpd="sng" w="16150">
              <a:solidFill>
                <a:schemeClr val="dk1">
                  <a:alpha val="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g38647092fc0_0_21"/>
            <p:cNvSpPr txBox="1"/>
            <p:nvPr/>
          </p:nvSpPr>
          <p:spPr>
            <a:xfrm>
              <a:off x="2475127" y="2610674"/>
              <a:ext cx="6956467" cy="1303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700" lIns="0" spcFirstLastPara="1" rIns="0" wrap="square" tIns="38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47"/>
                <a:buFont typeface="Arial"/>
                <a:buNone/>
              </a:pPr>
              <a:r>
                <a:rPr b="0" i="0" lang="es-MX" sz="3189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Qué logramos: Simplificar y facilitar el orden del inventario doméstico.</a:t>
              </a:r>
              <a:endParaRPr b="0" i="0" sz="19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g38647092fc0_0_21"/>
            <p:cNvSpPr/>
            <p:nvPr/>
          </p:nvSpPr>
          <p:spPr>
            <a:xfrm>
              <a:off x="1823207" y="3914515"/>
              <a:ext cx="1303840" cy="1303840"/>
            </a:xfrm>
            <a:prstGeom prst="ellipse">
              <a:avLst/>
            </a:prstGeom>
            <a:solidFill>
              <a:schemeClr val="dk2">
                <a:alpha val="49019"/>
              </a:schemeClr>
            </a:solidFill>
            <a:ln>
              <a:noFill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g38647092fc0_0_21"/>
            <p:cNvSpPr/>
            <p:nvPr/>
          </p:nvSpPr>
          <p:spPr>
            <a:xfrm>
              <a:off x="2475127" y="3914515"/>
              <a:ext cx="6956467" cy="1303840"/>
            </a:xfrm>
            <a:prstGeom prst="rect">
              <a:avLst/>
            </a:prstGeom>
            <a:noFill/>
            <a:ln cap="flat" cmpd="sng" w="16150">
              <a:solidFill>
                <a:schemeClr val="dk1">
                  <a:alpha val="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6050" lIns="116050" spcFirstLastPara="1" rIns="116050" wrap="square" tIns="116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g38647092fc0_0_21"/>
            <p:cNvSpPr txBox="1"/>
            <p:nvPr/>
          </p:nvSpPr>
          <p:spPr>
            <a:xfrm>
              <a:off x="2475127" y="3914515"/>
              <a:ext cx="6956467" cy="1303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700" lIns="0" spcFirstLastPara="1" rIns="0" wrap="square" tIns="38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47"/>
                <a:buFont typeface="Arial"/>
                <a:buNone/>
              </a:pPr>
              <a:r>
                <a:rPr b="0" i="0" lang="es-MX" sz="3047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Como: Con herramientas digitales para registrar, organizar, y crear recetas automáticamente.</a:t>
              </a:r>
              <a:endParaRPr b="0" i="0" sz="3189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g39d964d0c30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00" y="218871"/>
            <a:ext cx="4155307" cy="1011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g39d964d0c30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842264" y="4708219"/>
            <a:ext cx="6445738" cy="5578781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g39d964d0c30_0_0"/>
          <p:cNvSpPr txBox="1"/>
          <p:nvPr>
            <p:ph type="title"/>
          </p:nvPr>
        </p:nvSpPr>
        <p:spPr>
          <a:xfrm>
            <a:off x="5257351" y="386075"/>
            <a:ext cx="77733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B400"/>
              </a:buClr>
              <a:buSzPts val="1400"/>
              <a:buFont typeface="Bookman Old Style"/>
              <a:buNone/>
            </a:pPr>
            <a:r>
              <a:rPr lang="es-MX" sz="5400" u="sng">
                <a:solidFill>
                  <a:srgbClr val="F4B400"/>
                </a:solidFill>
              </a:rPr>
              <a:t>SITUACIÓN ACTUAL</a:t>
            </a:r>
            <a:endParaRPr sz="5400"/>
          </a:p>
        </p:txBody>
      </p:sp>
      <p:pic>
        <p:nvPicPr>
          <p:cNvPr descr="Reading the shopping list with the groceries (proporcionado por Getty Images)" id="204" name="Google Shape;204;g39d964d0c30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528381" y="4300225"/>
            <a:ext cx="5073526" cy="3384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led Shopping List Reminder On Paper On Brushed Aluminum (proporcionado por Getty Images)" id="205" name="Google Shape;205;g39d964d0c30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543425" y="517425"/>
            <a:ext cx="4058476" cy="33815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g39d964d0c30_0_0"/>
          <p:cNvSpPr txBox="1"/>
          <p:nvPr/>
        </p:nvSpPr>
        <p:spPr>
          <a:xfrm>
            <a:off x="112101" y="9366705"/>
            <a:ext cx="86571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50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07" name="Google Shape;207;g39d964d0c30_0_0"/>
          <p:cNvGrpSpPr/>
          <p:nvPr/>
        </p:nvGrpSpPr>
        <p:grpSpPr>
          <a:xfrm>
            <a:off x="1123009" y="2434382"/>
            <a:ext cx="10645454" cy="6688627"/>
            <a:chOff x="0" y="0"/>
            <a:chExt cx="10645454" cy="6688627"/>
          </a:xfrm>
        </p:grpSpPr>
        <p:sp>
          <p:nvSpPr>
            <p:cNvPr id="208" name="Google Shape;208;g39d964d0c30_0_0"/>
            <p:cNvSpPr/>
            <p:nvPr/>
          </p:nvSpPr>
          <p:spPr>
            <a:xfrm>
              <a:off x="0" y="0"/>
              <a:ext cx="8516364" cy="147149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27290"/>
                </a:gs>
                <a:gs pos="69000">
                  <a:srgbClr val="1B5683"/>
                </a:gs>
                <a:gs pos="100000">
                  <a:srgbClr val="184F77"/>
                </a:gs>
              </a:gsLst>
              <a:lin ang="5400000" scaled="0"/>
            </a:gradFill>
            <a:ln>
              <a:noFill/>
            </a:ln>
            <a:effectLst>
              <a:outerShdw blurRad="50800" rotWithShape="0" dir="5400000" dist="38100" sy="96000">
                <a:srgbClr val="000000">
                  <a:alpha val="5294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g39d964d0c30_0_0"/>
            <p:cNvSpPr txBox="1"/>
            <p:nvPr/>
          </p:nvSpPr>
          <p:spPr>
            <a:xfrm>
              <a:off x="43099" y="43099"/>
              <a:ext cx="6804160" cy="138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b="1" i="0" lang="es-MX" sz="2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Realizar Compras:  Compras sin control ni historial.</a:t>
              </a:r>
              <a:endParaRPr b="1" i="0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g39d964d0c30_0_0"/>
            <p:cNvSpPr/>
            <p:nvPr/>
          </p:nvSpPr>
          <p:spPr>
            <a:xfrm>
              <a:off x="713245" y="1739043"/>
              <a:ext cx="8516364" cy="147149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27290"/>
                </a:gs>
                <a:gs pos="69000">
                  <a:srgbClr val="1B5683"/>
                </a:gs>
                <a:gs pos="100000">
                  <a:srgbClr val="184F77"/>
                </a:gs>
              </a:gsLst>
              <a:lin ang="5400000" scaled="0"/>
            </a:gradFill>
            <a:ln>
              <a:noFill/>
            </a:ln>
            <a:effectLst>
              <a:outerShdw blurRad="50800" rotWithShape="0" dir="5400000" dist="38100" sy="96000">
                <a:srgbClr val="000000">
                  <a:alpha val="5294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g39d964d0c30_0_0"/>
            <p:cNvSpPr txBox="1"/>
            <p:nvPr/>
          </p:nvSpPr>
          <p:spPr>
            <a:xfrm>
              <a:off x="756344" y="1782142"/>
              <a:ext cx="6760446" cy="138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b="1" i="0" lang="es-MX" sz="2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Control Inventario: Desordenado y manual. </a:t>
              </a:r>
              <a:endParaRPr b="1" i="0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g39d964d0c30_0_0"/>
            <p:cNvSpPr/>
            <p:nvPr/>
          </p:nvSpPr>
          <p:spPr>
            <a:xfrm>
              <a:off x="1415845" y="3478086"/>
              <a:ext cx="8516364" cy="147149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27290"/>
                </a:gs>
                <a:gs pos="69000">
                  <a:srgbClr val="1B5683"/>
                </a:gs>
                <a:gs pos="100000">
                  <a:srgbClr val="184F77"/>
                </a:gs>
              </a:gsLst>
              <a:lin ang="5400000" scaled="0"/>
            </a:gradFill>
            <a:ln>
              <a:noFill/>
            </a:ln>
            <a:effectLst>
              <a:outerShdw blurRad="50800" rotWithShape="0" dir="5400000" dist="38100" sy="96000">
                <a:srgbClr val="000000">
                  <a:alpha val="5294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g39d964d0c30_0_0"/>
            <p:cNvSpPr txBox="1"/>
            <p:nvPr/>
          </p:nvSpPr>
          <p:spPr>
            <a:xfrm>
              <a:off x="1458944" y="3521185"/>
              <a:ext cx="6771092" cy="138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b="1" i="0" lang="es-MX" sz="2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Planificación: improvisación y planificación parcial.</a:t>
              </a:r>
              <a:endParaRPr b="1" i="0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g39d964d0c30_0_0"/>
            <p:cNvSpPr/>
            <p:nvPr/>
          </p:nvSpPr>
          <p:spPr>
            <a:xfrm>
              <a:off x="2129090" y="5217129"/>
              <a:ext cx="8516364" cy="147149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27290"/>
                </a:gs>
                <a:gs pos="69000">
                  <a:srgbClr val="1B5683"/>
                </a:gs>
                <a:gs pos="100000">
                  <a:srgbClr val="184F77"/>
                </a:gs>
              </a:gsLst>
              <a:lin ang="5400000" scaled="0"/>
            </a:gradFill>
            <a:ln>
              <a:noFill/>
            </a:ln>
            <a:effectLst>
              <a:outerShdw blurRad="50800" rotWithShape="0" dir="5400000" dist="38100" sy="96000">
                <a:srgbClr val="000000">
                  <a:alpha val="5294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g39d964d0c30_0_0"/>
            <p:cNvSpPr txBox="1"/>
            <p:nvPr/>
          </p:nvSpPr>
          <p:spPr>
            <a:xfrm>
              <a:off x="2172189" y="5260228"/>
              <a:ext cx="6760446" cy="138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b="1" i="0" lang="es-MX" sz="2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Tecnología: Sin Herramientas digitales integradas.</a:t>
              </a:r>
              <a:endParaRPr b="1" i="0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g39d964d0c30_0_0"/>
            <p:cNvSpPr/>
            <p:nvPr/>
          </p:nvSpPr>
          <p:spPr>
            <a:xfrm>
              <a:off x="7559890" y="1127033"/>
              <a:ext cx="956473" cy="956473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BD0D7">
                <a:alpha val="89019"/>
              </a:srgbClr>
            </a:solidFill>
            <a:ln cap="flat" cmpd="sng" w="12700">
              <a:solidFill>
                <a:srgbClr val="CBD0D7">
                  <a:alpha val="89019"/>
                </a:srgbClr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dir="5400000" dist="38100" sy="96000">
                <a:srgbClr val="000000">
                  <a:alpha val="5294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g39d964d0c30_0_0"/>
            <p:cNvSpPr txBox="1"/>
            <p:nvPr/>
          </p:nvSpPr>
          <p:spPr>
            <a:xfrm>
              <a:off x="7775096" y="1127033"/>
              <a:ext cx="526061" cy="7197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600"/>
                <a:buFont typeface="Rockwell"/>
                <a:buNone/>
              </a:pPr>
              <a:r>
                <a:t/>
              </a:r>
              <a:endParaRPr b="0" i="0" sz="36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18" name="Google Shape;218;g39d964d0c30_0_0"/>
            <p:cNvSpPr/>
            <p:nvPr/>
          </p:nvSpPr>
          <p:spPr>
            <a:xfrm>
              <a:off x="8273135" y="2866077"/>
              <a:ext cx="956473" cy="956473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BD0D7">
                <a:alpha val="89019"/>
              </a:srgbClr>
            </a:solidFill>
            <a:ln cap="flat" cmpd="sng" w="12700">
              <a:solidFill>
                <a:srgbClr val="CBD0D7">
                  <a:alpha val="89019"/>
                </a:srgbClr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dir="5400000" dist="38100" sy="96000">
                <a:srgbClr val="000000">
                  <a:alpha val="5294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g39d964d0c30_0_0"/>
            <p:cNvSpPr txBox="1"/>
            <p:nvPr/>
          </p:nvSpPr>
          <p:spPr>
            <a:xfrm>
              <a:off x="8488341" y="2866077"/>
              <a:ext cx="526061" cy="7197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600"/>
                <a:buFont typeface="Rockwell"/>
                <a:buNone/>
              </a:pPr>
              <a:r>
                <a:t/>
              </a:r>
              <a:endParaRPr b="0" i="0" sz="36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20" name="Google Shape;220;g39d964d0c30_0_0"/>
            <p:cNvSpPr/>
            <p:nvPr/>
          </p:nvSpPr>
          <p:spPr>
            <a:xfrm>
              <a:off x="8975735" y="4605120"/>
              <a:ext cx="956473" cy="956473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BD0D7">
                <a:alpha val="89019"/>
              </a:srgbClr>
            </a:solidFill>
            <a:ln cap="flat" cmpd="sng" w="12700">
              <a:solidFill>
                <a:srgbClr val="CBD0D7">
                  <a:alpha val="89019"/>
                </a:srgbClr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dir="5400000" dist="38100" sy="96000">
                <a:srgbClr val="000000">
                  <a:alpha val="5294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g39d964d0c30_0_0"/>
            <p:cNvSpPr txBox="1"/>
            <p:nvPr/>
          </p:nvSpPr>
          <p:spPr>
            <a:xfrm>
              <a:off x="9190941" y="4605120"/>
              <a:ext cx="526061" cy="7197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600"/>
                <a:buFont typeface="Rockwell"/>
                <a:buNone/>
              </a:pPr>
              <a:r>
                <a:t/>
              </a:r>
              <a:endParaRPr b="0" i="0" sz="36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00" y="218875"/>
            <a:ext cx="3159650" cy="101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842264" y="4708219"/>
            <a:ext cx="6445738" cy="5578781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4"/>
          <p:cNvSpPr txBox="1"/>
          <p:nvPr>
            <p:ph type="title"/>
          </p:nvPr>
        </p:nvSpPr>
        <p:spPr>
          <a:xfrm>
            <a:off x="3682050" y="684550"/>
            <a:ext cx="10923900" cy="10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normAutofit fontScale="90000"/>
          </a:bodyPr>
          <a:lstStyle/>
          <a:p>
            <a:pPr indent="0" lvl="0" marL="12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4B400"/>
              </a:buClr>
              <a:buSzPts val="1260"/>
              <a:buFont typeface="Arial"/>
              <a:buNone/>
            </a:pPr>
            <a:r>
              <a:rPr lang="es-MX" sz="6000" u="sng">
                <a:solidFill>
                  <a:srgbClr val="F4B400"/>
                </a:solidFill>
                <a:latin typeface="Arial"/>
                <a:ea typeface="Arial"/>
                <a:cs typeface="Arial"/>
                <a:sym typeface="Arial"/>
              </a:rPr>
              <a:t>DESCRIPCIÓN DEL PROBLEMA</a:t>
            </a:r>
            <a:endParaRPr sz="6000" u="sng">
              <a:solidFill>
                <a:srgbClr val="F4B4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925"/>
              <a:buFont typeface="Bookman Old Style"/>
              <a:buNone/>
            </a:pPr>
            <a:r>
              <a:t/>
            </a:r>
            <a:endParaRPr sz="5400"/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35000"/>
              <a:buFont typeface="Bookman Old Style"/>
              <a:buNone/>
            </a:pPr>
            <a:r>
              <a:t/>
            </a:r>
            <a:endParaRPr sz="4000"/>
          </a:p>
        </p:txBody>
      </p:sp>
      <p:sp>
        <p:nvSpPr>
          <p:cNvPr id="229" name="Google Shape;229;p4"/>
          <p:cNvSpPr txBox="1"/>
          <p:nvPr/>
        </p:nvSpPr>
        <p:spPr>
          <a:xfrm>
            <a:off x="112101" y="9366705"/>
            <a:ext cx="8657100" cy="6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50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s-MX" sz="17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Fuente</a:t>
            </a:r>
            <a:r>
              <a:rPr b="0" i="0" lang="es-MX" sz="17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: Ministerio de Agricultura de Chile. (2020). Los chilenos botan 3.700 millones de kilos de comida al año y desperdician $200 mil por persona. Ministerio de Agricultura.</a:t>
            </a:r>
            <a:endParaRPr b="0" i="0" sz="17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30" name="Google Shape;230;p4"/>
          <p:cNvGrpSpPr/>
          <p:nvPr/>
        </p:nvGrpSpPr>
        <p:grpSpPr>
          <a:xfrm>
            <a:off x="1555452" y="2103513"/>
            <a:ext cx="2974354" cy="5895697"/>
            <a:chOff x="1115909" y="283725"/>
            <a:chExt cx="2093141" cy="4076400"/>
          </a:xfrm>
        </p:grpSpPr>
        <p:sp>
          <p:nvSpPr>
            <p:cNvPr id="231" name="Google Shape;231;p4"/>
            <p:cNvSpPr/>
            <p:nvPr/>
          </p:nvSpPr>
          <p:spPr>
            <a:xfrm>
              <a:off x="1178650" y="283725"/>
              <a:ext cx="2030400" cy="4076400"/>
            </a:xfrm>
            <a:prstGeom prst="rect">
              <a:avLst/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145225" lIns="145225" spcFirstLastPara="1" rIns="145225" wrap="square" tIns="14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ckwel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32" name="Google Shape;232;p4"/>
            <p:cNvSpPr/>
            <p:nvPr/>
          </p:nvSpPr>
          <p:spPr>
            <a:xfrm>
              <a:off x="1118231" y="341749"/>
              <a:ext cx="2030400" cy="2490600"/>
            </a:xfrm>
            <a:prstGeom prst="rect">
              <a:avLst/>
            </a:prstGeom>
            <a:solidFill>
              <a:srgbClr val="FFFFFF"/>
            </a:solidFill>
            <a:ln cap="flat" cmpd="sng" w="30275">
              <a:solidFill>
                <a:srgbClr val="1D7E7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45225" lIns="145225" spcFirstLastPara="1" rIns="145225" wrap="square" tIns="14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ckwel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33" name="Google Shape;233;p4"/>
            <p:cNvSpPr/>
            <p:nvPr/>
          </p:nvSpPr>
          <p:spPr>
            <a:xfrm>
              <a:off x="1233852" y="1606791"/>
              <a:ext cx="1815000" cy="80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5225" lIns="145225" spcFirstLastPara="1" rIns="145225" wrap="square" tIns="14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D7E75"/>
                </a:buClr>
                <a:buSzPts val="1906"/>
                <a:buFont typeface="Roboto Medium"/>
                <a:buNone/>
              </a:pPr>
              <a:r>
                <a:rPr b="0" i="0" lang="es-MX" sz="2000" u="none" cap="none" strike="noStrike">
                  <a:solidFill>
                    <a:srgbClr val="1D7E75"/>
                  </a:solidFill>
                  <a:latin typeface="Arial"/>
                  <a:ea typeface="Arial"/>
                  <a:cs typeface="Arial"/>
                  <a:sym typeface="Arial"/>
                </a:rPr>
                <a:t>Los hogares no conocen su stock real.</a:t>
              </a:r>
              <a:endParaRPr b="0" i="0" sz="2000" u="none" cap="none" strike="noStrike">
                <a:solidFill>
                  <a:srgbClr val="1D7E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4"/>
            <p:cNvSpPr/>
            <p:nvPr/>
          </p:nvSpPr>
          <p:spPr>
            <a:xfrm>
              <a:off x="1233852" y="470613"/>
              <a:ext cx="1815000" cy="13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5225" lIns="145225" spcFirstLastPara="1" rIns="145225" wrap="square" tIns="14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D7E75"/>
                </a:buClr>
                <a:buSzPts val="3554"/>
                <a:buFont typeface="Roboto"/>
                <a:buNone/>
              </a:pPr>
              <a:r>
                <a:rPr b="1" i="0" lang="es-MX" sz="3200" u="none" cap="none" strike="noStrike">
                  <a:solidFill>
                    <a:srgbClr val="1D7E75"/>
                  </a:solidFill>
                  <a:latin typeface="Arial"/>
                  <a:ea typeface="Arial"/>
                  <a:cs typeface="Arial"/>
                  <a:sym typeface="Arial"/>
                </a:rPr>
                <a:t>Gestión doméstica ineficiente</a:t>
              </a:r>
              <a:endParaRPr b="0" i="0" sz="3200" u="none" cap="none" strike="noStrike">
                <a:solidFill>
                  <a:srgbClr val="1D7E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4"/>
            <p:cNvSpPr/>
            <p:nvPr/>
          </p:nvSpPr>
          <p:spPr>
            <a:xfrm rot="5400000">
              <a:off x="1938871" y="2785391"/>
              <a:ext cx="389100" cy="278100"/>
            </a:xfrm>
            <a:prstGeom prst="rightArrow">
              <a:avLst>
                <a:gd fmla="val 34239" name="adj1"/>
                <a:gd fmla="val 57035" name="adj2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145225" lIns="145225" spcFirstLastPara="1" rIns="145225" wrap="square" tIns="14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ckwel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36" name="Google Shape;236;p4"/>
            <p:cNvSpPr/>
            <p:nvPr/>
          </p:nvSpPr>
          <p:spPr>
            <a:xfrm>
              <a:off x="1115909" y="2856996"/>
              <a:ext cx="2030400" cy="108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5225" lIns="145225" spcFirstLastPara="1" rIns="145225" wrap="square" tIns="145225">
              <a:noAutofit/>
            </a:bodyPr>
            <a:lstStyle/>
            <a:p>
              <a:pPr indent="0" lvl="0" marL="726305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70"/>
                <a:buFont typeface="Rockwell"/>
                <a:buNone/>
              </a:pPr>
              <a:r>
                <a:t/>
              </a:r>
              <a:endParaRPr b="0" i="0" sz="147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475603" lvl="0" marL="726305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771"/>
                <a:buFont typeface="Roboto"/>
                <a:buChar char="●"/>
              </a:pPr>
              <a:r>
                <a:rPr b="0" i="0" lang="es-MX" sz="2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Proceso ineficiente.</a:t>
              </a:r>
              <a:endParaRPr b="0" i="0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75603" lvl="0" marL="726305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771"/>
                <a:buFont typeface="Roboto"/>
                <a:buChar char="●"/>
              </a:pPr>
              <a:r>
                <a:rPr b="0" i="0" lang="es-MX" sz="2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Consume tiempo del usuario.</a:t>
              </a:r>
              <a:endParaRPr b="0" i="0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726305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70"/>
                <a:buFont typeface="Rockwell"/>
                <a:buNone/>
              </a:pPr>
              <a:r>
                <a:t/>
              </a:r>
              <a:endParaRPr b="0" i="0" sz="127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37" name="Google Shape;237;p4"/>
          <p:cNvGrpSpPr/>
          <p:nvPr/>
        </p:nvGrpSpPr>
        <p:grpSpPr>
          <a:xfrm>
            <a:off x="5368764" y="2103513"/>
            <a:ext cx="2971054" cy="5895697"/>
            <a:chOff x="1118231" y="283725"/>
            <a:chExt cx="2090819" cy="4076400"/>
          </a:xfrm>
        </p:grpSpPr>
        <p:sp>
          <p:nvSpPr>
            <p:cNvPr id="238" name="Google Shape;238;p4"/>
            <p:cNvSpPr/>
            <p:nvPr/>
          </p:nvSpPr>
          <p:spPr>
            <a:xfrm>
              <a:off x="1178650" y="283725"/>
              <a:ext cx="2030400" cy="4076400"/>
            </a:xfrm>
            <a:prstGeom prst="rect">
              <a:avLst/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145225" lIns="145225" spcFirstLastPara="1" rIns="145225" wrap="square" tIns="14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ckwel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39" name="Google Shape;239;p4"/>
            <p:cNvSpPr/>
            <p:nvPr/>
          </p:nvSpPr>
          <p:spPr>
            <a:xfrm>
              <a:off x="1118231" y="341749"/>
              <a:ext cx="2030400" cy="2490600"/>
            </a:xfrm>
            <a:prstGeom prst="rect">
              <a:avLst/>
            </a:prstGeom>
            <a:solidFill>
              <a:srgbClr val="FFFFFF"/>
            </a:solidFill>
            <a:ln cap="flat" cmpd="sng" w="30275">
              <a:solidFill>
                <a:srgbClr val="1D7E7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45225" lIns="145225" spcFirstLastPara="1" rIns="145225" wrap="square" tIns="14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ckwel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40" name="Google Shape;240;p4"/>
            <p:cNvSpPr/>
            <p:nvPr/>
          </p:nvSpPr>
          <p:spPr>
            <a:xfrm>
              <a:off x="1207173" y="1362949"/>
              <a:ext cx="1815000" cy="114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5225" lIns="145225" spcFirstLastPara="1" rIns="145225" wrap="square" tIns="14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D7E75"/>
                </a:buClr>
                <a:buSzPts val="1906"/>
                <a:buFont typeface="Roboto Medium"/>
                <a:buNone/>
              </a:pPr>
              <a:r>
                <a:rPr b="0" i="0" lang="es-MX" sz="2000" u="none" cap="none" strike="noStrike">
                  <a:solidFill>
                    <a:srgbClr val="1D7E75"/>
                  </a:solidFill>
                  <a:latin typeface="Arial"/>
                  <a:ea typeface="Arial"/>
                  <a:cs typeface="Arial"/>
                  <a:sym typeface="Arial"/>
                </a:rPr>
                <a:t>De Hogares chilenos desechan alimentos</a:t>
              </a:r>
              <a:r>
                <a:rPr b="0" i="0" lang="es-MX" sz="1906" u="none" cap="none" strike="noStrike">
                  <a:solidFill>
                    <a:srgbClr val="1D7E75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.</a:t>
              </a:r>
              <a:endParaRPr b="0" i="0" sz="1906" u="none" cap="none" strike="noStrike">
                <a:solidFill>
                  <a:srgbClr val="1D7E75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241" name="Google Shape;241;p4"/>
            <p:cNvSpPr/>
            <p:nvPr/>
          </p:nvSpPr>
          <p:spPr>
            <a:xfrm>
              <a:off x="1233850" y="470600"/>
              <a:ext cx="1815000" cy="67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5225" lIns="145225" spcFirstLastPara="1" rIns="145225" wrap="square" tIns="14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D7E75"/>
                </a:buClr>
                <a:buSzPts val="6354"/>
                <a:buFont typeface="Roboto"/>
                <a:buNone/>
              </a:pPr>
              <a:r>
                <a:rPr b="1" i="0" lang="es-MX" sz="6354" u="none" cap="none" strike="noStrike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92</a:t>
              </a:r>
              <a:r>
                <a:rPr b="0" i="0" lang="es-MX" sz="6354" u="none" cap="none" strike="noStrike">
                  <a:solidFill>
                    <a:srgbClr val="1D7E75"/>
                  </a:solidFill>
                  <a:latin typeface="Roboto Thin"/>
                  <a:ea typeface="Roboto Thin"/>
                  <a:cs typeface="Roboto Thin"/>
                  <a:sym typeface="Roboto Thin"/>
                </a:rPr>
                <a:t>%</a:t>
              </a:r>
              <a:endParaRPr b="0" i="0" sz="6354" u="none" cap="none" strike="noStrike">
                <a:solidFill>
                  <a:srgbClr val="1D7E75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242" name="Google Shape;242;p4"/>
            <p:cNvSpPr/>
            <p:nvPr/>
          </p:nvSpPr>
          <p:spPr>
            <a:xfrm rot="5400000">
              <a:off x="1938871" y="2785391"/>
              <a:ext cx="389100" cy="278100"/>
            </a:xfrm>
            <a:prstGeom prst="rightArrow">
              <a:avLst>
                <a:gd fmla="val 34239" name="adj1"/>
                <a:gd fmla="val 57035" name="adj2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145225" lIns="145225" spcFirstLastPara="1" rIns="145225" wrap="square" tIns="14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ckwel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43" name="Google Shape;243;p4"/>
            <p:cNvSpPr/>
            <p:nvPr/>
          </p:nvSpPr>
          <p:spPr>
            <a:xfrm>
              <a:off x="1118297" y="3172455"/>
              <a:ext cx="2030400" cy="108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5225" lIns="145225" spcFirstLastPara="1" rIns="145225" wrap="square" tIns="145225">
              <a:noAutofit/>
            </a:bodyPr>
            <a:lstStyle/>
            <a:p>
              <a:pPr indent="-475603" lvl="0" marL="726305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771"/>
                <a:buFont typeface="Arial"/>
                <a:buChar char="●"/>
              </a:pPr>
              <a:r>
                <a:rPr b="0" i="0" lang="es-MX" sz="2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3700 millones de kilos</a:t>
              </a:r>
              <a:endParaRPr b="0" i="0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726305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70"/>
                <a:buFont typeface="Roboto"/>
                <a:buNone/>
              </a:pPr>
              <a:r>
                <a:rPr b="0" i="0" lang="es-MX" sz="2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se desperdician en total al año</a:t>
              </a:r>
              <a:r>
                <a:rPr b="0" i="0" lang="es-MX" sz="177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i="0" sz="177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726305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70"/>
                <a:buFont typeface="Rockwell"/>
                <a:buNone/>
              </a:pPr>
              <a:r>
                <a:t/>
              </a:r>
              <a:endParaRPr b="0" i="0" sz="127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726305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70"/>
                <a:buFont typeface="Rockwell"/>
                <a:buNone/>
              </a:pPr>
              <a:r>
                <a:t/>
              </a:r>
              <a:endParaRPr b="0" i="0" sz="127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44" name="Google Shape;244;p4"/>
          <p:cNvGrpSpPr/>
          <p:nvPr/>
        </p:nvGrpSpPr>
        <p:grpSpPr>
          <a:xfrm>
            <a:off x="12666463" y="2103525"/>
            <a:ext cx="2971054" cy="5895697"/>
            <a:chOff x="1118231" y="283725"/>
            <a:chExt cx="2090819" cy="4076400"/>
          </a:xfrm>
        </p:grpSpPr>
        <p:sp>
          <p:nvSpPr>
            <p:cNvPr id="245" name="Google Shape;245;p4"/>
            <p:cNvSpPr/>
            <p:nvPr/>
          </p:nvSpPr>
          <p:spPr>
            <a:xfrm>
              <a:off x="1178650" y="283725"/>
              <a:ext cx="2030400" cy="4076400"/>
            </a:xfrm>
            <a:prstGeom prst="rect">
              <a:avLst/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145225" lIns="145225" spcFirstLastPara="1" rIns="145225" wrap="square" tIns="14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ckwel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46" name="Google Shape;246;p4"/>
            <p:cNvSpPr/>
            <p:nvPr/>
          </p:nvSpPr>
          <p:spPr>
            <a:xfrm>
              <a:off x="1118231" y="341749"/>
              <a:ext cx="2030400" cy="2490600"/>
            </a:xfrm>
            <a:prstGeom prst="rect">
              <a:avLst/>
            </a:prstGeom>
            <a:solidFill>
              <a:srgbClr val="FFFFFF"/>
            </a:solidFill>
            <a:ln cap="flat" cmpd="sng" w="30275">
              <a:solidFill>
                <a:srgbClr val="1D7E7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45225" lIns="145225" spcFirstLastPara="1" rIns="145225" wrap="square" tIns="14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ckwel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47" name="Google Shape;247;p4"/>
            <p:cNvSpPr/>
            <p:nvPr/>
          </p:nvSpPr>
          <p:spPr>
            <a:xfrm>
              <a:off x="1206258" y="1326558"/>
              <a:ext cx="1975200" cy="117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5225" lIns="145225" spcFirstLastPara="1" rIns="145225" wrap="square" tIns="14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D7E75"/>
                </a:buClr>
                <a:buSzPts val="1906"/>
                <a:buFont typeface="Roboto Medium"/>
                <a:buNone/>
              </a:pPr>
              <a:r>
                <a:rPr b="0" i="0" lang="es-MX" sz="2000" u="none" cap="none" strike="noStrike">
                  <a:solidFill>
                    <a:srgbClr val="1D7E75"/>
                  </a:solidFill>
                  <a:latin typeface="Arial"/>
                  <a:ea typeface="Arial"/>
                  <a:cs typeface="Arial"/>
                  <a:sym typeface="Arial"/>
                </a:rPr>
                <a:t>Falta de herramientas integradas </a:t>
              </a:r>
              <a:r>
                <a:rPr b="0" i="0" lang="es-MX" sz="1906" u="none" cap="none" strike="noStrike">
                  <a:solidFill>
                    <a:srgbClr val="1D7E75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.</a:t>
              </a:r>
              <a:endParaRPr b="0" i="0" sz="1906" u="none" cap="none" strike="noStrike">
                <a:solidFill>
                  <a:srgbClr val="1D7E75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6"/>
                <a:buFont typeface="Rockwell"/>
                <a:buNone/>
              </a:pPr>
              <a:r>
                <a:t/>
              </a:r>
              <a:endParaRPr b="0" i="0" sz="1906" u="none" cap="none" strike="noStrike">
                <a:solidFill>
                  <a:srgbClr val="1D7E75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248" name="Google Shape;248;p4"/>
            <p:cNvSpPr/>
            <p:nvPr/>
          </p:nvSpPr>
          <p:spPr>
            <a:xfrm>
              <a:off x="1233845" y="470598"/>
              <a:ext cx="1808400" cy="9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5225" lIns="145225" spcFirstLastPara="1" rIns="145225" wrap="square" tIns="14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D7E75"/>
                </a:buClr>
                <a:buSzPts val="3254"/>
                <a:buFont typeface="Roboto"/>
                <a:buNone/>
              </a:pPr>
              <a:r>
                <a:rPr b="1" i="0" lang="es-MX" sz="3200" u="none" cap="none" strike="noStrike">
                  <a:solidFill>
                    <a:srgbClr val="1D7E75"/>
                  </a:solidFill>
                  <a:latin typeface="Arial"/>
                  <a:ea typeface="Arial"/>
                  <a:cs typeface="Arial"/>
                  <a:sym typeface="Arial"/>
                </a:rPr>
                <a:t>Brecha tecnológica</a:t>
              </a:r>
              <a:endParaRPr b="0" i="0" sz="3200" u="none" cap="none" strike="noStrike">
                <a:solidFill>
                  <a:srgbClr val="1D7E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4"/>
            <p:cNvSpPr/>
            <p:nvPr/>
          </p:nvSpPr>
          <p:spPr>
            <a:xfrm rot="5400000">
              <a:off x="1938871" y="2785391"/>
              <a:ext cx="389100" cy="278100"/>
            </a:xfrm>
            <a:prstGeom prst="rightArrow">
              <a:avLst>
                <a:gd fmla="val 34239" name="adj1"/>
                <a:gd fmla="val 57035" name="adj2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145225" lIns="145225" spcFirstLastPara="1" rIns="145225" wrap="square" tIns="145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ckwel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50" name="Google Shape;250;p4"/>
            <p:cNvSpPr/>
            <p:nvPr/>
          </p:nvSpPr>
          <p:spPr>
            <a:xfrm>
              <a:off x="1118297" y="3172455"/>
              <a:ext cx="2030400" cy="108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5225" lIns="145225" spcFirstLastPara="1" rIns="145225" wrap="square" tIns="145225">
              <a:noAutofit/>
            </a:bodyPr>
            <a:lstStyle/>
            <a:p>
              <a:pPr indent="-475603" lvl="0" marL="726305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771"/>
                <a:buFont typeface="Arial"/>
                <a:buChar char="●"/>
              </a:pPr>
              <a:r>
                <a:rPr b="0" i="0" lang="es-MX" sz="2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Boleta.</a:t>
              </a:r>
              <a:endParaRPr b="0" i="0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75603" lvl="0" marL="726305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771"/>
                <a:buFont typeface="Arial"/>
                <a:buChar char="●"/>
              </a:pPr>
              <a:r>
                <a:rPr b="0" i="0" lang="es-MX" sz="2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Inventario.</a:t>
              </a:r>
              <a:endParaRPr b="0" i="0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75603" lvl="0" marL="726305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771"/>
                <a:buFont typeface="Arial"/>
                <a:buChar char="●"/>
              </a:pPr>
              <a:r>
                <a:rPr b="0" i="0" lang="es-MX" sz="2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Recetas</a:t>
              </a:r>
              <a:r>
                <a:rPr b="0" i="0" lang="es-MX" sz="177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i="0" sz="177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726305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70"/>
                <a:buFont typeface="Rockwell"/>
                <a:buNone/>
              </a:pPr>
              <a:r>
                <a:t/>
              </a:r>
              <a:endParaRPr b="0" i="0" sz="127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1" name="Google Shape;251;p4"/>
          <p:cNvGrpSpPr/>
          <p:nvPr/>
        </p:nvGrpSpPr>
        <p:grpSpPr>
          <a:xfrm>
            <a:off x="9039635" y="2103523"/>
            <a:ext cx="2971054" cy="5895697"/>
            <a:chOff x="1118231" y="283725"/>
            <a:chExt cx="2090819" cy="4076400"/>
          </a:xfrm>
        </p:grpSpPr>
        <p:sp>
          <p:nvSpPr>
            <p:cNvPr id="252" name="Google Shape;252;p4"/>
            <p:cNvSpPr/>
            <p:nvPr/>
          </p:nvSpPr>
          <p:spPr>
            <a:xfrm>
              <a:off x="1178650" y="283725"/>
              <a:ext cx="2030400" cy="4076400"/>
            </a:xfrm>
            <a:prstGeom prst="rect">
              <a:avLst/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145250" lIns="145250" spcFirstLastPara="1" rIns="145250" wrap="square" tIns="145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ckwel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53" name="Google Shape;253;p4"/>
            <p:cNvSpPr/>
            <p:nvPr/>
          </p:nvSpPr>
          <p:spPr>
            <a:xfrm>
              <a:off x="1118231" y="341749"/>
              <a:ext cx="2030400" cy="2490600"/>
            </a:xfrm>
            <a:prstGeom prst="rect">
              <a:avLst/>
            </a:prstGeom>
            <a:solidFill>
              <a:srgbClr val="FFFFFF"/>
            </a:solidFill>
            <a:ln cap="flat" cmpd="sng" w="30275">
              <a:solidFill>
                <a:srgbClr val="1D7E7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45250" lIns="145250" spcFirstLastPara="1" rIns="145250" wrap="square" tIns="145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ckwel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54" name="Google Shape;254;p4"/>
            <p:cNvSpPr/>
            <p:nvPr/>
          </p:nvSpPr>
          <p:spPr>
            <a:xfrm>
              <a:off x="1240647" y="1264050"/>
              <a:ext cx="1815000" cy="85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5250" lIns="145250" spcFirstLastPara="1" rIns="145250" wrap="square" tIns="145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D7E75"/>
                </a:buClr>
                <a:buSzPts val="1906"/>
                <a:buFont typeface="Roboto Medium"/>
                <a:buNone/>
              </a:pPr>
              <a:r>
                <a:rPr b="0" i="0" lang="es-MX" sz="2000" u="none" cap="none" strike="noStrike">
                  <a:solidFill>
                    <a:srgbClr val="1D7E75"/>
                  </a:solidFill>
                  <a:latin typeface="Arial"/>
                  <a:ea typeface="Arial"/>
                  <a:cs typeface="Arial"/>
                  <a:sym typeface="Arial"/>
                </a:rPr>
                <a:t>Pérdida económica estimada por persona al año.</a:t>
              </a:r>
              <a:endParaRPr b="0" i="0" sz="2000" u="none" cap="none" strike="noStrike">
                <a:solidFill>
                  <a:srgbClr val="1D7E7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4"/>
            <p:cNvSpPr/>
            <p:nvPr/>
          </p:nvSpPr>
          <p:spPr>
            <a:xfrm>
              <a:off x="1233929" y="544668"/>
              <a:ext cx="1815000" cy="67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5250" lIns="145250" spcFirstLastPara="1" rIns="145250" wrap="square" tIns="145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D7E75"/>
                </a:buClr>
                <a:buSzPts val="4154"/>
                <a:buFont typeface="Roboto"/>
                <a:buNone/>
              </a:pPr>
              <a:r>
                <a:rPr b="1" i="0" lang="es-MX" sz="4154" u="none" cap="none" strike="noStrike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$200.000</a:t>
              </a:r>
              <a:endParaRPr b="0" i="0" sz="4154" u="none" cap="none" strike="noStrike">
                <a:solidFill>
                  <a:srgbClr val="1D7E75"/>
                </a:solidFill>
                <a:latin typeface="Roboto Thin"/>
                <a:ea typeface="Roboto Thin"/>
                <a:cs typeface="Roboto Thin"/>
                <a:sym typeface="Roboto Thin"/>
              </a:endParaRPr>
            </a:p>
          </p:txBody>
        </p:sp>
        <p:sp>
          <p:nvSpPr>
            <p:cNvPr id="256" name="Google Shape;256;p4"/>
            <p:cNvSpPr/>
            <p:nvPr/>
          </p:nvSpPr>
          <p:spPr>
            <a:xfrm rot="5400000">
              <a:off x="1938871" y="2785391"/>
              <a:ext cx="389100" cy="278100"/>
            </a:xfrm>
            <a:prstGeom prst="rightArrow">
              <a:avLst>
                <a:gd fmla="val 34239" name="adj1"/>
                <a:gd fmla="val 57035" name="adj2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145250" lIns="145250" spcFirstLastPara="1" rIns="145250" wrap="square" tIns="1452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ckwel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57" name="Google Shape;257;p4"/>
            <p:cNvSpPr/>
            <p:nvPr/>
          </p:nvSpPr>
          <p:spPr>
            <a:xfrm>
              <a:off x="1132952" y="2994674"/>
              <a:ext cx="2030400" cy="108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5250" lIns="145250" spcFirstLastPara="1" rIns="145250" wrap="square" tIns="14525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70"/>
                <a:buFont typeface="Rockwell"/>
                <a:buNone/>
              </a:pPr>
              <a:r>
                <a:t/>
              </a:r>
              <a:endParaRPr b="0" i="0" sz="147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471109" lvl="0" marL="72633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700"/>
                <a:buFont typeface="Roboto"/>
                <a:buChar char="●"/>
              </a:pPr>
              <a:r>
                <a:rPr b="0" i="0" lang="es-MX" sz="2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Compras duplicadas.</a:t>
              </a:r>
              <a:endParaRPr b="0" i="0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43867" lvl="0" marL="72633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71"/>
                <a:buFont typeface="Roboto"/>
                <a:buChar char="●"/>
              </a:pPr>
              <a:r>
                <a:rPr b="0" i="0" lang="es-MX" sz="2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Desperdicio evitable.</a:t>
              </a:r>
              <a:endParaRPr b="0" i="0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72633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70"/>
                <a:buFont typeface="Rockwell"/>
                <a:buNone/>
              </a:pPr>
              <a:r>
                <a:t/>
              </a:r>
              <a:endParaRPr b="0" i="0" sz="127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g38647092fc0_0_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37446" y="0"/>
            <a:ext cx="4750553" cy="3956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g38647092fc0_0_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7492844"/>
            <a:ext cx="5846531" cy="27941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g38647092fc0_0_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649044" y="8770218"/>
            <a:ext cx="4527360" cy="1011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g38647092fc0_0_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2615" y="0"/>
            <a:ext cx="1011110" cy="4162423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g38647092fc0_0_39"/>
          <p:cNvSpPr txBox="1"/>
          <p:nvPr>
            <p:ph type="title"/>
          </p:nvPr>
        </p:nvSpPr>
        <p:spPr>
          <a:xfrm>
            <a:off x="7020899" y="630375"/>
            <a:ext cx="42462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B400"/>
              </a:buClr>
              <a:buSzPts val="1400"/>
              <a:buFont typeface="Arial"/>
              <a:buNone/>
            </a:pPr>
            <a:r>
              <a:rPr lang="es-MX" sz="5400" u="sng">
                <a:solidFill>
                  <a:srgbClr val="F4B400"/>
                </a:solidFill>
                <a:latin typeface="Arial"/>
                <a:ea typeface="Arial"/>
                <a:cs typeface="Arial"/>
                <a:sym typeface="Arial"/>
              </a:rPr>
              <a:t>OBJETIVOS</a:t>
            </a:r>
            <a:endParaRPr sz="5400" u="sng">
              <a:solidFill>
                <a:srgbClr val="F4B4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7" name="Google Shape;267;g38647092fc0_0_39"/>
          <p:cNvGrpSpPr/>
          <p:nvPr/>
        </p:nvGrpSpPr>
        <p:grpSpPr>
          <a:xfrm>
            <a:off x="5080842" y="3613012"/>
            <a:ext cx="3655800" cy="4799400"/>
            <a:chOff x="2744109" y="1597469"/>
            <a:chExt cx="1827900" cy="2399700"/>
          </a:xfrm>
        </p:grpSpPr>
        <p:sp>
          <p:nvSpPr>
            <p:cNvPr id="268" name="Google Shape;268;g38647092fc0_0_39"/>
            <p:cNvSpPr/>
            <p:nvPr/>
          </p:nvSpPr>
          <p:spPr>
            <a:xfrm rot="5400000">
              <a:off x="2458209" y="1883369"/>
              <a:ext cx="2399700" cy="1827900"/>
            </a:xfrm>
            <a:prstGeom prst="rightArrowCallout">
              <a:avLst>
                <a:gd fmla="val 9283" name="adj1"/>
                <a:gd fmla="val 13570" name="adj2"/>
                <a:gd fmla="val 16082" name="adj3"/>
                <a:gd fmla="val 81236" name="adj4"/>
              </a:avLst>
            </a:prstGeom>
            <a:solidFill>
              <a:srgbClr val="E69138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ckwel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69" name="Google Shape;269;g38647092fc0_0_39"/>
            <p:cNvSpPr/>
            <p:nvPr/>
          </p:nvSpPr>
          <p:spPr>
            <a:xfrm flipH="1" rot="10800000">
              <a:off x="2834043" y="1687411"/>
              <a:ext cx="1649400" cy="1769700"/>
            </a:xfrm>
            <a:prstGeom prst="snip1Rect">
              <a:avLst>
                <a:gd fmla="val 0" name="adj"/>
              </a:avLst>
            </a:prstGeom>
            <a:solidFill>
              <a:srgbClr val="E69138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ckwel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70" name="Google Shape;270;g38647092fc0_0_39"/>
            <p:cNvSpPr txBox="1"/>
            <p:nvPr/>
          </p:nvSpPr>
          <p:spPr>
            <a:xfrm>
              <a:off x="2966525" y="1708631"/>
              <a:ext cx="1383000" cy="1476000"/>
            </a:xfrm>
            <a:prstGeom prst="rect">
              <a:avLst/>
            </a:prstGeom>
            <a:solidFill>
              <a:srgbClr val="E69138"/>
            </a:solidFill>
            <a:ln>
              <a:noFill/>
            </a:ln>
          </p:spPr>
          <p:txBody>
            <a:bodyPr anchorCtr="0" anchor="t" bIns="182850" lIns="182850" spcFirstLastPara="1" rIns="182850" wrap="square" tIns="18285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00"/>
                <a:buFont typeface="Rockwell"/>
                <a:buNone/>
              </a:pPr>
              <a:r>
                <a:rPr b="1" i="0" lang="es-MX" sz="2200" u="none" cap="none" strike="noStrike">
                  <a:solidFill>
                    <a:srgbClr val="FFFFFF"/>
                  </a:solidFill>
                  <a:latin typeface="Rockwell"/>
                  <a:ea typeface="Rockwell"/>
                  <a:cs typeface="Rockwell"/>
                  <a:sym typeface="Rockwell"/>
                </a:rPr>
                <a:t>Optimizar</a:t>
              </a:r>
              <a:endParaRPr b="0" i="0" sz="16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3200"/>
                </a:spcAft>
                <a:buClr>
                  <a:srgbClr val="FFFFFF"/>
                </a:buClr>
                <a:buSzPts val="1600"/>
                <a:buFont typeface="Rockwell"/>
                <a:buNone/>
              </a:pPr>
              <a:r>
                <a:rPr b="0" i="0" lang="es-MX" sz="2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Gestión económica familiar a través de compras y ahorro inteligente.</a:t>
              </a:r>
              <a:endPara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1" name="Google Shape;271;g38647092fc0_0_39"/>
          <p:cNvGrpSpPr/>
          <p:nvPr/>
        </p:nvGrpSpPr>
        <p:grpSpPr>
          <a:xfrm>
            <a:off x="8736643" y="2693460"/>
            <a:ext cx="3655800" cy="4799400"/>
            <a:chOff x="4572009" y="1146343"/>
            <a:chExt cx="1827900" cy="2399700"/>
          </a:xfrm>
        </p:grpSpPr>
        <p:sp>
          <p:nvSpPr>
            <p:cNvPr id="272" name="Google Shape;272;g38647092fc0_0_39"/>
            <p:cNvSpPr/>
            <p:nvPr/>
          </p:nvSpPr>
          <p:spPr>
            <a:xfrm rot="-5400000">
              <a:off x="4286109" y="1432243"/>
              <a:ext cx="2399700" cy="1827900"/>
            </a:xfrm>
            <a:prstGeom prst="rightArrowCallout">
              <a:avLst>
                <a:gd fmla="val 9283" name="adj1"/>
                <a:gd fmla="val 13570" name="adj2"/>
                <a:gd fmla="val 16082" name="adj3"/>
                <a:gd fmla="val 81236" name="adj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ckwel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73" name="Google Shape;273;g38647092fc0_0_39"/>
            <p:cNvSpPr/>
            <p:nvPr/>
          </p:nvSpPr>
          <p:spPr>
            <a:xfrm flipH="1">
              <a:off x="4660575" y="1686400"/>
              <a:ext cx="1649400" cy="1769700"/>
            </a:xfrm>
            <a:prstGeom prst="snip1Rect">
              <a:avLst>
                <a:gd fmla="val 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ckwel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74" name="Google Shape;274;g38647092fc0_0_39"/>
            <p:cNvSpPr txBox="1"/>
            <p:nvPr/>
          </p:nvSpPr>
          <p:spPr>
            <a:xfrm>
              <a:off x="4794425" y="1795520"/>
              <a:ext cx="1383000" cy="1476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182850" lIns="182850" spcFirstLastPara="1" rIns="182850" wrap="square" tIns="18285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00"/>
                <a:buFont typeface="Rockwell"/>
                <a:buNone/>
              </a:pPr>
              <a:r>
                <a:rPr b="1" i="0" lang="es-MX" sz="2200" u="none" cap="none" strike="noStrike">
                  <a:solidFill>
                    <a:srgbClr val="FFFFFF"/>
                  </a:solidFill>
                  <a:latin typeface="Rockwell"/>
                  <a:ea typeface="Rockwell"/>
                  <a:cs typeface="Rockwell"/>
                  <a:sym typeface="Rockwell"/>
                </a:rPr>
                <a:t>Desarrollar</a:t>
              </a:r>
              <a:endParaRPr b="0" i="0" sz="16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3200"/>
                </a:spcAft>
                <a:buClr>
                  <a:srgbClr val="FFFFFF"/>
                </a:buClr>
                <a:buSzPts val="1600"/>
                <a:buFont typeface="Rockwell"/>
                <a:buNone/>
              </a:pPr>
              <a:r>
                <a:rPr b="0" i="0" lang="es-MX" sz="2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Plataforma móvil escalable y robusta, integrando OCR e IA.</a:t>
              </a:r>
              <a:endPara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5" name="Google Shape;275;g38647092fc0_0_39"/>
          <p:cNvGrpSpPr/>
          <p:nvPr/>
        </p:nvGrpSpPr>
        <p:grpSpPr>
          <a:xfrm>
            <a:off x="12437067" y="3613012"/>
            <a:ext cx="3655800" cy="4799400"/>
            <a:chOff x="6400059" y="1597469"/>
            <a:chExt cx="1827900" cy="2399700"/>
          </a:xfrm>
        </p:grpSpPr>
        <p:sp>
          <p:nvSpPr>
            <p:cNvPr id="276" name="Google Shape;276;g38647092fc0_0_39"/>
            <p:cNvSpPr/>
            <p:nvPr/>
          </p:nvSpPr>
          <p:spPr>
            <a:xfrm rot="5400000">
              <a:off x="6114159" y="1883369"/>
              <a:ext cx="2399700" cy="1827900"/>
            </a:xfrm>
            <a:prstGeom prst="rightArrowCallout">
              <a:avLst>
                <a:gd fmla="val 9283" name="adj1"/>
                <a:gd fmla="val 13570" name="adj2"/>
                <a:gd fmla="val 16082" name="adj3"/>
                <a:gd fmla="val 81236" name="adj4"/>
              </a:avLst>
            </a:prstGeom>
            <a:solidFill>
              <a:srgbClr val="0B713F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ckwel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77" name="Google Shape;277;g38647092fc0_0_39"/>
            <p:cNvSpPr/>
            <p:nvPr/>
          </p:nvSpPr>
          <p:spPr>
            <a:xfrm flipH="1" rot="10800000">
              <a:off x="6489993" y="1687411"/>
              <a:ext cx="1649400" cy="1769700"/>
            </a:xfrm>
            <a:prstGeom prst="snip1Rect">
              <a:avLst>
                <a:gd fmla="val 0" name="adj"/>
              </a:avLst>
            </a:prstGeom>
            <a:solidFill>
              <a:srgbClr val="0B713F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ckwel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78" name="Google Shape;278;g38647092fc0_0_39"/>
            <p:cNvSpPr txBox="1"/>
            <p:nvPr/>
          </p:nvSpPr>
          <p:spPr>
            <a:xfrm>
              <a:off x="6626771" y="1769035"/>
              <a:ext cx="1383000" cy="1476000"/>
            </a:xfrm>
            <a:prstGeom prst="rect">
              <a:avLst/>
            </a:prstGeom>
            <a:solidFill>
              <a:srgbClr val="0B713F"/>
            </a:solidFill>
            <a:ln>
              <a:noFill/>
            </a:ln>
          </p:spPr>
          <p:txBody>
            <a:bodyPr anchorCtr="0" anchor="t" bIns="182850" lIns="182850" spcFirstLastPara="1" rIns="182850" wrap="square" tIns="18285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00"/>
                <a:buFont typeface="Rockwell"/>
                <a:buNone/>
              </a:pPr>
              <a:r>
                <a:rPr b="1" i="0" lang="es-MX" sz="2200" u="none" cap="none" strike="noStrike">
                  <a:solidFill>
                    <a:srgbClr val="FFFFFF"/>
                  </a:solidFill>
                  <a:latin typeface="Rockwell"/>
                  <a:ea typeface="Rockwell"/>
                  <a:cs typeface="Rockwell"/>
                  <a:sym typeface="Rockwell"/>
                </a:rPr>
                <a:t>Proveer</a:t>
              </a:r>
              <a:endParaRPr b="0" i="0" sz="16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3200"/>
                </a:spcAft>
                <a:buClr>
                  <a:srgbClr val="FFFFFF"/>
                </a:buClr>
                <a:buSzPts val="1600"/>
                <a:buFont typeface="Rockwell"/>
                <a:buNone/>
              </a:pPr>
              <a:r>
                <a:rPr b="0" i="0" lang="es-MX" sz="2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Solución innovadora e intuitiva para la planificación de inventario y alimentación.</a:t>
              </a:r>
              <a:endPara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9" name="Google Shape;279;g38647092fc0_0_39"/>
          <p:cNvGrpSpPr/>
          <p:nvPr/>
        </p:nvGrpSpPr>
        <p:grpSpPr>
          <a:xfrm>
            <a:off x="1425043" y="2693460"/>
            <a:ext cx="3655800" cy="4799400"/>
            <a:chOff x="916059" y="1146343"/>
            <a:chExt cx="1827900" cy="2399700"/>
          </a:xfrm>
        </p:grpSpPr>
        <p:sp>
          <p:nvSpPr>
            <p:cNvPr id="280" name="Google Shape;280;g38647092fc0_0_39"/>
            <p:cNvSpPr/>
            <p:nvPr/>
          </p:nvSpPr>
          <p:spPr>
            <a:xfrm rot="-5400000">
              <a:off x="630159" y="1432243"/>
              <a:ext cx="2399700" cy="1827900"/>
            </a:xfrm>
            <a:prstGeom prst="rightArrowCallout">
              <a:avLst>
                <a:gd fmla="val 9283" name="adj1"/>
                <a:gd fmla="val 13570" name="adj2"/>
                <a:gd fmla="val 16082" name="adj3"/>
                <a:gd fmla="val 81236" name="adj4"/>
              </a:avLst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ckwel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81" name="Google Shape;281;g38647092fc0_0_39"/>
            <p:cNvSpPr/>
            <p:nvPr/>
          </p:nvSpPr>
          <p:spPr>
            <a:xfrm flipH="1">
              <a:off x="1004625" y="1686400"/>
              <a:ext cx="1649400" cy="1769700"/>
            </a:xfrm>
            <a:prstGeom prst="snip1Rect">
              <a:avLst>
                <a:gd fmla="val 0" name="adj"/>
              </a:avLst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182850" lIns="182850" spcFirstLastPara="1" rIns="182850" wrap="square" tIns="18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Rockwel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82" name="Google Shape;282;g38647092fc0_0_39"/>
            <p:cNvSpPr txBox="1"/>
            <p:nvPr/>
          </p:nvSpPr>
          <p:spPr>
            <a:xfrm>
              <a:off x="1138509" y="1721081"/>
              <a:ext cx="1383000" cy="1476000"/>
            </a:xfrm>
            <a:prstGeom prst="rect">
              <a:avLst/>
            </a:prstGeom>
            <a:solidFill>
              <a:srgbClr val="B7B7B7"/>
            </a:solidFill>
            <a:ln>
              <a:noFill/>
            </a:ln>
          </p:spPr>
          <p:txBody>
            <a:bodyPr anchorCtr="0" anchor="t" bIns="182850" lIns="182850" spcFirstLastPara="1" rIns="182850" wrap="square" tIns="182850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200"/>
                <a:buFont typeface="Rockwell"/>
                <a:buNone/>
              </a:pPr>
              <a:r>
                <a:rPr b="1" i="0" lang="es-MX" sz="2200" u="none" cap="none" strike="noStrike">
                  <a:solidFill>
                    <a:srgbClr val="FFFFFF"/>
                  </a:solidFill>
                  <a:latin typeface="Rockwell"/>
                  <a:ea typeface="Rockwell"/>
                  <a:cs typeface="Rockwell"/>
                  <a:sym typeface="Rockwell"/>
                </a:rPr>
                <a:t>Mitigar</a:t>
              </a:r>
              <a:endParaRPr b="0" i="0" sz="16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3200"/>
                </a:spcAft>
                <a:buClr>
                  <a:srgbClr val="FFFFFF"/>
                </a:buClr>
                <a:buSzPts val="1600"/>
                <a:buFont typeface="Rockwell"/>
                <a:buNone/>
              </a:pPr>
              <a:r>
                <a:rPr b="0" i="0" lang="es-MX" sz="2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Impacto económico y ambiental por el desperdicio alimentario en chile.</a:t>
              </a:r>
              <a:endPara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g3865c3a86bd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37446" y="0"/>
            <a:ext cx="4750553" cy="3956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g3865c3a86bd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7492844"/>
            <a:ext cx="5846531" cy="27941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g3865c3a86bd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649044" y="8770218"/>
            <a:ext cx="4527360" cy="1011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g3865c3a86bd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2615" y="0"/>
            <a:ext cx="1011110" cy="4162423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g3865c3a86bd_0_0"/>
          <p:cNvSpPr txBox="1"/>
          <p:nvPr>
            <p:ph type="title"/>
          </p:nvPr>
        </p:nvSpPr>
        <p:spPr>
          <a:xfrm>
            <a:off x="5964000" y="550625"/>
            <a:ext cx="6360000" cy="10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normAutofit fontScale="90000"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B400"/>
              </a:buClr>
              <a:buSzPts val="1260"/>
              <a:buFont typeface="Arial"/>
              <a:buNone/>
            </a:pPr>
            <a:r>
              <a:rPr lang="es-MX" sz="6000">
                <a:solidFill>
                  <a:srgbClr val="F4B400"/>
                </a:solidFill>
                <a:latin typeface="Arial"/>
                <a:ea typeface="Arial"/>
                <a:cs typeface="Arial"/>
                <a:sym typeface="Arial"/>
              </a:rPr>
              <a:t>REQUERIMIENTOS</a:t>
            </a:r>
            <a:endParaRPr sz="6000"/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925"/>
              <a:buFont typeface="Trebuchet MS"/>
              <a:buNone/>
            </a:pPr>
            <a:r>
              <a:t/>
            </a:r>
            <a:endParaRPr sz="5400">
              <a:solidFill>
                <a:srgbClr val="F4B4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925"/>
              <a:buFont typeface="Trebuchet MS"/>
              <a:buNone/>
            </a:pPr>
            <a:r>
              <a:t/>
            </a:r>
            <a:endParaRPr sz="5400">
              <a:solidFill>
                <a:srgbClr val="F4B4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l">
              <a:lnSpc>
                <a:spcPct val="151300"/>
              </a:lnSpc>
              <a:spcBef>
                <a:spcPts val="509"/>
              </a:spcBef>
              <a:spcAft>
                <a:spcPts val="0"/>
              </a:spcAft>
              <a:buClr>
                <a:schemeClr val="lt1"/>
              </a:buClr>
              <a:buSzPct val="52830"/>
              <a:buFont typeface="Trebuchet MS"/>
              <a:buNone/>
            </a:pPr>
            <a:r>
              <a:t/>
            </a:r>
            <a:endParaRPr sz="265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92" name="Google Shape;292;g3865c3a86bd_0_0"/>
          <p:cNvGrpSpPr/>
          <p:nvPr/>
        </p:nvGrpSpPr>
        <p:grpSpPr>
          <a:xfrm>
            <a:off x="2516301" y="3244523"/>
            <a:ext cx="4414678" cy="4938130"/>
            <a:chOff x="2029203" y="307759"/>
            <a:chExt cx="3372300" cy="4684688"/>
          </a:xfrm>
        </p:grpSpPr>
        <p:sp>
          <p:nvSpPr>
            <p:cNvPr id="293" name="Google Shape;293;g3865c3a86bd_0_0"/>
            <p:cNvSpPr/>
            <p:nvPr/>
          </p:nvSpPr>
          <p:spPr>
            <a:xfrm>
              <a:off x="2029203" y="307784"/>
              <a:ext cx="3372300" cy="1109400"/>
            </a:xfrm>
            <a:prstGeom prst="chevron">
              <a:avLst>
                <a:gd fmla="val 50000" name="adj"/>
              </a:avLst>
            </a:prstGeom>
            <a:solidFill>
              <a:srgbClr val="428CB8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g3865c3a86bd_0_0"/>
            <p:cNvSpPr txBox="1"/>
            <p:nvPr/>
          </p:nvSpPr>
          <p:spPr>
            <a:xfrm>
              <a:off x="2429458" y="307759"/>
              <a:ext cx="2300100" cy="11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25400" spcFirstLastPara="1" rIns="0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s-MX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Pérdida económica directa.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g3865c3a86bd_0_0"/>
            <p:cNvSpPr/>
            <p:nvPr/>
          </p:nvSpPr>
          <p:spPr>
            <a:xfrm>
              <a:off x="2095116" y="2600909"/>
              <a:ext cx="3306300" cy="1109400"/>
            </a:xfrm>
            <a:prstGeom prst="chevron">
              <a:avLst>
                <a:gd fmla="val 50000" name="adj"/>
              </a:avLst>
            </a:prstGeom>
            <a:solidFill>
              <a:srgbClr val="5E9CC6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g3865c3a86bd_0_0"/>
            <p:cNvSpPr txBox="1"/>
            <p:nvPr/>
          </p:nvSpPr>
          <p:spPr>
            <a:xfrm>
              <a:off x="2649816" y="2600909"/>
              <a:ext cx="2196900" cy="11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25400" spcFirstLastPara="1" rIns="0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s-MX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Gastos  innecesarios.</a:t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g3865c3a86bd_0_0"/>
            <p:cNvSpPr/>
            <p:nvPr/>
          </p:nvSpPr>
          <p:spPr>
            <a:xfrm>
              <a:off x="2081172" y="1417197"/>
              <a:ext cx="3290400" cy="1109400"/>
            </a:xfrm>
            <a:prstGeom prst="chevron">
              <a:avLst>
                <a:gd fmla="val 50000" name="adj"/>
              </a:avLst>
            </a:prstGeom>
            <a:solidFill>
              <a:srgbClr val="7DADD1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g3865c3a86bd_0_0"/>
            <p:cNvSpPr txBox="1"/>
            <p:nvPr/>
          </p:nvSpPr>
          <p:spPr>
            <a:xfrm>
              <a:off x="2532666" y="1517466"/>
              <a:ext cx="2431200" cy="11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25400" spcFirstLastPara="1" rIns="0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s-MX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Desperdicio de comida.</a:t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g3865c3a86bd_0_0"/>
            <p:cNvSpPr/>
            <p:nvPr/>
          </p:nvSpPr>
          <p:spPr>
            <a:xfrm>
              <a:off x="2095116" y="3796678"/>
              <a:ext cx="3306300" cy="1109400"/>
            </a:xfrm>
            <a:prstGeom prst="chevron">
              <a:avLst>
                <a:gd fmla="val 50000" name="adj"/>
              </a:avLst>
            </a:prstGeom>
            <a:solidFill>
              <a:srgbClr val="9DBFDC"/>
            </a:solidFill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g3865c3a86bd_0_0"/>
            <p:cNvSpPr txBox="1"/>
            <p:nvPr/>
          </p:nvSpPr>
          <p:spPr>
            <a:xfrm>
              <a:off x="2803176" y="3883047"/>
              <a:ext cx="1990500" cy="11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325" lIns="26650" spcFirstLastPara="1" rIns="0" wrap="square" tIns="1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Arial"/>
                <a:buNone/>
              </a:pPr>
              <a:r>
                <a:rPr b="0" i="0" lang="es-MX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Falta de gestión ,Inventario ineficiente.</a:t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1" name="Google Shape;301;g3865c3a86bd_0_0"/>
          <p:cNvSpPr txBox="1"/>
          <p:nvPr/>
        </p:nvSpPr>
        <p:spPr>
          <a:xfrm>
            <a:off x="12367575" y="2423376"/>
            <a:ext cx="294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MX" sz="2800" u="sng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Usuarios Clave : 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865c3a86bd_0_0"/>
          <p:cNvSpPr txBox="1"/>
          <p:nvPr/>
        </p:nvSpPr>
        <p:spPr>
          <a:xfrm>
            <a:off x="2516295" y="2423381"/>
            <a:ext cx="3849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MX" sz="28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Problemas detectados: </a:t>
            </a:r>
            <a:endParaRPr b="0" i="0" sz="28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3" name="Google Shape;303;g3865c3a86bd_0_0"/>
          <p:cNvGrpSpPr/>
          <p:nvPr/>
        </p:nvGrpSpPr>
        <p:grpSpPr>
          <a:xfrm>
            <a:off x="7716801" y="3319749"/>
            <a:ext cx="7975757" cy="4363183"/>
            <a:chOff x="-6079095" y="195667"/>
            <a:chExt cx="7259928" cy="3263657"/>
          </a:xfrm>
        </p:grpSpPr>
        <p:sp>
          <p:nvSpPr>
            <p:cNvPr id="304" name="Google Shape;304;g3865c3a86bd_0_0"/>
            <p:cNvSpPr/>
            <p:nvPr/>
          </p:nvSpPr>
          <p:spPr>
            <a:xfrm>
              <a:off x="-6079095" y="2535924"/>
              <a:ext cx="4096200" cy="923400"/>
            </a:xfrm>
            <a:prstGeom prst="rightArrow">
              <a:avLst>
                <a:gd fmla="val 75000" name="adj1"/>
                <a:gd fmla="val 50000" name="adj2"/>
              </a:avLst>
            </a:prstGeom>
            <a:solidFill>
              <a:srgbClr val="CDDEEC">
                <a:alpha val="88630"/>
              </a:srgbClr>
            </a:solidFill>
            <a:ln cap="flat" cmpd="sng" w="25475">
              <a:solidFill>
                <a:srgbClr val="CDDEEC">
                  <a:alpha val="8863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2225" lIns="122225" spcFirstLastPara="1" rIns="122225" wrap="square" tIns="122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72"/>
                <a:buFont typeface="Arial"/>
                <a:buNone/>
              </a:pPr>
              <a:r>
                <a:t/>
              </a:r>
              <a:endParaRPr b="0" i="0" sz="18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g3865c3a86bd_0_0"/>
            <p:cNvSpPr/>
            <p:nvPr/>
          </p:nvSpPr>
          <p:spPr>
            <a:xfrm>
              <a:off x="-1744762" y="195667"/>
              <a:ext cx="2730900" cy="923400"/>
            </a:xfrm>
            <a:prstGeom prst="roundRect">
              <a:avLst>
                <a:gd fmla="val 16667" name="adj"/>
              </a:avLst>
            </a:prstGeom>
            <a:solidFill>
              <a:srgbClr val="4A9CCA"/>
            </a:solidFill>
            <a:ln cap="flat" cmpd="sng" w="254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2225" lIns="122225" spcFirstLastPara="1" rIns="122225" wrap="square" tIns="122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72"/>
                <a:buFont typeface="Arial"/>
                <a:buNone/>
              </a:pPr>
              <a:r>
                <a:t/>
              </a:r>
              <a:endParaRPr b="0" i="0" sz="18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g3865c3a86bd_0_0"/>
            <p:cNvSpPr txBox="1"/>
            <p:nvPr/>
          </p:nvSpPr>
          <p:spPr>
            <a:xfrm>
              <a:off x="-1778599" y="365320"/>
              <a:ext cx="2798700" cy="83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1100" lIns="122225" spcFirstLastPara="1" rIns="122225" wrap="square" tIns="61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208"/>
                <a:buFont typeface="Arial"/>
                <a:buNone/>
              </a:pPr>
              <a:r>
                <a:rPr b="0" i="0" lang="es-MX" sz="3208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Jefes de</a:t>
              </a:r>
              <a:r>
                <a:rPr lang="es-MX" sz="3208">
                  <a:solidFill>
                    <a:schemeClr val="lt1"/>
                  </a:solidFill>
                </a:rPr>
                <a:t> </a:t>
              </a:r>
              <a:r>
                <a:rPr b="0" i="0" lang="es-MX" sz="3208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hogar		    </a:t>
              </a:r>
              <a:endParaRPr b="0" i="0" sz="3208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g3865c3a86bd_0_0"/>
            <p:cNvSpPr/>
            <p:nvPr/>
          </p:nvSpPr>
          <p:spPr>
            <a:xfrm>
              <a:off x="-6079092" y="320177"/>
              <a:ext cx="4096200" cy="923400"/>
            </a:xfrm>
            <a:prstGeom prst="rightArrow">
              <a:avLst>
                <a:gd fmla="val 75000" name="adj1"/>
                <a:gd fmla="val 50000" name="adj2"/>
              </a:avLst>
            </a:prstGeom>
            <a:solidFill>
              <a:srgbClr val="CED0EB">
                <a:alpha val="88630"/>
              </a:srgbClr>
            </a:solidFill>
            <a:ln cap="flat" cmpd="sng" w="25475">
              <a:solidFill>
                <a:srgbClr val="CED0EB">
                  <a:alpha val="8863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2225" lIns="122225" spcFirstLastPara="1" rIns="122225" wrap="square" tIns="122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72"/>
                <a:buFont typeface="Arial"/>
                <a:buNone/>
              </a:pPr>
              <a:r>
                <a:t/>
              </a:r>
              <a:endParaRPr b="0" i="0" sz="18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g3865c3a86bd_0_0"/>
            <p:cNvSpPr/>
            <p:nvPr/>
          </p:nvSpPr>
          <p:spPr>
            <a:xfrm>
              <a:off x="-1744728" y="1243586"/>
              <a:ext cx="2730900" cy="923400"/>
            </a:xfrm>
            <a:prstGeom prst="roundRect">
              <a:avLst>
                <a:gd fmla="val 16667" name="adj"/>
              </a:avLst>
            </a:prstGeom>
            <a:solidFill>
              <a:srgbClr val="575DC9"/>
            </a:solidFill>
            <a:ln cap="flat" cmpd="sng" w="254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2225" lIns="122225" spcFirstLastPara="1" rIns="122225" wrap="square" tIns="122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72"/>
                <a:buFont typeface="Arial"/>
                <a:buNone/>
              </a:pPr>
              <a:r>
                <a:t/>
              </a:r>
              <a:endParaRPr b="0" i="0" sz="18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g3865c3a86bd_0_0"/>
            <p:cNvSpPr txBox="1"/>
            <p:nvPr/>
          </p:nvSpPr>
          <p:spPr>
            <a:xfrm>
              <a:off x="-1744766" y="1403729"/>
              <a:ext cx="2925600" cy="83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1100" lIns="122225" spcFirstLastPara="1" rIns="122225" wrap="square" tIns="61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208"/>
                <a:buFont typeface="Arial"/>
                <a:buNone/>
              </a:pPr>
              <a:r>
                <a:rPr b="0" i="0" lang="es-MX" sz="3208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Trabajadores		    </a:t>
              </a:r>
              <a:endParaRPr b="0" i="0" sz="3208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g3865c3a86bd_0_0"/>
            <p:cNvSpPr/>
            <p:nvPr/>
          </p:nvSpPr>
          <p:spPr>
            <a:xfrm>
              <a:off x="-6012228" y="1405479"/>
              <a:ext cx="4096200" cy="923400"/>
            </a:xfrm>
            <a:prstGeom prst="rightArrow">
              <a:avLst>
                <a:gd fmla="val 75000" name="adj1"/>
                <a:gd fmla="val 50000" name="adj2"/>
              </a:avLst>
            </a:prstGeom>
            <a:solidFill>
              <a:srgbClr val="DBD0EA">
                <a:alpha val="88630"/>
              </a:srgbClr>
            </a:solidFill>
            <a:ln cap="flat" cmpd="sng" w="25475">
              <a:solidFill>
                <a:srgbClr val="DBD0EA">
                  <a:alpha val="8863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2225" lIns="122225" spcFirstLastPara="1" rIns="122225" wrap="square" tIns="122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72"/>
                <a:buFont typeface="Arial"/>
                <a:buNone/>
              </a:pPr>
              <a:r>
                <a:t/>
              </a:r>
              <a:endParaRPr b="0" i="0" sz="18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g3865c3a86bd_0_0"/>
            <p:cNvSpPr/>
            <p:nvPr/>
          </p:nvSpPr>
          <p:spPr>
            <a:xfrm>
              <a:off x="-1744705" y="2442124"/>
              <a:ext cx="2730900" cy="923400"/>
            </a:xfrm>
            <a:prstGeom prst="roundRect">
              <a:avLst>
                <a:gd fmla="val 16667" name="adj"/>
              </a:avLst>
            </a:prstGeom>
            <a:solidFill>
              <a:srgbClr val="9865C8"/>
            </a:solidFill>
            <a:ln cap="flat" cmpd="sng" w="254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2225" lIns="122225" spcFirstLastPara="1" rIns="122225" wrap="square" tIns="122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72"/>
                <a:buFont typeface="Arial"/>
                <a:buNone/>
              </a:pPr>
              <a:r>
                <a:t/>
              </a:r>
              <a:endParaRPr b="0" i="0" sz="18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g3865c3a86bd_0_0"/>
            <p:cNvSpPr txBox="1"/>
            <p:nvPr/>
          </p:nvSpPr>
          <p:spPr>
            <a:xfrm>
              <a:off x="-1699632" y="2487234"/>
              <a:ext cx="2640600" cy="83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1100" lIns="122225" spcFirstLastPara="1" rIns="122225" wrap="square" tIns="61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208"/>
                <a:buFont typeface="Arial"/>
                <a:buNone/>
              </a:pPr>
              <a:r>
                <a:rPr b="0" i="0" lang="es-MX" sz="3208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Estudiantes Universitarios</a:t>
              </a:r>
              <a:endParaRPr b="0" i="0" sz="3208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g39e8d811e63_0_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37446" y="0"/>
            <a:ext cx="4750553" cy="3956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g39e8d811e63_0_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7492844"/>
            <a:ext cx="5846531" cy="27941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g39e8d811e63_0_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649044" y="8770218"/>
            <a:ext cx="4527360" cy="1011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g39e8d811e63_0_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2615" y="0"/>
            <a:ext cx="1011110" cy="4162423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g39e8d811e63_0_48"/>
          <p:cNvSpPr txBox="1"/>
          <p:nvPr>
            <p:ph type="title"/>
          </p:nvPr>
        </p:nvSpPr>
        <p:spPr>
          <a:xfrm>
            <a:off x="5796000" y="506875"/>
            <a:ext cx="6696000" cy="10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normAutofit fontScale="90000"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B400"/>
              </a:buClr>
              <a:buSzPts val="1260"/>
              <a:buFont typeface="Arial"/>
              <a:buNone/>
            </a:pPr>
            <a:r>
              <a:rPr lang="es-MX" sz="6000" u="sng">
                <a:solidFill>
                  <a:srgbClr val="F4B400"/>
                </a:solidFill>
                <a:latin typeface="Arial"/>
                <a:ea typeface="Arial"/>
                <a:cs typeface="Arial"/>
                <a:sym typeface="Arial"/>
              </a:rPr>
              <a:t>REQUERIMIENTOS </a:t>
            </a:r>
            <a:endParaRPr sz="6000" u="sng">
              <a:solidFill>
                <a:srgbClr val="F4B4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925"/>
              <a:buFont typeface="Trebuchet MS"/>
              <a:buNone/>
            </a:pPr>
            <a:r>
              <a:t/>
            </a:r>
            <a:endParaRPr sz="5400">
              <a:solidFill>
                <a:srgbClr val="F4B4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925"/>
              <a:buFont typeface="Trebuchet MS"/>
              <a:buNone/>
            </a:pPr>
            <a:r>
              <a:t/>
            </a:r>
            <a:endParaRPr sz="5400">
              <a:solidFill>
                <a:srgbClr val="F4B4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l">
              <a:lnSpc>
                <a:spcPct val="151300"/>
              </a:lnSpc>
              <a:spcBef>
                <a:spcPts val="509"/>
              </a:spcBef>
              <a:spcAft>
                <a:spcPts val="0"/>
              </a:spcAft>
              <a:buClr>
                <a:schemeClr val="lt1"/>
              </a:buClr>
              <a:buSzPct val="52830"/>
              <a:buFont typeface="Trebuchet MS"/>
              <a:buNone/>
            </a:pPr>
            <a:r>
              <a:t/>
            </a:r>
            <a:endParaRPr sz="265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22" name="Google Shape;322;g39e8d811e63_0_48"/>
          <p:cNvGrpSpPr/>
          <p:nvPr/>
        </p:nvGrpSpPr>
        <p:grpSpPr>
          <a:xfrm>
            <a:off x="-3272218" y="1805571"/>
            <a:ext cx="13505770" cy="7144729"/>
            <a:chOff x="-6001755" y="-918373"/>
            <a:chExt cx="13505770" cy="7144729"/>
          </a:xfrm>
        </p:grpSpPr>
        <p:sp>
          <p:nvSpPr>
            <p:cNvPr id="323" name="Google Shape;323;g39e8d811e63_0_48"/>
            <p:cNvSpPr/>
            <p:nvPr/>
          </p:nvSpPr>
          <p:spPr>
            <a:xfrm>
              <a:off x="-6001755" y="-918373"/>
              <a:ext cx="7144729" cy="7144729"/>
            </a:xfrm>
            <a:prstGeom prst="blockArc">
              <a:avLst>
                <a:gd fmla="val 18900000" name="adj1"/>
                <a:gd fmla="val 2700000" name="adj2"/>
                <a:gd fmla="val 302" name="adj3"/>
              </a:avLst>
            </a:prstGeom>
            <a:noFill/>
            <a:ln cap="flat" cmpd="sng" w="19050">
              <a:solidFill>
                <a:srgbClr val="21486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g39e8d811e63_0_48"/>
            <p:cNvSpPr/>
            <p:nvPr/>
          </p:nvSpPr>
          <p:spPr>
            <a:xfrm>
              <a:off x="598218" y="408077"/>
              <a:ext cx="6905797" cy="81658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g39e8d811e63_0_48"/>
            <p:cNvSpPr txBox="1"/>
            <p:nvPr/>
          </p:nvSpPr>
          <p:spPr>
            <a:xfrm>
              <a:off x="598218" y="408077"/>
              <a:ext cx="6905797" cy="8165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64815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s-MX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Escaneo de boletas (OCR).</a:t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g39e8d811e63_0_48"/>
            <p:cNvSpPr/>
            <p:nvPr/>
          </p:nvSpPr>
          <p:spPr>
            <a:xfrm>
              <a:off x="87855" y="306005"/>
              <a:ext cx="1020725" cy="1020725"/>
            </a:xfrm>
            <a:prstGeom prst="ellipse">
              <a:avLst/>
            </a:prstGeom>
            <a:solidFill>
              <a:srgbClr val="AADAFB"/>
            </a:solidFill>
            <a:ln cap="flat" cmpd="sng" w="127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g39e8d811e63_0_48"/>
            <p:cNvSpPr/>
            <p:nvPr/>
          </p:nvSpPr>
          <p:spPr>
            <a:xfrm>
              <a:off x="1066382" y="1644081"/>
              <a:ext cx="6437633" cy="794736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g39e8d811e63_0_48"/>
            <p:cNvSpPr txBox="1"/>
            <p:nvPr/>
          </p:nvSpPr>
          <p:spPr>
            <a:xfrm>
              <a:off x="1066382" y="1644081"/>
              <a:ext cx="6437633" cy="7947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64815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s-MX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Inventario digital automatizado.</a:t>
              </a:r>
              <a:br>
                <a:rPr b="0" i="0" lang="es-MX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g39e8d811e63_0_48"/>
            <p:cNvSpPr/>
            <p:nvPr/>
          </p:nvSpPr>
          <p:spPr>
            <a:xfrm>
              <a:off x="556019" y="1531087"/>
              <a:ext cx="1020725" cy="1020725"/>
            </a:xfrm>
            <a:prstGeom prst="ellipse">
              <a:avLst/>
            </a:prstGeom>
            <a:solidFill>
              <a:srgbClr val="AADAFB"/>
            </a:solidFill>
            <a:ln cap="flat" cmpd="sng" w="127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g39e8d811e63_0_48"/>
            <p:cNvSpPr/>
            <p:nvPr/>
          </p:nvSpPr>
          <p:spPr>
            <a:xfrm>
              <a:off x="1066382" y="2858242"/>
              <a:ext cx="6437633" cy="81658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g39e8d811e63_0_48"/>
            <p:cNvSpPr txBox="1"/>
            <p:nvPr/>
          </p:nvSpPr>
          <p:spPr>
            <a:xfrm>
              <a:off x="1066382" y="2858242"/>
              <a:ext cx="6437633" cy="8165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64815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s-MX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Generación de recetas </a:t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s-MX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mediante IA.</a:t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g39e8d811e63_0_48"/>
            <p:cNvSpPr/>
            <p:nvPr/>
          </p:nvSpPr>
          <p:spPr>
            <a:xfrm>
              <a:off x="556019" y="2756170"/>
              <a:ext cx="1020725" cy="1020725"/>
            </a:xfrm>
            <a:prstGeom prst="ellipse">
              <a:avLst/>
            </a:prstGeom>
            <a:solidFill>
              <a:srgbClr val="AADAFB"/>
            </a:solidFill>
            <a:ln cap="flat" cmpd="sng" w="127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g39e8d811e63_0_48"/>
            <p:cNvSpPr/>
            <p:nvPr/>
          </p:nvSpPr>
          <p:spPr>
            <a:xfrm>
              <a:off x="598218" y="3942501"/>
              <a:ext cx="6905797" cy="1098226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g39e8d811e63_0_48"/>
            <p:cNvSpPr txBox="1"/>
            <p:nvPr/>
          </p:nvSpPr>
          <p:spPr>
            <a:xfrm>
              <a:off x="598218" y="3942501"/>
              <a:ext cx="6905797" cy="10982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64815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s-MX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Creación de lista de compras Inteligentes.</a:t>
              </a:r>
              <a:br>
                <a:rPr b="0" i="0" lang="es-MX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g39e8d811e63_0_48"/>
            <p:cNvSpPr/>
            <p:nvPr/>
          </p:nvSpPr>
          <p:spPr>
            <a:xfrm>
              <a:off x="87855" y="3981252"/>
              <a:ext cx="1020725" cy="1020725"/>
            </a:xfrm>
            <a:prstGeom prst="ellipse">
              <a:avLst/>
            </a:prstGeom>
            <a:solidFill>
              <a:srgbClr val="AADAFB"/>
            </a:solidFill>
            <a:ln cap="flat" cmpd="sng" w="127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6" name="Google Shape;336;g39e8d811e63_0_48"/>
          <p:cNvSpPr txBox="1"/>
          <p:nvPr/>
        </p:nvSpPr>
        <p:spPr>
          <a:xfrm>
            <a:off x="3104553" y="2255072"/>
            <a:ext cx="457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</a:pPr>
            <a:r>
              <a:rPr b="0" i="0" lang="es-MX" sz="2800" u="sng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Funcionales (MVP)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37446" y="0"/>
            <a:ext cx="4750553" cy="3956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7492844"/>
            <a:ext cx="5846531" cy="27941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649044" y="8770218"/>
            <a:ext cx="4527360" cy="1011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2615" y="0"/>
            <a:ext cx="1011110" cy="4162423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6"/>
          <p:cNvSpPr txBox="1"/>
          <p:nvPr>
            <p:ph type="title"/>
          </p:nvPr>
        </p:nvSpPr>
        <p:spPr>
          <a:xfrm>
            <a:off x="7247250" y="557925"/>
            <a:ext cx="3793500" cy="13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B400"/>
              </a:buClr>
              <a:buSzPts val="1400"/>
              <a:buFont typeface="Arial"/>
              <a:buNone/>
            </a:pPr>
            <a:r>
              <a:rPr lang="es-MX" sz="5400" u="sng">
                <a:solidFill>
                  <a:srgbClr val="F4B400"/>
                </a:solidFill>
                <a:latin typeface="Arial"/>
                <a:ea typeface="Arial"/>
                <a:cs typeface="Arial"/>
                <a:sym typeface="Arial"/>
              </a:rPr>
              <a:t>SOLUCIÓN </a:t>
            </a:r>
            <a:endParaRPr sz="5400" u="sng">
              <a:solidFill>
                <a:srgbClr val="F4B4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l">
              <a:lnSpc>
                <a:spcPct val="151300"/>
              </a:lnSpc>
              <a:spcBef>
                <a:spcPts val="509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rebuchet MS"/>
              <a:buNone/>
            </a:pPr>
            <a:r>
              <a:t/>
            </a:r>
            <a:endParaRPr sz="265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46" name="Google Shape;346;p6"/>
          <p:cNvGrpSpPr/>
          <p:nvPr/>
        </p:nvGrpSpPr>
        <p:grpSpPr>
          <a:xfrm>
            <a:off x="2024218" y="2215251"/>
            <a:ext cx="8754097" cy="6820206"/>
            <a:chOff x="478289" y="-170388"/>
            <a:chExt cx="8754097" cy="6820206"/>
          </a:xfrm>
        </p:grpSpPr>
        <p:sp>
          <p:nvSpPr>
            <p:cNvPr id="347" name="Google Shape;347;p6"/>
            <p:cNvSpPr/>
            <p:nvPr/>
          </p:nvSpPr>
          <p:spPr>
            <a:xfrm>
              <a:off x="1691850" y="-170388"/>
              <a:ext cx="6326975" cy="6326975"/>
            </a:xfrm>
            <a:custGeom>
              <a:rect b="b" l="l" r="r" t="t"/>
              <a:pathLst>
                <a:path extrusionOk="0" h="120000" w="120000">
                  <a:moveTo>
                    <a:pt x="88914" y="10896"/>
                  </a:moveTo>
                  <a:lnTo>
                    <a:pt x="88914" y="10896"/>
                  </a:lnTo>
                  <a:cubicBezTo>
                    <a:pt x="109058" y="22757"/>
                    <a:pt x="119914" y="45718"/>
                    <a:pt x="116299" y="68813"/>
                  </a:cubicBezTo>
                  <a:cubicBezTo>
                    <a:pt x="112683" y="91908"/>
                    <a:pt x="95330" y="110453"/>
                    <a:pt x="72525" y="115591"/>
                  </a:cubicBezTo>
                  <a:cubicBezTo>
                    <a:pt x="49720" y="120729"/>
                    <a:pt x="26090" y="111418"/>
                    <a:pt x="12920" y="92105"/>
                  </a:cubicBezTo>
                  <a:cubicBezTo>
                    <a:pt x="-250" y="72791"/>
                    <a:pt x="-289" y="47393"/>
                    <a:pt x="12822" y="28040"/>
                  </a:cubicBezTo>
                  <a:lnTo>
                    <a:pt x="10467" y="26170"/>
                  </a:lnTo>
                  <a:lnTo>
                    <a:pt x="17560" y="26315"/>
                  </a:lnTo>
                  <a:lnTo>
                    <a:pt x="19578" y="33402"/>
                  </a:lnTo>
                  <a:lnTo>
                    <a:pt x="17223" y="31533"/>
                  </a:lnTo>
                  <a:lnTo>
                    <a:pt x="17223" y="31533"/>
                  </a:lnTo>
                  <a:cubicBezTo>
                    <a:pt x="5567" y="49049"/>
                    <a:pt x="5767" y="71902"/>
                    <a:pt x="17728" y="89211"/>
                  </a:cubicBezTo>
                  <a:cubicBezTo>
                    <a:pt x="29689" y="106520"/>
                    <a:pt x="50994" y="114788"/>
                    <a:pt x="71500" y="110079"/>
                  </a:cubicBezTo>
                  <a:cubicBezTo>
                    <a:pt x="92006" y="105370"/>
                    <a:pt x="107570" y="88635"/>
                    <a:pt x="110781" y="67842"/>
                  </a:cubicBezTo>
                  <a:cubicBezTo>
                    <a:pt x="113992" y="47049"/>
                    <a:pt x="104202" y="26399"/>
                    <a:pt x="86072" y="15723"/>
                  </a:cubicBezTo>
                  <a:close/>
                </a:path>
              </a:pathLst>
            </a:custGeom>
            <a:gradFill>
              <a:gsLst>
                <a:gs pos="0">
                  <a:srgbClr val="D8DBE1"/>
                </a:gs>
                <a:gs pos="69000">
                  <a:srgbClr val="BFC4CC"/>
                </a:gs>
                <a:gs pos="100000">
                  <a:srgbClr val="ACB2BA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6"/>
            <p:cNvSpPr/>
            <p:nvPr/>
          </p:nvSpPr>
          <p:spPr>
            <a:xfrm>
              <a:off x="2750093" y="966"/>
              <a:ext cx="4210488" cy="2105244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527290"/>
                </a:gs>
                <a:gs pos="69000">
                  <a:srgbClr val="1B5683"/>
                </a:gs>
                <a:gs pos="100000">
                  <a:srgbClr val="184F77"/>
                </a:gs>
              </a:gsLst>
              <a:lin ang="5400000" scaled="0"/>
            </a:gradFill>
            <a:ln>
              <a:noFill/>
            </a:ln>
            <a:effectLst>
              <a:outerShdw blurRad="50800" rotWithShape="0" dir="5400000" dist="38100" sy="96000">
                <a:srgbClr val="000000">
                  <a:alpha val="5294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6"/>
            <p:cNvSpPr txBox="1"/>
            <p:nvPr/>
          </p:nvSpPr>
          <p:spPr>
            <a:xfrm>
              <a:off x="2852863" y="103736"/>
              <a:ext cx="4004948" cy="18997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s-MX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Plataforma Aplicación Móvil Nativa (React Native).</a:t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6"/>
            <p:cNvSpPr/>
            <p:nvPr/>
          </p:nvSpPr>
          <p:spPr>
            <a:xfrm>
              <a:off x="5021898" y="2272770"/>
              <a:ext cx="4210488" cy="2105244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527290"/>
                </a:gs>
                <a:gs pos="69000">
                  <a:srgbClr val="1B5683"/>
                </a:gs>
                <a:gs pos="100000">
                  <a:srgbClr val="184F77"/>
                </a:gs>
              </a:gsLst>
              <a:lin ang="5400000" scaled="0"/>
            </a:gradFill>
            <a:ln>
              <a:noFill/>
            </a:ln>
            <a:effectLst>
              <a:outerShdw blurRad="50800" rotWithShape="0" dir="5400000" dist="38100" sy="96000">
                <a:srgbClr val="000000">
                  <a:alpha val="5294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6"/>
            <p:cNvSpPr txBox="1"/>
            <p:nvPr/>
          </p:nvSpPr>
          <p:spPr>
            <a:xfrm>
              <a:off x="5124668" y="2375540"/>
              <a:ext cx="4004948" cy="18997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s-MX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Extracción Datos, Implementación de Módulo OCR.</a:t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6"/>
            <p:cNvSpPr/>
            <p:nvPr/>
          </p:nvSpPr>
          <p:spPr>
            <a:xfrm>
              <a:off x="2750093" y="4544574"/>
              <a:ext cx="4210488" cy="2105244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527290"/>
                </a:gs>
                <a:gs pos="69000">
                  <a:srgbClr val="1B5683"/>
                </a:gs>
                <a:gs pos="100000">
                  <a:srgbClr val="184F77"/>
                </a:gs>
              </a:gsLst>
              <a:lin ang="5400000" scaled="0"/>
            </a:gradFill>
            <a:ln>
              <a:noFill/>
            </a:ln>
            <a:effectLst>
              <a:outerShdw blurRad="50800" rotWithShape="0" dir="5400000" dist="38100" sy="96000">
                <a:srgbClr val="000000">
                  <a:alpha val="5294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6"/>
            <p:cNvSpPr txBox="1"/>
            <p:nvPr/>
          </p:nvSpPr>
          <p:spPr>
            <a:xfrm>
              <a:off x="2852863" y="4647344"/>
              <a:ext cx="4004948" cy="18997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s-MX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Inteligencia artificial Integración con API de OpenAI (Para recetas).</a:t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6"/>
            <p:cNvSpPr/>
            <p:nvPr/>
          </p:nvSpPr>
          <p:spPr>
            <a:xfrm>
              <a:off x="478289" y="2272770"/>
              <a:ext cx="4210488" cy="2105244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527290"/>
                </a:gs>
                <a:gs pos="69000">
                  <a:srgbClr val="1B5683"/>
                </a:gs>
                <a:gs pos="100000">
                  <a:srgbClr val="184F77"/>
                </a:gs>
              </a:gsLst>
              <a:lin ang="5400000" scaled="0"/>
            </a:gradFill>
            <a:ln>
              <a:noFill/>
            </a:ln>
            <a:effectLst>
              <a:outerShdw blurRad="50800" rotWithShape="0" dir="5400000" dist="38100" sy="96000">
                <a:srgbClr val="000000">
                  <a:alpha val="5294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6"/>
            <p:cNvSpPr txBox="1"/>
            <p:nvPr/>
          </p:nvSpPr>
          <p:spPr>
            <a:xfrm>
              <a:off x="581059" y="2375540"/>
              <a:ext cx="4004948" cy="18997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s-MX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Arquitectura,  Backend (API RESTfull) + Base de Datos Relacional.</a:t>
              </a:r>
              <a:br>
                <a:rPr b="0" i="0" lang="es-MX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Abstract Modern tech of Programming code screen developer. (proporcionado por Getty Images)" id="356" name="Google Shape;356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489395" y="3216066"/>
            <a:ext cx="4096102" cy="22460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cument Management System (DMS). Automation software to archiving and efficiently manage and information files. Internet  and service for cloud data transfer technology. (proporcionado por Getty Images)" id="357" name="Google Shape;357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899622" y="5961355"/>
            <a:ext cx="3275648" cy="194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g39d964d0c30_0_62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37446" y="0"/>
            <a:ext cx="4750553" cy="3956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g39d964d0c30_0_62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7492844"/>
            <a:ext cx="5846531" cy="27941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g39d964d0c30_0_62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649044" y="8770218"/>
            <a:ext cx="4527360" cy="1011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g39d964d0c30_0_62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2615" y="0"/>
            <a:ext cx="1011110" cy="4162423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g39d964d0c30_0_6229"/>
          <p:cNvSpPr txBox="1"/>
          <p:nvPr>
            <p:ph type="title"/>
          </p:nvPr>
        </p:nvSpPr>
        <p:spPr>
          <a:xfrm>
            <a:off x="6916050" y="554275"/>
            <a:ext cx="44559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B400"/>
              </a:buClr>
              <a:buSzPts val="1400"/>
              <a:buFont typeface="Arial"/>
              <a:buNone/>
            </a:pPr>
            <a:r>
              <a:rPr lang="es-MX" sz="5400" u="sng">
                <a:solidFill>
                  <a:srgbClr val="F4B400"/>
                </a:solidFill>
                <a:latin typeface="Arial"/>
                <a:ea typeface="Arial"/>
                <a:cs typeface="Arial"/>
                <a:sym typeface="Arial"/>
              </a:rPr>
              <a:t>BENEFICIOS</a:t>
            </a:r>
            <a:endParaRPr sz="2650" u="sng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367" name="Google Shape;367;g39d964d0c30_0_6229"/>
          <p:cNvGrpSpPr/>
          <p:nvPr/>
        </p:nvGrpSpPr>
        <p:grpSpPr>
          <a:xfrm>
            <a:off x="-3018207" y="1137808"/>
            <a:ext cx="16147966" cy="8940537"/>
            <a:chOff x="-7506232" y="-1148193"/>
            <a:chExt cx="16147966" cy="8940537"/>
          </a:xfrm>
        </p:grpSpPr>
        <p:sp>
          <p:nvSpPr>
            <p:cNvPr id="368" name="Google Shape;368;g39d964d0c30_0_6229"/>
            <p:cNvSpPr/>
            <p:nvPr/>
          </p:nvSpPr>
          <p:spPr>
            <a:xfrm>
              <a:off x="-7506232" y="-1148193"/>
              <a:ext cx="8940537" cy="8940537"/>
            </a:xfrm>
            <a:prstGeom prst="blockArc">
              <a:avLst>
                <a:gd fmla="val 18900000" name="adj1"/>
                <a:gd fmla="val 2700000" name="adj2"/>
                <a:gd fmla="val 242" name="adj3"/>
              </a:avLst>
            </a:prstGeom>
            <a:noFill/>
            <a:ln cap="flat" cmpd="sng" w="19050">
              <a:solidFill>
                <a:srgbClr val="21486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g39d964d0c30_0_6229"/>
            <p:cNvSpPr/>
            <p:nvPr/>
          </p:nvSpPr>
          <p:spPr>
            <a:xfrm>
              <a:off x="466087" y="302043"/>
              <a:ext cx="8175647" cy="60382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g39d964d0c30_0_6229"/>
            <p:cNvSpPr txBox="1"/>
            <p:nvPr/>
          </p:nvSpPr>
          <p:spPr>
            <a:xfrm>
              <a:off x="466087" y="302043"/>
              <a:ext cx="8175647" cy="6038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479275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s-MX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✓ Inventario Automatizado</a:t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g39d964d0c30_0_6229"/>
            <p:cNvSpPr/>
            <p:nvPr/>
          </p:nvSpPr>
          <p:spPr>
            <a:xfrm>
              <a:off x="88699" y="226565"/>
              <a:ext cx="754775" cy="754775"/>
            </a:xfrm>
            <a:prstGeom prst="ellipse">
              <a:avLst/>
            </a:prstGeom>
            <a:solidFill>
              <a:srgbClr val="AADAFB"/>
            </a:solidFill>
            <a:ln cap="flat" cmpd="sng" w="127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g39d964d0c30_0_6229"/>
            <p:cNvSpPr/>
            <p:nvPr/>
          </p:nvSpPr>
          <p:spPr>
            <a:xfrm>
              <a:off x="1012900" y="1208305"/>
              <a:ext cx="7628833" cy="60382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g39d964d0c30_0_6229"/>
            <p:cNvSpPr txBox="1"/>
            <p:nvPr/>
          </p:nvSpPr>
          <p:spPr>
            <a:xfrm>
              <a:off x="1012900" y="1208305"/>
              <a:ext cx="7628833" cy="6038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479275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s-MX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✓ Recetas Inteligentes (IA)</a:t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g39d964d0c30_0_6229"/>
            <p:cNvSpPr/>
            <p:nvPr/>
          </p:nvSpPr>
          <p:spPr>
            <a:xfrm>
              <a:off x="635512" y="1132827"/>
              <a:ext cx="754775" cy="754775"/>
            </a:xfrm>
            <a:prstGeom prst="ellipse">
              <a:avLst/>
            </a:prstGeom>
            <a:solidFill>
              <a:srgbClr val="AADAFB"/>
            </a:solidFill>
            <a:ln cap="flat" cmpd="sng" w="127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g39d964d0c30_0_6229"/>
            <p:cNvSpPr/>
            <p:nvPr/>
          </p:nvSpPr>
          <p:spPr>
            <a:xfrm>
              <a:off x="1312551" y="2113902"/>
              <a:ext cx="7329182" cy="60382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g39d964d0c30_0_6229"/>
            <p:cNvSpPr txBox="1"/>
            <p:nvPr/>
          </p:nvSpPr>
          <p:spPr>
            <a:xfrm>
              <a:off x="1312551" y="2113902"/>
              <a:ext cx="7329182" cy="6038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479275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s-MX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✓ Listas de Compra Optimizadas</a:t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g39d964d0c30_0_6229"/>
            <p:cNvSpPr/>
            <p:nvPr/>
          </p:nvSpPr>
          <p:spPr>
            <a:xfrm>
              <a:off x="935164" y="2038425"/>
              <a:ext cx="754775" cy="754775"/>
            </a:xfrm>
            <a:prstGeom prst="ellipse">
              <a:avLst/>
            </a:prstGeom>
            <a:solidFill>
              <a:srgbClr val="AADAFB"/>
            </a:solidFill>
            <a:ln cap="flat" cmpd="sng" w="127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g39d964d0c30_0_6229"/>
            <p:cNvSpPr/>
            <p:nvPr/>
          </p:nvSpPr>
          <p:spPr>
            <a:xfrm>
              <a:off x="1408227" y="3020164"/>
              <a:ext cx="7233507" cy="60382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g39d964d0c30_0_6229"/>
            <p:cNvSpPr txBox="1"/>
            <p:nvPr/>
          </p:nvSpPr>
          <p:spPr>
            <a:xfrm>
              <a:off x="1408227" y="3020164"/>
              <a:ext cx="7233507" cy="6038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479275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s-MX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✓ Reducción de Desperdicio</a:t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g39d964d0c30_0_6229"/>
            <p:cNvSpPr/>
            <p:nvPr/>
          </p:nvSpPr>
          <p:spPr>
            <a:xfrm>
              <a:off x="1030839" y="2944687"/>
              <a:ext cx="754775" cy="754775"/>
            </a:xfrm>
            <a:prstGeom prst="ellipse">
              <a:avLst/>
            </a:prstGeom>
            <a:solidFill>
              <a:srgbClr val="AADAFB"/>
            </a:solidFill>
            <a:ln cap="flat" cmpd="sng" w="127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g39d964d0c30_0_6229"/>
            <p:cNvSpPr/>
            <p:nvPr/>
          </p:nvSpPr>
          <p:spPr>
            <a:xfrm>
              <a:off x="1312551" y="3926426"/>
              <a:ext cx="7329182" cy="60382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g39d964d0c30_0_6229"/>
            <p:cNvSpPr txBox="1"/>
            <p:nvPr/>
          </p:nvSpPr>
          <p:spPr>
            <a:xfrm>
              <a:off x="1312551" y="3926426"/>
              <a:ext cx="7329182" cy="6038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479275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s-MX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✓ Ahorro Económico Directo</a:t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g39d964d0c30_0_6229"/>
            <p:cNvSpPr/>
            <p:nvPr/>
          </p:nvSpPr>
          <p:spPr>
            <a:xfrm>
              <a:off x="935164" y="3850949"/>
              <a:ext cx="754775" cy="754775"/>
            </a:xfrm>
            <a:prstGeom prst="ellipse">
              <a:avLst/>
            </a:prstGeom>
            <a:solidFill>
              <a:srgbClr val="AADAFB"/>
            </a:solidFill>
            <a:ln cap="flat" cmpd="sng" w="127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g39d964d0c30_0_6229"/>
            <p:cNvSpPr/>
            <p:nvPr/>
          </p:nvSpPr>
          <p:spPr>
            <a:xfrm>
              <a:off x="1012900" y="4832024"/>
              <a:ext cx="7628833" cy="60382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g39d964d0c30_0_6229"/>
            <p:cNvSpPr txBox="1"/>
            <p:nvPr/>
          </p:nvSpPr>
          <p:spPr>
            <a:xfrm>
              <a:off x="1012900" y="4832024"/>
              <a:ext cx="7628833" cy="6038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479275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s-MX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✓ Plataforma amigable con el Usuario</a:t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g39d964d0c30_0_6229"/>
            <p:cNvSpPr/>
            <p:nvPr/>
          </p:nvSpPr>
          <p:spPr>
            <a:xfrm>
              <a:off x="635512" y="4756546"/>
              <a:ext cx="754775" cy="754775"/>
            </a:xfrm>
            <a:prstGeom prst="ellipse">
              <a:avLst/>
            </a:prstGeom>
            <a:solidFill>
              <a:srgbClr val="AADAFB"/>
            </a:solidFill>
            <a:ln cap="flat" cmpd="sng" w="127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g39d964d0c30_0_6229"/>
            <p:cNvSpPr/>
            <p:nvPr/>
          </p:nvSpPr>
          <p:spPr>
            <a:xfrm>
              <a:off x="466087" y="5738286"/>
              <a:ext cx="8175647" cy="60382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g39d964d0c30_0_6229"/>
            <p:cNvSpPr txBox="1"/>
            <p:nvPr/>
          </p:nvSpPr>
          <p:spPr>
            <a:xfrm>
              <a:off x="466087" y="5738286"/>
              <a:ext cx="8175647" cy="6038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479275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s-MX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✓ Plataforma Móvil</a:t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g39d964d0c30_0_6229"/>
            <p:cNvSpPr/>
            <p:nvPr/>
          </p:nvSpPr>
          <p:spPr>
            <a:xfrm>
              <a:off x="88699" y="5662809"/>
              <a:ext cx="754775" cy="754775"/>
            </a:xfrm>
            <a:prstGeom prst="ellipse">
              <a:avLst/>
            </a:prstGeom>
            <a:solidFill>
              <a:srgbClr val="AADAFB"/>
            </a:solidFill>
            <a:ln cap="flat" cmpd="sng" w="127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0" name="Google Shape;390;g39d964d0c30_0_6229"/>
          <p:cNvSpPr txBox="1"/>
          <p:nvPr/>
        </p:nvSpPr>
        <p:spPr>
          <a:xfrm>
            <a:off x="10000950" y="2509975"/>
            <a:ext cx="5905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ckwel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ckwel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391" name="Google Shape;391;g39d964d0c30_0_62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57336" y="4094055"/>
            <a:ext cx="2630689" cy="30280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492844"/>
            <a:ext cx="5846531" cy="27941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178185" y="0"/>
            <a:ext cx="4109815" cy="5867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039" y="523145"/>
            <a:ext cx="4527361" cy="1011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599273" y="8889922"/>
            <a:ext cx="4527360" cy="1011109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8"/>
          <p:cNvSpPr txBox="1"/>
          <p:nvPr>
            <p:ph type="title"/>
          </p:nvPr>
        </p:nvSpPr>
        <p:spPr>
          <a:xfrm>
            <a:off x="6545249" y="-731016"/>
            <a:ext cx="5049900" cy="15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73825">
            <a:spAutoFit/>
          </a:bodyPr>
          <a:lstStyle/>
          <a:p>
            <a:pPr indent="0" lvl="0" marL="3651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B400"/>
              </a:buClr>
              <a:buSzPts val="1400"/>
              <a:buFont typeface="Arial"/>
              <a:buNone/>
            </a:pPr>
            <a:r>
              <a:rPr lang="es-MX" sz="4400" u="sng">
                <a:solidFill>
                  <a:srgbClr val="F4B400"/>
                </a:solidFill>
                <a:latin typeface="Arial"/>
                <a:ea typeface="Arial"/>
                <a:cs typeface="Arial"/>
                <a:sym typeface="Arial"/>
              </a:rPr>
              <a:t>ARQUITECTURA</a:t>
            </a:r>
            <a:endParaRPr sz="4400" u="sng">
              <a:solidFill>
                <a:srgbClr val="F4B4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1" name="Google Shape;401;p8" title="Diagrama_Arquitectura_Alto_Nive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8413" y="937275"/>
            <a:ext cx="16903526" cy="917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g39fe4725518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37446" y="0"/>
            <a:ext cx="4750553" cy="3956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g39fe4725518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7492844"/>
            <a:ext cx="5846531" cy="27941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g39fe4725518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649044" y="8770218"/>
            <a:ext cx="4527360" cy="1011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g39fe4725518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5739" y="0"/>
            <a:ext cx="1011110" cy="4162423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g39fe4725518_0_0"/>
          <p:cNvSpPr txBox="1"/>
          <p:nvPr>
            <p:ph type="title"/>
          </p:nvPr>
        </p:nvSpPr>
        <p:spPr>
          <a:xfrm>
            <a:off x="5644801" y="508325"/>
            <a:ext cx="69984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B400"/>
              </a:buClr>
              <a:buSzPts val="1400"/>
              <a:buFont typeface="Bookman Old Style"/>
              <a:buNone/>
            </a:pPr>
            <a:r>
              <a:rPr lang="es-MX" sz="5400" u="sng">
                <a:solidFill>
                  <a:srgbClr val="F4B400"/>
                </a:solidFill>
                <a:latin typeface="Arial"/>
                <a:ea typeface="Arial"/>
                <a:cs typeface="Arial"/>
                <a:sym typeface="Arial"/>
              </a:rPr>
              <a:t>Análisis Competitivo</a:t>
            </a:r>
            <a:endParaRPr sz="5400" u="sng">
              <a:solidFill>
                <a:srgbClr val="F4B4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1" name="Google Shape;411;g39fe4725518_0_0"/>
          <p:cNvGrpSpPr/>
          <p:nvPr/>
        </p:nvGrpSpPr>
        <p:grpSpPr>
          <a:xfrm>
            <a:off x="2758248" y="1934125"/>
            <a:ext cx="11229880" cy="7697817"/>
            <a:chOff x="1823207" y="2992"/>
            <a:chExt cx="7608320" cy="5215323"/>
          </a:xfrm>
        </p:grpSpPr>
        <p:sp>
          <p:nvSpPr>
            <p:cNvPr id="412" name="Google Shape;412;g39fe4725518_0_0"/>
            <p:cNvSpPr/>
            <p:nvPr/>
          </p:nvSpPr>
          <p:spPr>
            <a:xfrm>
              <a:off x="1823207" y="2992"/>
              <a:ext cx="1303800" cy="1303800"/>
            </a:xfrm>
            <a:prstGeom prst="ellipse">
              <a:avLst/>
            </a:prstGeom>
            <a:solidFill>
              <a:schemeClr val="dk2">
                <a:alpha val="49019"/>
              </a:schemeClr>
            </a:solidFill>
            <a:ln>
              <a:noFill/>
            </a:ln>
          </p:spPr>
          <p:txBody>
            <a:bodyPr anchorCtr="0" anchor="ctr" bIns="134900" lIns="134900" spcFirstLastPara="1" rIns="134900" wrap="square" tIns="134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7"/>
                <a:buFont typeface="Arial"/>
                <a:buNone/>
              </a:pPr>
              <a:r>
                <a:t/>
              </a:r>
              <a:endParaRPr b="0" i="0" sz="16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g39fe4725518_0_0"/>
            <p:cNvSpPr/>
            <p:nvPr/>
          </p:nvSpPr>
          <p:spPr>
            <a:xfrm>
              <a:off x="2475127" y="2992"/>
              <a:ext cx="6956400" cy="1303800"/>
            </a:xfrm>
            <a:prstGeom prst="rect">
              <a:avLst/>
            </a:prstGeom>
            <a:noFill/>
            <a:ln cap="flat" cmpd="sng" w="18775">
              <a:solidFill>
                <a:schemeClr val="dk1">
                  <a:alpha val="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4900" lIns="134900" spcFirstLastPara="1" rIns="134900" wrap="square" tIns="134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7"/>
                <a:buFont typeface="Arial"/>
                <a:buNone/>
              </a:pPr>
              <a:r>
                <a:t/>
              </a:r>
              <a:endParaRPr b="0" i="0" sz="16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g39fe4725518_0_0"/>
            <p:cNvSpPr/>
            <p:nvPr/>
          </p:nvSpPr>
          <p:spPr>
            <a:xfrm>
              <a:off x="1823207" y="1306833"/>
              <a:ext cx="1303800" cy="1303800"/>
            </a:xfrm>
            <a:prstGeom prst="ellipse">
              <a:avLst/>
            </a:prstGeom>
            <a:solidFill>
              <a:schemeClr val="dk2">
                <a:alpha val="49019"/>
              </a:schemeClr>
            </a:solidFill>
            <a:ln>
              <a:noFill/>
            </a:ln>
          </p:spPr>
          <p:txBody>
            <a:bodyPr anchorCtr="0" anchor="ctr" bIns="134900" lIns="134900" spcFirstLastPara="1" rIns="134900" wrap="square" tIns="134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7"/>
                <a:buFont typeface="Arial"/>
                <a:buNone/>
              </a:pPr>
              <a:r>
                <a:t/>
              </a:r>
              <a:endParaRPr b="0" i="0" sz="16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g39fe4725518_0_0"/>
            <p:cNvSpPr/>
            <p:nvPr/>
          </p:nvSpPr>
          <p:spPr>
            <a:xfrm>
              <a:off x="2475127" y="1306833"/>
              <a:ext cx="6956400" cy="1303800"/>
            </a:xfrm>
            <a:prstGeom prst="rect">
              <a:avLst/>
            </a:prstGeom>
            <a:noFill/>
            <a:ln cap="flat" cmpd="sng" w="18775">
              <a:solidFill>
                <a:schemeClr val="dk1">
                  <a:alpha val="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4900" lIns="134900" spcFirstLastPara="1" rIns="134900" wrap="square" tIns="134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7"/>
                <a:buFont typeface="Arial"/>
                <a:buNone/>
              </a:pPr>
              <a:r>
                <a:t/>
              </a:r>
              <a:endParaRPr b="0" i="0" sz="16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g39fe4725518_0_0"/>
            <p:cNvSpPr/>
            <p:nvPr/>
          </p:nvSpPr>
          <p:spPr>
            <a:xfrm>
              <a:off x="1823207" y="2610674"/>
              <a:ext cx="1303800" cy="1303800"/>
            </a:xfrm>
            <a:prstGeom prst="ellipse">
              <a:avLst/>
            </a:prstGeom>
            <a:solidFill>
              <a:schemeClr val="dk2">
                <a:alpha val="49019"/>
              </a:schemeClr>
            </a:solidFill>
            <a:ln>
              <a:noFill/>
            </a:ln>
          </p:spPr>
          <p:txBody>
            <a:bodyPr anchorCtr="0" anchor="ctr" bIns="134900" lIns="134900" spcFirstLastPara="1" rIns="134900" wrap="square" tIns="134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7"/>
                <a:buFont typeface="Arial"/>
                <a:buNone/>
              </a:pPr>
              <a:r>
                <a:t/>
              </a:r>
              <a:endParaRPr b="0" i="0" sz="16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g39fe4725518_0_0"/>
            <p:cNvSpPr/>
            <p:nvPr/>
          </p:nvSpPr>
          <p:spPr>
            <a:xfrm>
              <a:off x="2475127" y="2610674"/>
              <a:ext cx="6956400" cy="1303800"/>
            </a:xfrm>
            <a:prstGeom prst="rect">
              <a:avLst/>
            </a:prstGeom>
            <a:noFill/>
            <a:ln cap="flat" cmpd="sng" w="18775">
              <a:solidFill>
                <a:schemeClr val="dk1">
                  <a:alpha val="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4900" lIns="134900" spcFirstLastPara="1" rIns="134900" wrap="square" tIns="134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7"/>
                <a:buFont typeface="Arial"/>
                <a:buNone/>
              </a:pPr>
              <a:r>
                <a:t/>
              </a:r>
              <a:endParaRPr b="0" i="0" sz="16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g39fe4725518_0_0"/>
            <p:cNvSpPr/>
            <p:nvPr/>
          </p:nvSpPr>
          <p:spPr>
            <a:xfrm>
              <a:off x="1823207" y="3914515"/>
              <a:ext cx="1303800" cy="1303800"/>
            </a:xfrm>
            <a:prstGeom prst="ellipse">
              <a:avLst/>
            </a:prstGeom>
            <a:solidFill>
              <a:schemeClr val="dk2">
                <a:alpha val="49019"/>
              </a:schemeClr>
            </a:solidFill>
            <a:ln>
              <a:noFill/>
            </a:ln>
          </p:spPr>
          <p:txBody>
            <a:bodyPr anchorCtr="0" anchor="ctr" bIns="134900" lIns="134900" spcFirstLastPara="1" rIns="134900" wrap="square" tIns="134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7"/>
                <a:buFont typeface="Arial"/>
                <a:buNone/>
              </a:pPr>
              <a:r>
                <a:t/>
              </a:r>
              <a:endParaRPr b="0" i="0" sz="16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g39fe4725518_0_0"/>
            <p:cNvSpPr/>
            <p:nvPr/>
          </p:nvSpPr>
          <p:spPr>
            <a:xfrm>
              <a:off x="2475127" y="3914515"/>
              <a:ext cx="6956400" cy="1303800"/>
            </a:xfrm>
            <a:prstGeom prst="rect">
              <a:avLst/>
            </a:prstGeom>
            <a:noFill/>
            <a:ln cap="flat" cmpd="sng" w="18775">
              <a:solidFill>
                <a:schemeClr val="dk1">
                  <a:alpha val="0"/>
                </a:scheme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4900" lIns="134900" spcFirstLastPara="1" rIns="134900" wrap="square" tIns="134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7"/>
                <a:buFont typeface="Arial"/>
                <a:buNone/>
              </a:pPr>
              <a:r>
                <a:t/>
              </a:r>
              <a:endParaRPr b="0" i="0" sz="16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420" name="Google Shape;420;g39fe4725518_0_0"/>
          <p:cNvGraphicFramePr/>
          <p:nvPr/>
        </p:nvGraphicFramePr>
        <p:xfrm>
          <a:off x="1378006" y="15347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{D443BE07-F323-4733-9C74-3EB1BA36E93E}</a:tableStyleId>
              </a:tblPr>
              <a:tblGrid>
                <a:gridCol w="2426025"/>
                <a:gridCol w="2064500"/>
                <a:gridCol w="2045700"/>
                <a:gridCol w="2232450"/>
                <a:gridCol w="2540875"/>
                <a:gridCol w="1924075"/>
              </a:tblGrid>
              <a:tr h="1327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MX" sz="2400" u="none" cap="none" strike="noStrike">
                          <a:solidFill>
                            <a:schemeClr val="lt1"/>
                          </a:solidFill>
                        </a:rPr>
                        <a:t>Aplicación</a:t>
                      </a:r>
                      <a:endParaRPr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MX" sz="2400" u="none" cap="none" strike="noStrike">
                          <a:solidFill>
                            <a:schemeClr val="lt1"/>
                          </a:solidFill>
                        </a:rPr>
                        <a:t>Gestión de Recetas</a:t>
                      </a:r>
                      <a:endParaRPr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MX" sz="2400" u="none" cap="none" strike="noStrike">
                          <a:solidFill>
                            <a:schemeClr val="lt1"/>
                          </a:solidFill>
                        </a:rPr>
                        <a:t>Gestión de Listas</a:t>
                      </a:r>
                      <a:endParaRPr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MX" sz="2400" u="none" cap="none" strike="noStrike">
                          <a:solidFill>
                            <a:schemeClr val="lt1"/>
                          </a:solidFill>
                        </a:rPr>
                        <a:t>Gestión de Inventario</a:t>
                      </a:r>
                      <a:endParaRPr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MX" sz="2400" u="none" cap="none" strike="noStrike">
                          <a:solidFill>
                            <a:schemeClr val="lt1"/>
                          </a:solidFill>
                        </a:rPr>
                        <a:t>Ingreso Automatizado</a:t>
                      </a:r>
                      <a:endParaRPr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MX" sz="2400"/>
                        <a:t>Control </a:t>
                      </a:r>
                      <a:r>
                        <a:rPr lang="es-MX" sz="2400" u="none" cap="none" strike="noStrike">
                          <a:solidFill>
                            <a:schemeClr val="lt1"/>
                          </a:solidFill>
                        </a:rPr>
                        <a:t>de Gasto</a:t>
                      </a:r>
                      <a:r>
                        <a:rPr lang="es-MX" sz="2400"/>
                        <a:t>s</a:t>
                      </a:r>
                      <a:endParaRPr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</a:tr>
              <a:tr h="784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s-MX" sz="2800" u="none" cap="none" strike="noStrike">
                          <a:solidFill>
                            <a:schemeClr val="lt1"/>
                          </a:solidFill>
                        </a:rPr>
                        <a:t>ReciMe</a:t>
                      </a:r>
                      <a:endParaRPr sz="2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MX" sz="2400" u="none" cap="none" strike="noStrike">
                          <a:solidFill>
                            <a:schemeClr val="lt1"/>
                          </a:solidFill>
                        </a:rPr>
                        <a:t>✅</a:t>
                      </a:r>
                      <a:endParaRPr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MX" sz="2400" u="none" cap="none" strike="noStrike">
                          <a:solidFill>
                            <a:schemeClr val="lt1"/>
                          </a:solidFill>
                        </a:rPr>
                        <a:t>✅ (Manual)</a:t>
                      </a:r>
                      <a:endParaRPr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MX" sz="2400" u="none" cap="none" strike="noStrike">
                          <a:solidFill>
                            <a:schemeClr val="lt1"/>
                          </a:solidFill>
                        </a:rPr>
                        <a:t>❌</a:t>
                      </a:r>
                      <a:endParaRPr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MX" sz="2400" u="none" cap="none" strike="noStrike">
                          <a:solidFill>
                            <a:schemeClr val="lt1"/>
                          </a:solidFill>
                        </a:rPr>
                        <a:t>❌</a:t>
                      </a:r>
                      <a:endParaRPr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MX" sz="2400" u="none" cap="none" strike="noStrike">
                          <a:solidFill>
                            <a:schemeClr val="lt1"/>
                          </a:solidFill>
                        </a:rPr>
                        <a:t>❌</a:t>
                      </a:r>
                      <a:endParaRPr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</a:tr>
              <a:tr h="784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s-MX" sz="2800" u="none" cap="none" strike="noStrike">
                          <a:solidFill>
                            <a:schemeClr val="lt1"/>
                          </a:solidFill>
                        </a:rPr>
                        <a:t>Compralista</a:t>
                      </a:r>
                      <a:endParaRPr sz="2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MX" sz="2400" u="none" cap="none" strike="noStrike">
                          <a:solidFill>
                            <a:schemeClr val="lt1"/>
                          </a:solidFill>
                        </a:rPr>
                        <a:t>❌</a:t>
                      </a:r>
                      <a:endParaRPr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MX" sz="2400" u="none" cap="none" strike="noStrike">
                          <a:solidFill>
                            <a:schemeClr val="lt1"/>
                          </a:solidFill>
                        </a:rPr>
                        <a:t>✅ (Manual)</a:t>
                      </a:r>
                      <a:endParaRPr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MX" sz="2400" u="none" cap="none" strike="noStrike">
                          <a:solidFill>
                            <a:schemeClr val="lt1"/>
                          </a:solidFill>
                        </a:rPr>
                        <a:t>❌</a:t>
                      </a:r>
                      <a:endParaRPr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MX" sz="2400" u="none" cap="none" strike="noStrike">
                          <a:solidFill>
                            <a:schemeClr val="lt1"/>
                          </a:solidFill>
                        </a:rPr>
                        <a:t>❌</a:t>
                      </a:r>
                      <a:endParaRPr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MX" sz="2400" u="none" cap="none" strike="noStrike">
                          <a:solidFill>
                            <a:schemeClr val="lt1"/>
                          </a:solidFill>
                        </a:rPr>
                        <a:t>❌</a:t>
                      </a:r>
                      <a:endParaRPr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</a:tr>
              <a:tr h="1411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s-MX" sz="2800" u="none" cap="none" strike="noStrike">
                          <a:solidFill>
                            <a:schemeClr val="lt1"/>
                          </a:solidFill>
                        </a:rPr>
                        <a:t>KitchenPal</a:t>
                      </a:r>
                      <a:endParaRPr sz="2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MX" sz="2400" u="none" cap="none" strike="noStrike">
                          <a:solidFill>
                            <a:schemeClr val="lt1"/>
                          </a:solidFill>
                        </a:rPr>
                        <a:t>✅</a:t>
                      </a:r>
                      <a:endParaRPr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MX" sz="2400"/>
                        <a:t>❌</a:t>
                      </a:r>
                      <a:r>
                        <a:rPr lang="es-MX" sz="2400" u="none" cap="none" strike="noStrike">
                          <a:solidFill>
                            <a:schemeClr val="lt1"/>
                          </a:solidFill>
                        </a:rPr>
                        <a:t> (Manual)</a:t>
                      </a:r>
                      <a:endParaRPr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MX" sz="2400"/>
                        <a:t>❌</a:t>
                      </a:r>
                      <a:r>
                        <a:rPr lang="es-MX" sz="2400" u="none" cap="none" strike="noStrike">
                          <a:solidFill>
                            <a:schemeClr val="lt1"/>
                          </a:solidFill>
                        </a:rPr>
                        <a:t> (Manual)</a:t>
                      </a:r>
                      <a:endParaRPr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MX" sz="2400" u="none" cap="none" strike="noStrike">
                          <a:solidFill>
                            <a:schemeClr val="lt1"/>
                          </a:solidFill>
                        </a:rPr>
                        <a:t>❌ (Cód. Barras)</a:t>
                      </a:r>
                      <a:endParaRPr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MX" sz="2400" u="none" cap="none" strike="noStrike">
                          <a:solidFill>
                            <a:schemeClr val="lt1"/>
                          </a:solidFill>
                        </a:rPr>
                        <a:t>❌</a:t>
                      </a:r>
                      <a:endParaRPr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</a:tr>
              <a:tr h="1411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s-MX" sz="2800" u="none" cap="none" strike="noStrike">
                          <a:solidFill>
                            <a:schemeClr val="lt1"/>
                          </a:solidFill>
                        </a:rPr>
                        <a:t>FeFood</a:t>
                      </a:r>
                      <a:endParaRPr sz="28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MX" sz="2400" u="none" cap="none" strike="noStrike">
                          <a:solidFill>
                            <a:schemeClr val="lt1"/>
                          </a:solidFill>
                        </a:rPr>
                        <a:t>✅ (Sugerencias)</a:t>
                      </a:r>
                      <a:endParaRPr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MX" sz="2400" u="none" cap="none" strike="noStrike">
                          <a:solidFill>
                            <a:schemeClr val="lt1"/>
                          </a:solidFill>
                        </a:rPr>
                        <a:t>❌</a:t>
                      </a:r>
                      <a:endParaRPr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MX" sz="2400" u="none" cap="none" strike="noStrike">
                          <a:solidFill>
                            <a:schemeClr val="lt1"/>
                          </a:solidFill>
                        </a:rPr>
                        <a:t>✅ (IA Visual)</a:t>
                      </a:r>
                      <a:endParaRPr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MX" sz="2400" u="none" cap="none" strike="noStrike">
                          <a:solidFill>
                            <a:schemeClr val="lt1"/>
                          </a:solidFill>
                        </a:rPr>
                        <a:t>✅ (Foto Despensa)</a:t>
                      </a:r>
                      <a:endParaRPr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MX" sz="2400" u="none" cap="none" strike="noStrike">
                          <a:solidFill>
                            <a:schemeClr val="lt1"/>
                          </a:solidFill>
                        </a:rPr>
                        <a:t>❌</a:t>
                      </a:r>
                      <a:endParaRPr sz="24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</a:tr>
              <a:tr h="1411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MX" sz="2400" u="none" cap="none" strike="noStrik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PANTRYSMART</a:t>
                      </a:r>
                      <a:endParaRPr sz="2400" u="none" cap="none" strike="noStrike">
                        <a:solidFill>
                          <a:srgbClr val="FFFF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MX" sz="2400" u="none" cap="none" strike="noStrike">
                          <a:solidFill>
                            <a:srgbClr val="FFFF00"/>
                          </a:solidFill>
                        </a:rPr>
                        <a:t>✅ (Con IA)</a:t>
                      </a:r>
                      <a:endParaRPr sz="2400" u="none" cap="none" strike="noStrike">
                        <a:solidFill>
                          <a:srgbClr val="FFFF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MX" sz="2400" u="none" cap="none" strike="noStrike">
                          <a:solidFill>
                            <a:srgbClr val="FFFF00"/>
                          </a:solidFill>
                        </a:rPr>
                        <a:t>✅ (Inteligente)</a:t>
                      </a:r>
                      <a:endParaRPr sz="2400" u="none" cap="none" strike="noStrike">
                        <a:solidFill>
                          <a:srgbClr val="FFFF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MX" sz="2400" u="none" cap="none" strike="noStrike">
                          <a:solidFill>
                            <a:srgbClr val="FFFF00"/>
                          </a:solidFill>
                        </a:rPr>
                        <a:t>✅ (Automático)</a:t>
                      </a:r>
                      <a:endParaRPr sz="2400" u="none" cap="none" strike="noStrike">
                        <a:solidFill>
                          <a:srgbClr val="FFFF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MX" sz="2400" u="none" cap="none" strike="noStrike">
                          <a:solidFill>
                            <a:srgbClr val="FFFF00"/>
                          </a:solidFill>
                        </a:rPr>
                        <a:t>✅ (Lectura</a:t>
                      </a:r>
                      <a:r>
                        <a:rPr lang="es-MX" sz="2400">
                          <a:solidFill>
                            <a:srgbClr val="FFFF00"/>
                          </a:solidFill>
                        </a:rPr>
                        <a:t> </a:t>
                      </a:r>
                      <a:r>
                        <a:rPr lang="es-MX" sz="2400" u="none" cap="none" strike="noStrike">
                          <a:solidFill>
                            <a:srgbClr val="FFFF00"/>
                          </a:solidFill>
                        </a:rPr>
                        <a:t>Boleta)</a:t>
                      </a:r>
                      <a:endParaRPr sz="2400" u="none" cap="none" strike="noStrike">
                        <a:solidFill>
                          <a:srgbClr val="FFFF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s-MX" sz="2400" u="none" cap="none" strike="noStrike">
                          <a:solidFill>
                            <a:srgbClr val="FFFF00"/>
                          </a:solidFill>
                        </a:rPr>
                        <a:t>✅</a:t>
                      </a:r>
                      <a:endParaRPr sz="2400" u="none" cap="none" strike="noStrike">
                        <a:solidFill>
                          <a:srgbClr val="FFFF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5" name="Google Shape;425;g3987adf0d5e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52327" y="5381439"/>
            <a:ext cx="3535674" cy="490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g3987adf0d5e_0_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3330909" cy="2790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g3987adf0d5e_0_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8775389"/>
            <a:ext cx="4103901" cy="1011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g3987adf0d5e_0_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971970" y="475521"/>
            <a:ext cx="4316030" cy="1011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g3987adf0d5e_0_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63425" y="8310965"/>
            <a:ext cx="1524000" cy="1270275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g3987adf0d5e_0_10"/>
          <p:cNvSpPr txBox="1"/>
          <p:nvPr/>
        </p:nvSpPr>
        <p:spPr>
          <a:xfrm>
            <a:off x="6194698" y="612625"/>
            <a:ext cx="5898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B400"/>
              </a:buClr>
              <a:buSzPts val="5400"/>
              <a:buFont typeface="Rockwell"/>
              <a:buNone/>
            </a:pPr>
            <a:r>
              <a:rPr b="1" i="0" lang="es-MX" sz="5400" u="sng" cap="none" strike="noStrike">
                <a:solidFill>
                  <a:srgbClr val="F4B400"/>
                </a:solidFill>
                <a:latin typeface="Rockwell"/>
                <a:ea typeface="Rockwell"/>
                <a:cs typeface="Rockwell"/>
                <a:sym typeface="Rockwell"/>
              </a:rPr>
              <a:t>Inversión inicial</a:t>
            </a:r>
            <a:endParaRPr b="1" i="0" sz="5400" u="sng" cap="none" strike="noStrike">
              <a:solidFill>
                <a:srgbClr val="F4B400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graphicFrame>
        <p:nvGraphicFramePr>
          <p:cNvPr id="431" name="Google Shape;431;g3987adf0d5e_0_10"/>
          <p:cNvGraphicFramePr/>
          <p:nvPr/>
        </p:nvGraphicFramePr>
        <p:xfrm>
          <a:off x="876725" y="317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{1706572C-C272-4AB8-A1C4-CEDF5ADC8F51}</a:tableStyleId>
              </a:tblPr>
              <a:tblGrid>
                <a:gridCol w="3496650"/>
                <a:gridCol w="2802550"/>
                <a:gridCol w="10768750"/>
              </a:tblGrid>
              <a:tr h="409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2600">
                          <a:solidFill>
                            <a:srgbClr val="FFFFFF"/>
                          </a:solidFill>
                        </a:rPr>
                        <a:t>TIPO</a:t>
                      </a:r>
                      <a:endParaRPr b="1" sz="2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2600">
                          <a:solidFill>
                            <a:srgbClr val="FFFFFF"/>
                          </a:solidFill>
                        </a:rPr>
                        <a:t>VALOR</a:t>
                      </a:r>
                      <a:endParaRPr b="1" sz="2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2600">
                          <a:solidFill>
                            <a:srgbClr val="FFFFFF"/>
                          </a:solidFill>
                        </a:rPr>
                        <a:t>DESCRIPCIÓN</a:t>
                      </a:r>
                      <a:endParaRPr b="1" sz="2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2600">
                          <a:solidFill>
                            <a:srgbClr val="FFFFFF"/>
                          </a:solidFill>
                        </a:rPr>
                        <a:t>ACTIVOS</a:t>
                      </a:r>
                      <a:endParaRPr sz="2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48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2600">
                          <a:solidFill>
                            <a:srgbClr val="FFFFFF"/>
                          </a:solidFill>
                        </a:rPr>
                        <a:t>$5.625.000</a:t>
                      </a:r>
                      <a:endParaRPr sz="2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48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2600">
                          <a:solidFill>
                            <a:srgbClr val="FFFFFF"/>
                          </a:solidFill>
                        </a:rPr>
                        <a:t>Mobiliario</a:t>
                      </a:r>
                      <a:r>
                        <a:rPr lang="es-MX" sz="2600">
                          <a:solidFill>
                            <a:srgbClr val="FFFFFF"/>
                          </a:solidFill>
                        </a:rPr>
                        <a:t> oficina  (sillas, </a:t>
                      </a:r>
                      <a:r>
                        <a:rPr lang="es-MX" sz="2600">
                          <a:solidFill>
                            <a:srgbClr val="FFFFFF"/>
                          </a:solidFill>
                        </a:rPr>
                        <a:t>escritorios</a:t>
                      </a:r>
                      <a:r>
                        <a:rPr lang="es-MX" sz="2600">
                          <a:solidFill>
                            <a:srgbClr val="FFFFFF"/>
                          </a:solidFill>
                        </a:rPr>
                        <a:t>, monitores, notebooks, etc)</a:t>
                      </a:r>
                      <a:endParaRPr sz="2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4861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2600">
                          <a:solidFill>
                            <a:srgbClr val="FFFFFF"/>
                          </a:solidFill>
                        </a:rPr>
                        <a:t>INFRAESTRUCTURA</a:t>
                      </a:r>
                      <a:endParaRPr sz="2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2600">
                          <a:solidFill>
                            <a:srgbClr val="FFFFFF"/>
                          </a:solidFill>
                        </a:rPr>
                        <a:t>$1.980</a:t>
                      </a:r>
                      <a:r>
                        <a:rPr lang="es-MX" sz="2600">
                          <a:solidFill>
                            <a:srgbClr val="FFFFFF"/>
                          </a:solidFill>
                        </a:rPr>
                        <a:t>.000</a:t>
                      </a:r>
                      <a:endParaRPr sz="2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2600">
                          <a:solidFill>
                            <a:srgbClr val="FFFFFF"/>
                          </a:solidFill>
                        </a:rPr>
                        <a:t>Arriendo oficina    (3 meses de desarrollo)</a:t>
                      </a:r>
                      <a:endParaRPr sz="2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6082"/>
                    </a:solidFill>
                  </a:tcPr>
                </a:tc>
              </a:tr>
              <a:tr h="1152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2600">
                          <a:solidFill>
                            <a:srgbClr val="FFFFFF"/>
                          </a:solidFill>
                        </a:rPr>
                        <a:t>LEGAL Y ADMINISTRATIVO </a:t>
                      </a:r>
                      <a:endParaRPr sz="2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48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2600">
                          <a:solidFill>
                            <a:srgbClr val="FFFFFF"/>
                          </a:solidFill>
                        </a:rPr>
                        <a:t>$395.000</a:t>
                      </a:r>
                      <a:endParaRPr sz="2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48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2600">
                          <a:solidFill>
                            <a:srgbClr val="FFFFFF"/>
                          </a:solidFill>
                        </a:rPr>
                        <a:t>Trámites</a:t>
                      </a:r>
                      <a:r>
                        <a:rPr lang="es-MX" sz="2600">
                          <a:solidFill>
                            <a:srgbClr val="FFFFFF"/>
                          </a:solidFill>
                        </a:rPr>
                        <a:t> legales, contratos y registro. </a:t>
                      </a:r>
                      <a:endParaRPr sz="2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4861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2600">
                          <a:solidFill>
                            <a:srgbClr val="FFFFFF"/>
                          </a:solidFill>
                        </a:rPr>
                        <a:t>TOTAL </a:t>
                      </a:r>
                      <a:endParaRPr sz="2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2600">
                          <a:solidFill>
                            <a:srgbClr val="FFFFFF"/>
                          </a:solidFill>
                        </a:rPr>
                        <a:t>$8.000.000</a:t>
                      </a:r>
                      <a:endParaRPr sz="2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2600">
                          <a:solidFill>
                            <a:srgbClr val="FFFFFF"/>
                          </a:solidFill>
                        </a:rPr>
                        <a:t>Total inversión. </a:t>
                      </a:r>
                      <a:endParaRPr sz="26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608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g39d964d0c30_0_64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52327" y="5381439"/>
            <a:ext cx="3535674" cy="490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g39d964d0c30_0_640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3330909" cy="2790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g39d964d0c30_0_640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8775389"/>
            <a:ext cx="4103901" cy="1011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g39d964d0c30_0_640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5400000">
            <a:off x="15474095" y="2065146"/>
            <a:ext cx="4316030" cy="1011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g39d964d0c30_0_640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53400" y="8310965"/>
            <a:ext cx="1524000" cy="1270275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g39d964d0c30_0_6408"/>
          <p:cNvSpPr txBox="1"/>
          <p:nvPr>
            <p:ph type="title"/>
          </p:nvPr>
        </p:nvSpPr>
        <p:spPr>
          <a:xfrm>
            <a:off x="4139851" y="559125"/>
            <a:ext cx="100083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B400"/>
              </a:buClr>
              <a:buSzPts val="1400"/>
              <a:buFont typeface="Arial"/>
              <a:buNone/>
            </a:pPr>
            <a:r>
              <a:rPr lang="es-MX" sz="5400" u="sng">
                <a:solidFill>
                  <a:srgbClr val="F4B400"/>
                </a:solidFill>
                <a:latin typeface="Arial"/>
                <a:ea typeface="Arial"/>
                <a:cs typeface="Arial"/>
                <a:sym typeface="Arial"/>
              </a:rPr>
              <a:t>INDICADORES ECONÓMICOS</a:t>
            </a:r>
            <a:endParaRPr sz="5400" u="sng">
              <a:solidFill>
                <a:srgbClr val="F4B400"/>
              </a:solidFill>
            </a:endParaRPr>
          </a:p>
        </p:txBody>
      </p:sp>
      <p:grpSp>
        <p:nvGrpSpPr>
          <p:cNvPr id="442" name="Google Shape;442;g39d964d0c30_0_6408"/>
          <p:cNvGrpSpPr/>
          <p:nvPr/>
        </p:nvGrpSpPr>
        <p:grpSpPr>
          <a:xfrm>
            <a:off x="2941050" y="2637079"/>
            <a:ext cx="12472682" cy="5138768"/>
            <a:chOff x="9173" y="103882"/>
            <a:chExt cx="11665434" cy="4806180"/>
          </a:xfrm>
        </p:grpSpPr>
        <p:sp>
          <p:nvSpPr>
            <p:cNvPr id="443" name="Google Shape;443;g39d964d0c30_0_6408"/>
            <p:cNvSpPr/>
            <p:nvPr/>
          </p:nvSpPr>
          <p:spPr>
            <a:xfrm rot="5400000">
              <a:off x="1466262" y="2397847"/>
              <a:ext cx="575400" cy="1278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cap="flat" cmpd="sng" w="13575">
              <a:solidFill>
                <a:srgbClr val="4A9CCA"/>
              </a:solidFill>
              <a:prstDash val="solid"/>
              <a:round/>
              <a:headEnd len="sm" w="sm" type="none"/>
              <a:tailEnd len="med" w="med" type="stealth"/>
            </a:ln>
          </p:spPr>
          <p:txBody>
            <a:bodyPr anchorCtr="0" anchor="ctr" bIns="97750" lIns="97750" spcFirstLastPara="1" rIns="97750" wrap="square" tIns="97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7"/>
                <a:buFont typeface="Arial"/>
                <a:buNone/>
              </a:pPr>
              <a:r>
                <a:t/>
              </a:r>
              <a:endParaRPr b="0" i="0" sz="149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g39d964d0c30_0_6408"/>
            <p:cNvSpPr txBox="1"/>
            <p:nvPr/>
          </p:nvSpPr>
          <p:spPr>
            <a:xfrm>
              <a:off x="3822736" y="1135925"/>
              <a:ext cx="39713" cy="79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3575" spcFirstLastPara="1" rIns="13575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35"/>
                <a:buFont typeface="Rockwell"/>
                <a:buNone/>
              </a:pPr>
              <a:r>
                <a:t/>
              </a:r>
              <a:endParaRPr b="0" i="0" sz="534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445" name="Google Shape;445;g39d964d0c30_0_6408"/>
            <p:cNvSpPr/>
            <p:nvPr/>
          </p:nvSpPr>
          <p:spPr>
            <a:xfrm>
              <a:off x="9173" y="103882"/>
              <a:ext cx="3453380" cy="2072028"/>
            </a:xfrm>
            <a:prstGeom prst="rect">
              <a:avLst/>
            </a:prstGeom>
            <a:solidFill>
              <a:srgbClr val="4A9CCA"/>
            </a:solidFill>
            <a:ln>
              <a:noFill/>
            </a:ln>
          </p:spPr>
          <p:txBody>
            <a:bodyPr anchorCtr="0" anchor="ctr" bIns="97750" lIns="97750" spcFirstLastPara="1" rIns="97750" wrap="square" tIns="97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7"/>
                <a:buFont typeface="Arial"/>
                <a:buNone/>
              </a:pPr>
              <a:r>
                <a:t/>
              </a:r>
              <a:endParaRPr b="0" i="0" sz="149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g39d964d0c30_0_6408"/>
            <p:cNvSpPr txBox="1"/>
            <p:nvPr/>
          </p:nvSpPr>
          <p:spPr>
            <a:xfrm>
              <a:off x="9173" y="103882"/>
              <a:ext cx="3453380" cy="207202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250925" lIns="250925" spcFirstLastPara="1" rIns="250925" wrap="square" tIns="2509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528"/>
                <a:buFont typeface="Rockwell"/>
                <a:buNone/>
              </a:pPr>
              <a:r>
                <a:rPr b="0" i="0" lang="es-MX" sz="3528" u="none" cap="none" strike="noStrik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VAN 	</a:t>
              </a:r>
              <a:r>
                <a:rPr lang="es-MX" sz="3528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$11.447.047</a:t>
              </a:r>
              <a:endParaRPr sz="3528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528"/>
                <a:buFont typeface="Rockwell"/>
                <a:buNone/>
              </a:pPr>
              <a:r>
                <a:t/>
              </a:r>
              <a:endParaRPr sz="3528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447" name="Google Shape;447;g39d964d0c30_0_6408"/>
            <p:cNvSpPr txBox="1"/>
            <p:nvPr/>
          </p:nvSpPr>
          <p:spPr>
            <a:xfrm>
              <a:off x="8070395" y="1135925"/>
              <a:ext cx="39713" cy="79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3575" spcFirstLastPara="1" rIns="13575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35"/>
                <a:buFont typeface="Rockwell"/>
                <a:buNone/>
              </a:pPr>
              <a:r>
                <a:t/>
              </a:r>
              <a:endParaRPr b="0" i="0" sz="534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448" name="Google Shape;448;g39d964d0c30_0_6408"/>
            <p:cNvSpPr txBox="1"/>
            <p:nvPr/>
          </p:nvSpPr>
          <p:spPr>
            <a:xfrm>
              <a:off x="4047295" y="103887"/>
              <a:ext cx="3628500" cy="2072100"/>
            </a:xfrm>
            <a:prstGeom prst="rect">
              <a:avLst/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250925" lIns="250925" spcFirstLastPara="1" rIns="250925" wrap="square" tIns="2509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528"/>
                <a:buFont typeface="Rockwell"/>
                <a:buNone/>
              </a:pPr>
              <a:r>
                <a:rPr lang="es-MX" sz="3528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  </a:t>
              </a:r>
              <a:r>
                <a:rPr b="0" i="0" lang="es-MX" sz="3528" u="none" cap="none" strike="noStrik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TIR	  </a:t>
              </a:r>
              <a:br>
                <a:rPr b="0" i="0" lang="es-MX" sz="3528" u="none" cap="none" strike="noStrik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</a:br>
              <a:r>
                <a:rPr lang="es-MX" sz="3528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46,45%</a:t>
              </a:r>
              <a:endParaRPr sz="3528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528"/>
                <a:buFont typeface="Rockwell"/>
                <a:buNone/>
              </a:pPr>
              <a:r>
                <a:t/>
              </a:r>
              <a:endParaRPr sz="3528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449" name="Google Shape;449;g39d964d0c30_0_6408"/>
            <p:cNvSpPr txBox="1"/>
            <p:nvPr/>
          </p:nvSpPr>
          <p:spPr>
            <a:xfrm>
              <a:off x="5770213" y="2551978"/>
              <a:ext cx="426618" cy="79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3575" spcFirstLastPara="1" rIns="13575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35"/>
                <a:buFont typeface="Rockwell"/>
                <a:buNone/>
              </a:pPr>
              <a:r>
                <a:t/>
              </a:r>
              <a:endParaRPr b="0" i="0" sz="534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450" name="Google Shape;450;g39d964d0c30_0_6408"/>
            <p:cNvSpPr/>
            <p:nvPr/>
          </p:nvSpPr>
          <p:spPr>
            <a:xfrm>
              <a:off x="4222623" y="2970262"/>
              <a:ext cx="3453300" cy="1939800"/>
            </a:xfrm>
            <a:prstGeom prst="rect">
              <a:avLst/>
            </a:prstGeom>
            <a:solidFill>
              <a:srgbClr val="575DC9"/>
            </a:solidFill>
            <a:ln>
              <a:noFill/>
            </a:ln>
          </p:spPr>
          <p:txBody>
            <a:bodyPr anchorCtr="0" anchor="ctr" bIns="97750" lIns="97750" spcFirstLastPara="1" rIns="97750" wrap="square" tIns="97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7"/>
                <a:buFont typeface="Arial"/>
                <a:buNone/>
              </a:pPr>
              <a:r>
                <a:t/>
              </a:r>
              <a:endParaRPr b="0" i="0" sz="149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g39d964d0c30_0_6408"/>
            <p:cNvSpPr txBox="1"/>
            <p:nvPr/>
          </p:nvSpPr>
          <p:spPr>
            <a:xfrm>
              <a:off x="4047636" y="2789812"/>
              <a:ext cx="3628500" cy="2120100"/>
            </a:xfrm>
            <a:prstGeom prst="rect">
              <a:avLst/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250925" lIns="250925" spcFirstLastPara="1" rIns="250925" wrap="square" tIns="2509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528"/>
                <a:buFont typeface="Rockwell"/>
                <a:buNone/>
              </a:pPr>
              <a:r>
                <a:rPr b="0" i="0" lang="es-MX" sz="3528" u="none" cap="none" strike="noStrik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Tasa de dcto.	</a:t>
              </a:r>
              <a:r>
                <a:rPr lang="es-MX" sz="3528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2</a:t>
              </a:r>
              <a:r>
                <a:rPr b="0" i="0" lang="es-MX" sz="3528" u="none" cap="none" strike="noStrik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%</a:t>
              </a:r>
              <a:endParaRPr b="0" i="0" sz="3528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452" name="Google Shape;452;g39d964d0c30_0_6408"/>
            <p:cNvSpPr/>
            <p:nvPr/>
          </p:nvSpPr>
          <p:spPr>
            <a:xfrm rot="5400000">
              <a:off x="5777802" y="2350937"/>
              <a:ext cx="545700" cy="2262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cap="flat" cmpd="sng" w="13575">
              <a:solidFill>
                <a:srgbClr val="9865C8"/>
              </a:solidFill>
              <a:prstDash val="solid"/>
              <a:round/>
              <a:headEnd len="sm" w="sm" type="none"/>
              <a:tailEnd len="med" w="med" type="stealth"/>
            </a:ln>
          </p:spPr>
          <p:txBody>
            <a:bodyPr anchorCtr="0" anchor="ctr" bIns="97750" lIns="97750" spcFirstLastPara="1" rIns="97750" wrap="square" tIns="97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7"/>
                <a:buFont typeface="Arial"/>
                <a:buNone/>
              </a:pPr>
              <a:r>
                <a:t/>
              </a:r>
              <a:endParaRPr b="0" i="0" sz="149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g39d964d0c30_0_6408"/>
            <p:cNvSpPr txBox="1"/>
            <p:nvPr/>
          </p:nvSpPr>
          <p:spPr>
            <a:xfrm>
              <a:off x="3822736" y="4002231"/>
              <a:ext cx="39713" cy="79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3575" spcFirstLastPara="1" rIns="13575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35"/>
                <a:buFont typeface="Rockwell"/>
                <a:buNone/>
              </a:pPr>
              <a:r>
                <a:t/>
              </a:r>
              <a:endParaRPr b="0" i="0" sz="534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454" name="Google Shape;454;g39d964d0c30_0_6408"/>
            <p:cNvSpPr txBox="1"/>
            <p:nvPr/>
          </p:nvSpPr>
          <p:spPr>
            <a:xfrm>
              <a:off x="47566" y="2816678"/>
              <a:ext cx="3414900" cy="2055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250925" lIns="250925" spcFirstLastPara="1" rIns="250925" wrap="square" tIns="2509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528"/>
                <a:buFont typeface="Rockwell"/>
                <a:buNone/>
              </a:pPr>
              <a:r>
                <a:rPr lang="es-MX" sz="3528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Inversión</a:t>
              </a:r>
              <a:r>
                <a:rPr lang="es-MX" sz="3528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 inicial </a:t>
              </a:r>
              <a:br>
                <a:rPr lang="es-MX" sz="3528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</a:br>
              <a:r>
                <a:rPr lang="es-MX" sz="3528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$8.000.000   </a:t>
              </a:r>
              <a:endParaRPr sz="3528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528"/>
                <a:buFont typeface="Rockwell"/>
                <a:buNone/>
              </a:pPr>
              <a:r>
                <a:t/>
              </a:r>
              <a:endParaRPr sz="3528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455" name="Google Shape;455;g39d964d0c30_0_6408"/>
            <p:cNvSpPr txBox="1"/>
            <p:nvPr/>
          </p:nvSpPr>
          <p:spPr>
            <a:xfrm>
              <a:off x="7969307" y="2751699"/>
              <a:ext cx="3705300" cy="2120100"/>
            </a:xfrm>
            <a:prstGeom prst="rect">
              <a:avLst/>
            </a:prstGeom>
            <a:solidFill>
              <a:srgbClr val="6AA9D0"/>
            </a:solidFill>
            <a:ln>
              <a:noFill/>
            </a:ln>
          </p:spPr>
          <p:txBody>
            <a:bodyPr anchorCtr="0" anchor="ctr" bIns="250925" lIns="250925" spcFirstLastPara="1" rIns="250925" wrap="square" tIns="2509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528"/>
                <a:buFont typeface="Rockwell"/>
                <a:buNone/>
              </a:pPr>
              <a:r>
                <a:rPr b="0" i="0" lang="es-MX" sz="3528" u="none" cap="none" strike="noStrik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Payback	 </a:t>
              </a:r>
              <a:br>
                <a:rPr b="0" i="0" lang="es-MX" sz="3528" u="none" cap="none" strike="noStrik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</a:br>
              <a:r>
                <a:rPr b="0" i="0" lang="es-MX" sz="3528" u="none" cap="none" strike="noStrik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mes 2</a:t>
              </a:r>
              <a:r>
                <a:rPr lang="es-MX" sz="3528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2</a:t>
              </a:r>
              <a:endParaRPr b="0" i="0" sz="3528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</p:grpSp>
      <p:sp>
        <p:nvSpPr>
          <p:cNvPr id="456" name="Google Shape;456;g39d964d0c30_0_6408"/>
          <p:cNvSpPr/>
          <p:nvPr/>
        </p:nvSpPr>
        <p:spPr>
          <a:xfrm>
            <a:off x="11464625" y="2637075"/>
            <a:ext cx="3961800" cy="2237700"/>
          </a:xfrm>
          <a:prstGeom prst="rect">
            <a:avLst/>
          </a:prstGeom>
          <a:solidFill>
            <a:srgbClr val="5270C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Rockwell"/>
              <a:buNone/>
            </a:pPr>
            <a:r>
              <a:rPr lang="es-MX" sz="330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Horizonte </a:t>
            </a:r>
            <a:r>
              <a:rPr lang="es-MX" sz="330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proyecto</a:t>
            </a:r>
            <a:br>
              <a:rPr lang="es-MX" sz="330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</a:br>
            <a:r>
              <a:rPr lang="es-MX" sz="330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36 meses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g39d964d0c30_0_6408"/>
          <p:cNvSpPr/>
          <p:nvPr/>
        </p:nvSpPr>
        <p:spPr>
          <a:xfrm rot="5400000">
            <a:off x="13147375" y="5116700"/>
            <a:ext cx="604500" cy="120900"/>
          </a:xfrm>
          <a:custGeom>
            <a:rect b="b" l="l" r="r" t="t"/>
            <a:pathLst>
              <a:path extrusionOk="0" h="120000" w="120000">
                <a:moveTo>
                  <a:pt x="0" y="60000"/>
                </a:moveTo>
                <a:lnTo>
                  <a:pt x="120000" y="60000"/>
                </a:lnTo>
              </a:path>
            </a:pathLst>
          </a:custGeom>
          <a:noFill/>
          <a:ln cap="flat" cmpd="sng" w="12950">
            <a:solidFill>
              <a:srgbClr val="9865C8"/>
            </a:solidFill>
            <a:prstDash val="solid"/>
            <a:round/>
            <a:headEnd len="sm" w="sm" type="none"/>
            <a:tailEnd len="med" w="med" type="stealth"/>
          </a:ln>
        </p:spPr>
        <p:txBody>
          <a:bodyPr anchorCtr="0" anchor="ctr" bIns="93300" lIns="93300" spcFirstLastPara="1" rIns="93300" wrap="square" tIns="93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9"/>
              <a:buFont typeface="Arial"/>
              <a:buNone/>
            </a:pPr>
            <a:r>
              <a:t/>
            </a:r>
            <a:endParaRPr b="0" i="0" sz="142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78605" y="4571993"/>
            <a:ext cx="57351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25"/>
          <p:cNvSpPr txBox="1"/>
          <p:nvPr>
            <p:ph type="title"/>
          </p:nvPr>
        </p:nvSpPr>
        <p:spPr>
          <a:xfrm>
            <a:off x="5979747" y="511000"/>
            <a:ext cx="63285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82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B400"/>
              </a:buClr>
              <a:buSzPts val="1400"/>
              <a:buFont typeface="Arial"/>
              <a:buNone/>
            </a:pPr>
            <a:r>
              <a:rPr lang="es-MX" sz="5400" u="sng">
                <a:solidFill>
                  <a:srgbClr val="F4B400"/>
                </a:solidFill>
                <a:latin typeface="Arial"/>
                <a:ea typeface="Arial"/>
                <a:cs typeface="Arial"/>
                <a:sym typeface="Arial"/>
              </a:rPr>
              <a:t>IMPLEMENTACIÓN</a:t>
            </a:r>
            <a:endParaRPr>
              <a:solidFill>
                <a:srgbClr val="F4B400"/>
              </a:solidFill>
            </a:endParaRPr>
          </a:p>
        </p:txBody>
      </p:sp>
      <p:pic>
        <p:nvPicPr>
          <p:cNvPr id="464" name="Google Shape;46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5779857" cy="26473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3144" y="6180994"/>
            <a:ext cx="1011110" cy="4106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753744" y="0"/>
            <a:ext cx="1011111" cy="42094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7" name="Google Shape;467;p25"/>
          <p:cNvGrpSpPr/>
          <p:nvPr/>
        </p:nvGrpSpPr>
        <p:grpSpPr>
          <a:xfrm>
            <a:off x="1855150" y="1730425"/>
            <a:ext cx="13992224" cy="6263308"/>
            <a:chOff x="5681" y="0"/>
            <a:chExt cx="12917489" cy="5782227"/>
          </a:xfrm>
        </p:grpSpPr>
        <p:sp>
          <p:nvSpPr>
            <p:cNvPr id="468" name="Google Shape;468;p25"/>
            <p:cNvSpPr/>
            <p:nvPr/>
          </p:nvSpPr>
          <p:spPr>
            <a:xfrm>
              <a:off x="969663" y="0"/>
              <a:ext cx="10989525" cy="578222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DDEDE8"/>
                </a:gs>
                <a:gs pos="69000">
                  <a:srgbClr val="C2DCD4"/>
                </a:gs>
                <a:gs pos="100000">
                  <a:srgbClr val="AFC9C1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17"/>
                <a:buFont typeface="Arial"/>
                <a:buNone/>
              </a:pPr>
              <a:r>
                <a:t/>
              </a:r>
              <a:endParaRPr b="0" i="0" sz="151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25"/>
            <p:cNvSpPr/>
            <p:nvPr/>
          </p:nvSpPr>
          <p:spPr>
            <a:xfrm>
              <a:off x="5681" y="1734668"/>
              <a:ext cx="2484132" cy="2312891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6DC6AD"/>
                </a:gs>
                <a:gs pos="69000">
                  <a:srgbClr val="3BC3A2"/>
                </a:gs>
                <a:gs pos="100000">
                  <a:srgbClr val="34B193"/>
                </a:gs>
              </a:gsLst>
              <a:lin ang="5400000" scaled="0"/>
            </a:gradFill>
            <a:ln>
              <a:noFill/>
            </a:ln>
            <a:effectLst>
              <a:outerShdw blurRad="55029" rotWithShape="0" dir="5400000" dist="41272" sy="96000">
                <a:srgbClr val="000000">
                  <a:alpha val="52941"/>
                </a:srgbClr>
              </a:outerShdw>
            </a:effectLst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17"/>
                <a:buFont typeface="Arial"/>
                <a:buNone/>
              </a:pPr>
              <a:r>
                <a:t/>
              </a:r>
              <a:endParaRPr b="0" i="0" sz="151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25"/>
            <p:cNvSpPr txBox="1"/>
            <p:nvPr/>
          </p:nvSpPr>
          <p:spPr>
            <a:xfrm>
              <a:off x="118587" y="1847574"/>
              <a:ext cx="2258320" cy="20870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0775" lIns="90775" spcFirstLastPara="1" rIns="90775" wrap="square" tIns="907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83"/>
                <a:buFont typeface="Rockwell"/>
                <a:buNone/>
              </a:pPr>
              <a:r>
                <a:rPr b="0" i="0" lang="es-MX" sz="2383" u="none" cap="none" strike="noStrik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Planificación y Diseño (Arquitectura, BD, UI/UX)</a:t>
              </a:r>
              <a:endParaRPr b="0" i="0" sz="2383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  <a:p>
              <a:pPr indent="-68787" lvl="1" marL="185724" marR="0" rtl="0" algn="l">
                <a:lnSpc>
                  <a:spcPct val="90000"/>
                </a:lnSpc>
                <a:spcBef>
                  <a:spcPts val="834"/>
                </a:spcBef>
                <a:spcAft>
                  <a:spcPts val="0"/>
                </a:spcAft>
                <a:buClr>
                  <a:schemeClr val="lt1"/>
                </a:buClr>
                <a:buSzPts val="1842"/>
                <a:buFont typeface="Rockwell"/>
                <a:buNone/>
              </a:pPr>
              <a:r>
                <a:t/>
              </a:r>
              <a:endParaRPr b="0" i="0" sz="1841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471" name="Google Shape;471;p25"/>
            <p:cNvSpPr/>
            <p:nvPr/>
          </p:nvSpPr>
          <p:spPr>
            <a:xfrm>
              <a:off x="2614020" y="1734668"/>
              <a:ext cx="2484132" cy="2312891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6AA9D0"/>
                </a:gs>
                <a:gs pos="69000">
                  <a:srgbClr val="3797CE"/>
                </a:gs>
                <a:gs pos="100000">
                  <a:srgbClr val="2D8ABD"/>
                </a:gs>
              </a:gsLst>
              <a:lin ang="5400000" scaled="0"/>
            </a:gradFill>
            <a:ln>
              <a:noFill/>
            </a:ln>
            <a:effectLst>
              <a:outerShdw blurRad="55029" rotWithShape="0" dir="5400000" dist="41272" sy="96000">
                <a:srgbClr val="000000">
                  <a:alpha val="52941"/>
                </a:srgbClr>
              </a:outerShdw>
            </a:effectLst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17"/>
                <a:buFont typeface="Arial"/>
                <a:buNone/>
              </a:pPr>
              <a:r>
                <a:t/>
              </a:r>
              <a:endParaRPr b="0" i="0" sz="151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25"/>
            <p:cNvSpPr txBox="1"/>
            <p:nvPr/>
          </p:nvSpPr>
          <p:spPr>
            <a:xfrm>
              <a:off x="2697799" y="1535216"/>
              <a:ext cx="2258320" cy="20870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0775" lIns="90775" spcFirstLastPara="1" rIns="90775" wrap="square" tIns="90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83"/>
                <a:buFont typeface="Rockwell"/>
                <a:buNone/>
              </a:pPr>
              <a:r>
                <a:rPr b="0" i="0" lang="es-MX" sz="2383" u="none" cap="none" strike="noStrik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Desarrollo Backend (API, Lógica OCR/IA).</a:t>
              </a:r>
              <a:endParaRPr b="0" i="0" sz="2383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473" name="Google Shape;473;p25"/>
            <p:cNvSpPr/>
            <p:nvPr/>
          </p:nvSpPr>
          <p:spPr>
            <a:xfrm>
              <a:off x="5222360" y="1734668"/>
              <a:ext cx="2484132" cy="2312891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A77FCF"/>
                </a:gs>
                <a:gs pos="69000">
                  <a:srgbClr val="9054C9"/>
                </a:gs>
                <a:gs pos="100000">
                  <a:srgbClr val="8347BA"/>
                </a:gs>
              </a:gsLst>
              <a:lin ang="5400000" scaled="0"/>
            </a:gradFill>
            <a:ln>
              <a:noFill/>
            </a:ln>
            <a:effectLst>
              <a:outerShdw blurRad="55029" rotWithShape="0" dir="5400000" dist="41272" sy="96000">
                <a:srgbClr val="000000">
                  <a:alpha val="52941"/>
                </a:srgbClr>
              </a:outerShdw>
            </a:effectLst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17"/>
                <a:buFont typeface="Arial"/>
                <a:buNone/>
              </a:pPr>
              <a:r>
                <a:t/>
              </a:r>
              <a:endParaRPr b="0" i="0" sz="151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25"/>
            <p:cNvSpPr txBox="1"/>
            <p:nvPr/>
          </p:nvSpPr>
          <p:spPr>
            <a:xfrm>
              <a:off x="5321998" y="1376927"/>
              <a:ext cx="2258320" cy="20870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0775" lIns="90775" spcFirstLastPara="1" rIns="90775" wrap="square" tIns="90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83"/>
                <a:buFont typeface="Rockwell"/>
                <a:buNone/>
              </a:pPr>
              <a:r>
                <a:rPr b="0" i="0" lang="es-MX" sz="2383" u="none" cap="none" strike="noStrik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Desarrollo Frontend (App Móvil).</a:t>
              </a:r>
              <a:endParaRPr b="0" i="0" sz="2383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475" name="Google Shape;475;p25"/>
            <p:cNvSpPr/>
            <p:nvPr/>
          </p:nvSpPr>
          <p:spPr>
            <a:xfrm>
              <a:off x="7830699" y="1734668"/>
              <a:ext cx="2484132" cy="2312891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CA6C85"/>
                </a:gs>
                <a:gs pos="69000">
                  <a:srgbClr val="C93861"/>
                </a:gs>
                <a:gs pos="100000">
                  <a:srgbClr val="B73157"/>
                </a:gs>
              </a:gsLst>
              <a:lin ang="5400000" scaled="0"/>
            </a:gradFill>
            <a:ln>
              <a:noFill/>
            </a:ln>
            <a:effectLst>
              <a:outerShdw blurRad="55029" rotWithShape="0" dir="5400000" dist="41272" sy="96000">
                <a:srgbClr val="000000">
                  <a:alpha val="52941"/>
                </a:srgbClr>
              </a:outerShdw>
            </a:effectLst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17"/>
                <a:buFont typeface="Arial"/>
                <a:buNone/>
              </a:pPr>
              <a:r>
                <a:t/>
              </a:r>
              <a:endParaRPr b="0" i="0" sz="151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25"/>
            <p:cNvSpPr txBox="1"/>
            <p:nvPr/>
          </p:nvSpPr>
          <p:spPr>
            <a:xfrm>
              <a:off x="7930338" y="1529737"/>
              <a:ext cx="2258320" cy="20870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0775" lIns="90775" spcFirstLastPara="1" rIns="90775" wrap="square" tIns="90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83"/>
                <a:buFont typeface="Rockwell"/>
                <a:buNone/>
              </a:pPr>
              <a:r>
                <a:rPr b="0" i="0" lang="es-MX" sz="2383" u="none" cap="none" strike="noStrik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Integración y Pruebas (Unitarias, Sistema, UAT).</a:t>
              </a:r>
              <a:endParaRPr b="0" i="0" sz="2383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477" name="Google Shape;477;p25"/>
            <p:cNvSpPr/>
            <p:nvPr/>
          </p:nvSpPr>
          <p:spPr>
            <a:xfrm>
              <a:off x="10439038" y="1734668"/>
              <a:ext cx="2484132" cy="2312891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E0A862"/>
                </a:gs>
                <a:gs pos="69000">
                  <a:srgbClr val="E39624"/>
                </a:gs>
                <a:gs pos="100000">
                  <a:srgbClr val="D1891C"/>
                </a:gs>
              </a:gsLst>
              <a:lin ang="5400000" scaled="0"/>
            </a:gradFill>
            <a:ln>
              <a:noFill/>
            </a:ln>
            <a:effectLst>
              <a:outerShdw blurRad="55029" rotWithShape="0" dir="5400000" dist="41272" sy="96000">
                <a:srgbClr val="000000">
                  <a:alpha val="52941"/>
                </a:srgbClr>
              </a:outerShdw>
            </a:effectLst>
          </p:spPr>
          <p:txBody>
            <a:bodyPr anchorCtr="0" anchor="ctr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17"/>
                <a:buFont typeface="Arial"/>
                <a:buNone/>
              </a:pPr>
              <a:r>
                <a:t/>
              </a:r>
              <a:endParaRPr b="0" i="0" sz="151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25"/>
            <p:cNvSpPr txBox="1"/>
            <p:nvPr/>
          </p:nvSpPr>
          <p:spPr>
            <a:xfrm>
              <a:off x="10538677" y="1344554"/>
              <a:ext cx="2258320" cy="20870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0775" lIns="90775" spcFirstLastPara="1" rIns="90775" wrap="square" tIns="90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83"/>
                <a:buFont typeface="Rockwell"/>
                <a:buNone/>
              </a:pPr>
              <a:r>
                <a:rPr b="0" i="0" lang="es-MX" sz="2383" u="none" cap="none" strike="noStrike">
                  <a:solidFill>
                    <a:schemeClr val="lt1"/>
                  </a:solidFill>
                  <a:latin typeface="Rockwell"/>
                  <a:ea typeface="Rockwell"/>
                  <a:cs typeface="Rockwell"/>
                  <a:sym typeface="Rockwell"/>
                </a:rPr>
                <a:t>Entrega MVP y Documentación</a:t>
              </a:r>
              <a:endParaRPr b="0" i="0" sz="2383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</p:grpSp>
      <p:pic>
        <p:nvPicPr>
          <p:cNvPr descr="Engranaje único con relleno sólido" id="479" name="Google Shape;479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66837" y="5126776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martphone contorno" id="480" name="Google Shape;480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94062" y="512680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lave inglesa con relleno sólido" id="481" name="Google Shape;481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361972" y="5175679"/>
            <a:ext cx="816624" cy="8166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ja con relleno sólido" id="482" name="Google Shape;482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3965999" y="5126782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cibo con relleno sólido" id="483" name="Google Shape;483;p2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432724" y="5126803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25"/>
          <p:cNvSpPr/>
          <p:nvPr/>
        </p:nvSpPr>
        <p:spPr>
          <a:xfrm rot="5400000">
            <a:off x="2368875" y="6397600"/>
            <a:ext cx="1511700" cy="921900"/>
          </a:xfrm>
          <a:custGeom>
            <a:rect b="b" l="l" r="r" t="t"/>
            <a:pathLst>
              <a:path extrusionOk="0" h="120000" w="120000">
                <a:moveTo>
                  <a:pt x="0" y="60000"/>
                </a:moveTo>
                <a:lnTo>
                  <a:pt x="120000" y="60000"/>
                </a:lnTo>
              </a:path>
            </a:pathLst>
          </a:cu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5"/>
          <p:cNvSpPr/>
          <p:nvPr/>
        </p:nvSpPr>
        <p:spPr>
          <a:xfrm rot="5400000">
            <a:off x="5154175" y="6456700"/>
            <a:ext cx="1511700" cy="803700"/>
          </a:xfrm>
          <a:custGeom>
            <a:rect b="b" l="l" r="r" t="t"/>
            <a:pathLst>
              <a:path extrusionOk="0" h="120000" w="120000">
                <a:moveTo>
                  <a:pt x="0" y="60000"/>
                </a:moveTo>
                <a:lnTo>
                  <a:pt x="120000" y="60000"/>
                </a:lnTo>
              </a:path>
            </a:pathLst>
          </a:cu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25"/>
          <p:cNvSpPr/>
          <p:nvPr/>
        </p:nvSpPr>
        <p:spPr>
          <a:xfrm rot="5400000">
            <a:off x="8134999" y="6536800"/>
            <a:ext cx="1471500" cy="871800"/>
          </a:xfrm>
          <a:custGeom>
            <a:rect b="b" l="l" r="r" t="t"/>
            <a:pathLst>
              <a:path extrusionOk="0" h="120000" w="120000">
                <a:moveTo>
                  <a:pt x="0" y="60000"/>
                </a:moveTo>
                <a:lnTo>
                  <a:pt x="120000" y="60000"/>
                </a:lnTo>
              </a:path>
            </a:pathLst>
          </a:cu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5"/>
          <p:cNvSpPr/>
          <p:nvPr/>
        </p:nvSpPr>
        <p:spPr>
          <a:xfrm rot="5400000">
            <a:off x="10760150" y="6476200"/>
            <a:ext cx="1605900" cy="858900"/>
          </a:xfrm>
          <a:custGeom>
            <a:rect b="b" l="l" r="r" t="t"/>
            <a:pathLst>
              <a:path extrusionOk="0" h="120000" w="120000">
                <a:moveTo>
                  <a:pt x="0" y="60000"/>
                </a:moveTo>
                <a:lnTo>
                  <a:pt x="120000" y="60000"/>
                </a:lnTo>
              </a:path>
            </a:pathLst>
          </a:cu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5"/>
          <p:cNvSpPr/>
          <p:nvPr/>
        </p:nvSpPr>
        <p:spPr>
          <a:xfrm rot="5400000">
            <a:off x="13673200" y="6515300"/>
            <a:ext cx="1567200" cy="819300"/>
          </a:xfrm>
          <a:custGeom>
            <a:rect b="b" l="l" r="r" t="t"/>
            <a:pathLst>
              <a:path extrusionOk="0" h="120000" w="120000">
                <a:moveTo>
                  <a:pt x="0" y="60000"/>
                </a:moveTo>
                <a:lnTo>
                  <a:pt x="120000" y="60000"/>
                </a:lnTo>
              </a:path>
            </a:pathLst>
          </a:custGeom>
          <a:noFill/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25"/>
          <p:cNvSpPr/>
          <p:nvPr/>
        </p:nvSpPr>
        <p:spPr>
          <a:xfrm>
            <a:off x="2157950" y="7742125"/>
            <a:ext cx="1915200" cy="566700"/>
          </a:xfrm>
          <a:prstGeom prst="snip1Rect">
            <a:avLst>
              <a:gd fmla="val 16667" name="adj"/>
            </a:avLst>
          </a:prstGeom>
          <a:solidFill>
            <a:srgbClr val="6DC6A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2400">
                <a:solidFill>
                  <a:schemeClr val="lt1"/>
                </a:solidFill>
              </a:rPr>
              <a:t>10 </a:t>
            </a:r>
            <a:r>
              <a:rPr lang="es-MX" sz="2400">
                <a:solidFill>
                  <a:schemeClr val="lt1"/>
                </a:solidFill>
              </a:rPr>
              <a:t>Días</a:t>
            </a:r>
            <a:endParaRPr sz="24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90" name="Google Shape;490;p25"/>
          <p:cNvSpPr/>
          <p:nvPr/>
        </p:nvSpPr>
        <p:spPr>
          <a:xfrm>
            <a:off x="4859150" y="7742125"/>
            <a:ext cx="1915200" cy="566700"/>
          </a:xfrm>
          <a:prstGeom prst="snip1Rect">
            <a:avLst>
              <a:gd fmla="val 16667" name="adj"/>
            </a:avLst>
          </a:prstGeom>
          <a:solidFill>
            <a:srgbClr val="3D85C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>
                <a:solidFill>
                  <a:schemeClr val="lt1"/>
                </a:solidFill>
              </a:rPr>
              <a:t>30 </a:t>
            </a:r>
            <a:r>
              <a:rPr lang="es-MX" sz="2400">
                <a:solidFill>
                  <a:schemeClr val="lt1"/>
                </a:solidFill>
              </a:rPr>
              <a:t>Días</a:t>
            </a:r>
            <a:endParaRPr sz="24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91" name="Google Shape;491;p25"/>
          <p:cNvSpPr/>
          <p:nvPr/>
        </p:nvSpPr>
        <p:spPr>
          <a:xfrm>
            <a:off x="7790750" y="7742125"/>
            <a:ext cx="1915200" cy="566700"/>
          </a:xfrm>
          <a:prstGeom prst="snip1Rect">
            <a:avLst>
              <a:gd fmla="val 16667" name="adj"/>
            </a:avLst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>
                <a:solidFill>
                  <a:schemeClr val="lt1"/>
                </a:solidFill>
              </a:rPr>
              <a:t>30 </a:t>
            </a:r>
            <a:r>
              <a:rPr lang="es-MX" sz="2400">
                <a:solidFill>
                  <a:schemeClr val="lt1"/>
                </a:solidFill>
              </a:rPr>
              <a:t>Días</a:t>
            </a:r>
            <a:endParaRPr sz="24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92" name="Google Shape;492;p25"/>
          <p:cNvSpPr/>
          <p:nvPr/>
        </p:nvSpPr>
        <p:spPr>
          <a:xfrm>
            <a:off x="10491950" y="7742125"/>
            <a:ext cx="1915200" cy="566700"/>
          </a:xfrm>
          <a:prstGeom prst="snip1Rect">
            <a:avLst>
              <a:gd fmla="val 16667" name="adj"/>
            </a:avLst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>
                <a:solidFill>
                  <a:schemeClr val="lt1"/>
                </a:solidFill>
              </a:rPr>
              <a:t>15 </a:t>
            </a:r>
            <a:r>
              <a:rPr lang="es-MX" sz="2400">
                <a:solidFill>
                  <a:schemeClr val="lt1"/>
                </a:solidFill>
              </a:rPr>
              <a:t>Días</a:t>
            </a:r>
            <a:r>
              <a:rPr lang="es-MX" sz="2400">
                <a:solidFill>
                  <a:schemeClr val="lt1"/>
                </a:solidFill>
              </a:rPr>
              <a:t> </a:t>
            </a:r>
            <a:endParaRPr sz="24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493" name="Google Shape;493;p25"/>
          <p:cNvSpPr/>
          <p:nvPr/>
        </p:nvSpPr>
        <p:spPr>
          <a:xfrm>
            <a:off x="13553150" y="7742125"/>
            <a:ext cx="1915200" cy="566700"/>
          </a:xfrm>
          <a:prstGeom prst="snip1Rect">
            <a:avLst>
              <a:gd fmla="val 16667" name="adj"/>
            </a:avLst>
          </a:prstGeom>
          <a:solidFill>
            <a:srgbClr val="E0A86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>
                <a:solidFill>
                  <a:schemeClr val="lt1"/>
                </a:solidFill>
              </a:rPr>
              <a:t>5 D</a:t>
            </a:r>
            <a:r>
              <a:rPr lang="es-MX" sz="2400">
                <a:solidFill>
                  <a:schemeClr val="lt1"/>
                </a:solidFill>
              </a:rPr>
              <a:t>ías</a:t>
            </a:r>
            <a:r>
              <a:rPr lang="es-MX" sz="2400">
                <a:solidFill>
                  <a:schemeClr val="lt1"/>
                </a:solidFill>
              </a:rPr>
              <a:t> </a:t>
            </a:r>
            <a:endParaRPr sz="24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52327" y="5381439"/>
            <a:ext cx="3535674" cy="490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3330909" cy="2790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8775389"/>
            <a:ext cx="4103901" cy="1011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971970" y="475521"/>
            <a:ext cx="4316030" cy="1011109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27"/>
          <p:cNvSpPr txBox="1"/>
          <p:nvPr>
            <p:ph type="title"/>
          </p:nvPr>
        </p:nvSpPr>
        <p:spPr>
          <a:xfrm>
            <a:off x="5832449" y="642725"/>
            <a:ext cx="66231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B400"/>
              </a:buClr>
              <a:buSzPts val="1400"/>
              <a:buFont typeface="Arial"/>
              <a:buNone/>
            </a:pPr>
            <a:r>
              <a:rPr lang="es-MX" sz="5400" u="sng">
                <a:solidFill>
                  <a:srgbClr val="F4B400"/>
                </a:solidFill>
                <a:latin typeface="Arial"/>
                <a:ea typeface="Arial"/>
                <a:cs typeface="Arial"/>
                <a:sym typeface="Arial"/>
              </a:rPr>
              <a:t>IMPLEMENTACIÓN </a:t>
            </a:r>
            <a:endParaRPr sz="5400" u="sng">
              <a:solidFill>
                <a:srgbClr val="F4B4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oftware and Web Page Programming Concept. Programmer Characters Working on Computer with Code on Screen. Freelancer Workplace Coding. Vector illustration (proporcionado por Getty Images)" id="503" name="Google Shape;503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566170" y="3449377"/>
            <a:ext cx="5264338" cy="38641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4" name="Google Shape;504;p27"/>
          <p:cNvGrpSpPr/>
          <p:nvPr/>
        </p:nvGrpSpPr>
        <p:grpSpPr>
          <a:xfrm>
            <a:off x="1294950" y="3257724"/>
            <a:ext cx="11014171" cy="4631114"/>
            <a:chOff x="0" y="69971"/>
            <a:chExt cx="9821804" cy="3099601"/>
          </a:xfrm>
        </p:grpSpPr>
        <p:sp>
          <p:nvSpPr>
            <p:cNvPr id="505" name="Google Shape;505;p27"/>
            <p:cNvSpPr/>
            <p:nvPr/>
          </p:nvSpPr>
          <p:spPr>
            <a:xfrm>
              <a:off x="0" y="276611"/>
              <a:ext cx="9821804" cy="352800"/>
            </a:xfrm>
            <a:prstGeom prst="rect">
              <a:avLst/>
            </a:prstGeom>
            <a:solidFill>
              <a:srgbClr val="AADAFB">
                <a:alpha val="89019"/>
              </a:srgbClr>
            </a:solidFill>
            <a:ln>
              <a:noFill/>
            </a:ln>
          </p:spPr>
          <p:txBody>
            <a:bodyPr anchorCtr="0" anchor="ctr" bIns="98150" lIns="98150" spcFirstLastPara="1" rIns="98150" wrap="square" tIns="98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3"/>
                <a:buFont typeface="Arial"/>
                <a:buNone/>
              </a:pPr>
              <a:r>
                <a:t/>
              </a:r>
              <a:endParaRPr b="0" i="0" sz="150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27"/>
            <p:cNvSpPr/>
            <p:nvPr/>
          </p:nvSpPr>
          <p:spPr>
            <a:xfrm>
              <a:off x="491090" y="69971"/>
              <a:ext cx="6875262" cy="41328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  <a:effectLst>
              <a:outerShdw blurRad="54534" rotWithShape="0" dir="5400000" dist="40900" sy="96000">
                <a:srgbClr val="000000">
                  <a:alpha val="52941"/>
                </a:srgbClr>
              </a:outerShdw>
            </a:effectLst>
          </p:spPr>
          <p:txBody>
            <a:bodyPr anchorCtr="0" anchor="ctr" bIns="98150" lIns="98150" spcFirstLastPara="1" rIns="98150" wrap="square" tIns="98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3"/>
                <a:buFont typeface="Arial"/>
                <a:buNone/>
              </a:pPr>
              <a:r>
                <a:t/>
              </a:r>
              <a:endParaRPr b="0" i="0" sz="150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27"/>
            <p:cNvSpPr txBox="1"/>
            <p:nvPr/>
          </p:nvSpPr>
          <p:spPr>
            <a:xfrm>
              <a:off x="511265" y="90146"/>
              <a:ext cx="6834912" cy="3729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78950" spcFirstLastPara="1" rIns="27895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47"/>
                <a:buFont typeface="Arial"/>
                <a:buNone/>
              </a:pPr>
              <a:r>
                <a:rPr b="0" i="0" lang="es-MX" sz="2576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✓ Plataforma Móvil: React Native (Android).</a:t>
              </a:r>
              <a:endParaRPr b="0" i="0" sz="2576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27"/>
            <p:cNvSpPr/>
            <p:nvPr/>
          </p:nvSpPr>
          <p:spPr>
            <a:xfrm>
              <a:off x="0" y="911652"/>
              <a:ext cx="9821804" cy="352800"/>
            </a:xfrm>
            <a:prstGeom prst="rect">
              <a:avLst/>
            </a:prstGeom>
            <a:solidFill>
              <a:srgbClr val="AADAFB">
                <a:alpha val="89019"/>
              </a:srgbClr>
            </a:solidFill>
            <a:ln>
              <a:noFill/>
            </a:ln>
          </p:spPr>
          <p:txBody>
            <a:bodyPr anchorCtr="0" anchor="ctr" bIns="98150" lIns="98150" spcFirstLastPara="1" rIns="98150" wrap="square" tIns="98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3"/>
                <a:buFont typeface="Arial"/>
                <a:buNone/>
              </a:pPr>
              <a:r>
                <a:t/>
              </a:r>
              <a:endParaRPr b="0" i="0" sz="150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27"/>
            <p:cNvSpPr/>
            <p:nvPr/>
          </p:nvSpPr>
          <p:spPr>
            <a:xfrm>
              <a:off x="491090" y="705012"/>
              <a:ext cx="6875262" cy="41328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  <a:effectLst>
              <a:outerShdw blurRad="54534" rotWithShape="0" dir="5400000" dist="40900" sy="96000">
                <a:srgbClr val="000000">
                  <a:alpha val="52941"/>
                </a:srgbClr>
              </a:outerShdw>
            </a:effectLst>
          </p:spPr>
          <p:txBody>
            <a:bodyPr anchorCtr="0" anchor="ctr" bIns="98150" lIns="98150" spcFirstLastPara="1" rIns="98150" wrap="square" tIns="98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3"/>
                <a:buFont typeface="Arial"/>
                <a:buNone/>
              </a:pPr>
              <a:r>
                <a:t/>
              </a:r>
              <a:endParaRPr b="0" i="0" sz="150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27"/>
            <p:cNvSpPr txBox="1"/>
            <p:nvPr/>
          </p:nvSpPr>
          <p:spPr>
            <a:xfrm>
              <a:off x="511265" y="725187"/>
              <a:ext cx="6834912" cy="3729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78950" spcFirstLastPara="1" rIns="27895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47"/>
                <a:buFont typeface="Arial"/>
                <a:buNone/>
              </a:pPr>
              <a:r>
                <a:rPr b="0" i="0" lang="es-MX" sz="2576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✓ Inteligencia Artificial: API OpenAI (GPT).</a:t>
              </a:r>
              <a:endParaRPr b="0" i="0" sz="2576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27"/>
            <p:cNvSpPr/>
            <p:nvPr/>
          </p:nvSpPr>
          <p:spPr>
            <a:xfrm>
              <a:off x="0" y="1546692"/>
              <a:ext cx="9821804" cy="352800"/>
            </a:xfrm>
            <a:prstGeom prst="rect">
              <a:avLst/>
            </a:prstGeom>
            <a:solidFill>
              <a:srgbClr val="AADAFB">
                <a:alpha val="89019"/>
              </a:srgbClr>
            </a:solidFill>
            <a:ln>
              <a:noFill/>
            </a:ln>
          </p:spPr>
          <p:txBody>
            <a:bodyPr anchorCtr="0" anchor="ctr" bIns="98150" lIns="98150" spcFirstLastPara="1" rIns="98150" wrap="square" tIns="98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3"/>
                <a:buFont typeface="Arial"/>
                <a:buNone/>
              </a:pPr>
              <a:r>
                <a:t/>
              </a:r>
              <a:endParaRPr b="0" i="0" sz="150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27"/>
            <p:cNvSpPr/>
            <p:nvPr/>
          </p:nvSpPr>
          <p:spPr>
            <a:xfrm>
              <a:off x="491090" y="1340052"/>
              <a:ext cx="6875262" cy="41328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  <a:effectLst>
              <a:outerShdw blurRad="54534" rotWithShape="0" dir="5400000" dist="40900" sy="96000">
                <a:srgbClr val="000000">
                  <a:alpha val="52941"/>
                </a:srgbClr>
              </a:outerShdw>
            </a:effectLst>
          </p:spPr>
          <p:txBody>
            <a:bodyPr anchorCtr="0" anchor="ctr" bIns="98150" lIns="98150" spcFirstLastPara="1" rIns="98150" wrap="square" tIns="98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3"/>
                <a:buFont typeface="Arial"/>
                <a:buNone/>
              </a:pPr>
              <a:r>
                <a:t/>
              </a:r>
              <a:endParaRPr b="0" i="0" sz="150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27"/>
            <p:cNvSpPr txBox="1"/>
            <p:nvPr/>
          </p:nvSpPr>
          <p:spPr>
            <a:xfrm>
              <a:off x="511265" y="1360227"/>
              <a:ext cx="6834912" cy="3729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78950" spcFirstLastPara="1" rIns="27895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47"/>
                <a:buFont typeface="Arial"/>
                <a:buNone/>
              </a:pPr>
              <a:r>
                <a:rPr b="0" i="0" lang="es-MX" sz="2576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✓ Reconocimiento Óptico: OCR.</a:t>
              </a:r>
              <a:endParaRPr b="0" i="0" sz="2576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27"/>
            <p:cNvSpPr/>
            <p:nvPr/>
          </p:nvSpPr>
          <p:spPr>
            <a:xfrm>
              <a:off x="0" y="2181732"/>
              <a:ext cx="9821804" cy="352800"/>
            </a:xfrm>
            <a:prstGeom prst="rect">
              <a:avLst/>
            </a:prstGeom>
            <a:solidFill>
              <a:srgbClr val="AADAFB">
                <a:alpha val="89019"/>
              </a:srgbClr>
            </a:solidFill>
            <a:ln>
              <a:noFill/>
            </a:ln>
          </p:spPr>
          <p:txBody>
            <a:bodyPr anchorCtr="0" anchor="ctr" bIns="98150" lIns="98150" spcFirstLastPara="1" rIns="98150" wrap="square" tIns="98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3"/>
                <a:buFont typeface="Arial"/>
                <a:buNone/>
              </a:pPr>
              <a:r>
                <a:t/>
              </a:r>
              <a:endParaRPr b="0" i="0" sz="150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27"/>
            <p:cNvSpPr/>
            <p:nvPr/>
          </p:nvSpPr>
          <p:spPr>
            <a:xfrm>
              <a:off x="491090" y="1975092"/>
              <a:ext cx="6875262" cy="41328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  <a:effectLst>
              <a:outerShdw blurRad="54534" rotWithShape="0" dir="5400000" dist="40900" sy="96000">
                <a:srgbClr val="000000">
                  <a:alpha val="52941"/>
                </a:srgbClr>
              </a:outerShdw>
            </a:effectLst>
          </p:spPr>
          <p:txBody>
            <a:bodyPr anchorCtr="0" anchor="ctr" bIns="98150" lIns="98150" spcFirstLastPara="1" rIns="98150" wrap="square" tIns="98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3"/>
                <a:buFont typeface="Arial"/>
                <a:buNone/>
              </a:pPr>
              <a:r>
                <a:t/>
              </a:r>
              <a:endParaRPr b="0" i="0" sz="150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27"/>
            <p:cNvSpPr txBox="1"/>
            <p:nvPr/>
          </p:nvSpPr>
          <p:spPr>
            <a:xfrm>
              <a:off x="511265" y="1995267"/>
              <a:ext cx="6834912" cy="3729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78950" spcFirstLastPara="1" rIns="27895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47"/>
                <a:buFont typeface="Arial"/>
                <a:buNone/>
              </a:pPr>
              <a:r>
                <a:rPr b="0" i="0" lang="es-MX" sz="2576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✓ Backend: API RESTful + Base de Datos SQL.</a:t>
              </a:r>
              <a:endParaRPr b="0" i="0" sz="2576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27"/>
            <p:cNvSpPr/>
            <p:nvPr/>
          </p:nvSpPr>
          <p:spPr>
            <a:xfrm>
              <a:off x="0" y="2816772"/>
              <a:ext cx="9821804" cy="352800"/>
            </a:xfrm>
            <a:prstGeom prst="rect">
              <a:avLst/>
            </a:prstGeom>
            <a:solidFill>
              <a:srgbClr val="AADAFB">
                <a:alpha val="89019"/>
              </a:srgbClr>
            </a:solidFill>
            <a:ln>
              <a:noFill/>
            </a:ln>
          </p:spPr>
          <p:txBody>
            <a:bodyPr anchorCtr="0" anchor="ctr" bIns="98150" lIns="98150" spcFirstLastPara="1" rIns="98150" wrap="square" tIns="98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3"/>
                <a:buFont typeface="Arial"/>
                <a:buNone/>
              </a:pPr>
              <a:r>
                <a:t/>
              </a:r>
              <a:endParaRPr b="0" i="0" sz="150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27"/>
            <p:cNvSpPr/>
            <p:nvPr/>
          </p:nvSpPr>
          <p:spPr>
            <a:xfrm>
              <a:off x="491090" y="2610132"/>
              <a:ext cx="6875262" cy="41328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>
              <a:noFill/>
            </a:ln>
            <a:effectLst>
              <a:outerShdw blurRad="54534" rotWithShape="0" dir="5400000" dist="40900" sy="96000">
                <a:srgbClr val="000000">
                  <a:alpha val="52941"/>
                </a:srgbClr>
              </a:outerShdw>
            </a:effectLst>
          </p:spPr>
          <p:txBody>
            <a:bodyPr anchorCtr="0" anchor="ctr" bIns="98150" lIns="98150" spcFirstLastPara="1" rIns="98150" wrap="square" tIns="981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3"/>
                <a:buFont typeface="Arial"/>
                <a:buNone/>
              </a:pPr>
              <a:r>
                <a:t/>
              </a:r>
              <a:endParaRPr b="0" i="0" sz="150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27"/>
            <p:cNvSpPr txBox="1"/>
            <p:nvPr/>
          </p:nvSpPr>
          <p:spPr>
            <a:xfrm>
              <a:off x="511265" y="2630307"/>
              <a:ext cx="6834912" cy="3729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78950" spcFirstLastPara="1" rIns="27895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47"/>
                <a:buFont typeface="Arial"/>
                <a:buNone/>
              </a:pPr>
              <a:r>
                <a:rPr b="0" i="0" lang="es-MX" sz="2576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✓ Herramientas: GitHub.</a:t>
              </a:r>
              <a:endParaRPr b="0" i="0" sz="2576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0" name="Google Shape;520;p27"/>
          <p:cNvSpPr txBox="1"/>
          <p:nvPr/>
        </p:nvSpPr>
        <p:spPr>
          <a:xfrm>
            <a:off x="1900000" y="2623183"/>
            <a:ext cx="320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MX" sz="24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Recursos Técnicos:</a:t>
            </a:r>
            <a:endParaRPr b="0" i="0" sz="2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5" name="Google Shape;525;g39d964d0c30_0_69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52327" y="5381439"/>
            <a:ext cx="3535674" cy="490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g39d964d0c30_0_69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3330909" cy="2790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g39d964d0c30_0_696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8775389"/>
            <a:ext cx="4103901" cy="1011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g39d964d0c30_0_696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971970" y="475521"/>
            <a:ext cx="4316030" cy="1011109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g39d964d0c30_0_6967"/>
          <p:cNvSpPr txBox="1"/>
          <p:nvPr>
            <p:ph type="title"/>
          </p:nvPr>
        </p:nvSpPr>
        <p:spPr>
          <a:xfrm>
            <a:off x="5890800" y="559125"/>
            <a:ext cx="65064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B400"/>
              </a:buClr>
              <a:buSzPts val="1400"/>
              <a:buFont typeface="Arial"/>
              <a:buNone/>
            </a:pPr>
            <a:r>
              <a:rPr lang="es-MX" sz="5400" u="sng">
                <a:solidFill>
                  <a:srgbClr val="F4B400"/>
                </a:solidFill>
                <a:latin typeface="Arial"/>
                <a:ea typeface="Arial"/>
                <a:cs typeface="Arial"/>
                <a:sym typeface="Arial"/>
              </a:rPr>
              <a:t>IMPLEMENTACIÓN </a:t>
            </a:r>
            <a:endParaRPr sz="5400" u="sng">
              <a:solidFill>
                <a:srgbClr val="F4B4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oftware and Web Page Programming Concept. Programmer Characters Working on Computer with Code on Screen. Freelancer Workplace Coding. Vector illustration (proporcionado por Getty Images)" id="530" name="Google Shape;530;g39d964d0c30_0_696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498934" y="3568489"/>
            <a:ext cx="5264336" cy="38641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1" name="Google Shape;531;g39d964d0c30_0_6967"/>
          <p:cNvGrpSpPr/>
          <p:nvPr/>
        </p:nvGrpSpPr>
        <p:grpSpPr>
          <a:xfrm>
            <a:off x="840254" y="4154379"/>
            <a:ext cx="10603193" cy="2999455"/>
            <a:chOff x="0" y="3883"/>
            <a:chExt cx="9964270" cy="1791720"/>
          </a:xfrm>
        </p:grpSpPr>
        <p:sp>
          <p:nvSpPr>
            <p:cNvPr id="532" name="Google Shape;532;g39d964d0c30_0_6967"/>
            <p:cNvSpPr/>
            <p:nvPr/>
          </p:nvSpPr>
          <p:spPr>
            <a:xfrm>
              <a:off x="0" y="313843"/>
              <a:ext cx="9964270" cy="529200"/>
            </a:xfrm>
            <a:prstGeom prst="rect">
              <a:avLst/>
            </a:prstGeom>
            <a:solidFill>
              <a:srgbClr val="AADAFB">
                <a:alpha val="89019"/>
              </a:srgbClr>
            </a:solidFill>
            <a:ln cap="flat" cmpd="sng" w="127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g39d964d0c30_0_6967"/>
            <p:cNvSpPr/>
            <p:nvPr/>
          </p:nvSpPr>
          <p:spPr>
            <a:xfrm>
              <a:off x="498213" y="3883"/>
              <a:ext cx="6974989" cy="61992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527290"/>
                </a:gs>
                <a:gs pos="69000">
                  <a:srgbClr val="1B5683"/>
                </a:gs>
                <a:gs pos="100000">
                  <a:srgbClr val="184F77"/>
                </a:gs>
              </a:gsLst>
              <a:lin ang="5400000" scaled="0"/>
            </a:gradFill>
            <a:ln>
              <a:noFill/>
            </a:ln>
            <a:effectLst>
              <a:outerShdw blurRad="50800" rotWithShape="0" dir="5400000" dist="38100" sy="96000">
                <a:srgbClr val="000000">
                  <a:alpha val="5294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g39d964d0c30_0_6967"/>
            <p:cNvSpPr txBox="1"/>
            <p:nvPr/>
          </p:nvSpPr>
          <p:spPr>
            <a:xfrm>
              <a:off x="528475" y="34145"/>
              <a:ext cx="6974988" cy="5593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63625" spcFirstLastPara="1" rIns="26362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s-MX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Equipo de Desarrollo (3 Ingenieros en Informática).</a:t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g39d964d0c30_0_6967"/>
            <p:cNvSpPr/>
            <p:nvPr/>
          </p:nvSpPr>
          <p:spPr>
            <a:xfrm>
              <a:off x="0" y="1266403"/>
              <a:ext cx="9964270" cy="529200"/>
            </a:xfrm>
            <a:prstGeom prst="rect">
              <a:avLst/>
            </a:prstGeom>
            <a:solidFill>
              <a:srgbClr val="AADAFB">
                <a:alpha val="89019"/>
              </a:srgbClr>
            </a:solidFill>
            <a:ln cap="flat" cmpd="sng" w="127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g39d964d0c30_0_6967"/>
            <p:cNvSpPr/>
            <p:nvPr/>
          </p:nvSpPr>
          <p:spPr>
            <a:xfrm>
              <a:off x="498213" y="956443"/>
              <a:ext cx="6974989" cy="61992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527290"/>
                </a:gs>
                <a:gs pos="69000">
                  <a:srgbClr val="1B5683"/>
                </a:gs>
                <a:gs pos="100000">
                  <a:srgbClr val="184F77"/>
                </a:gs>
              </a:gsLst>
              <a:lin ang="5400000" scaled="0"/>
            </a:gradFill>
            <a:ln>
              <a:noFill/>
            </a:ln>
            <a:effectLst>
              <a:outerShdw blurRad="50800" rotWithShape="0" dir="5400000" dist="38100" sy="96000">
                <a:srgbClr val="000000">
                  <a:alpha val="5294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g39d964d0c30_0_6967"/>
            <p:cNvSpPr txBox="1"/>
            <p:nvPr/>
          </p:nvSpPr>
          <p:spPr>
            <a:xfrm>
              <a:off x="528475" y="986705"/>
              <a:ext cx="7274907" cy="5593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63625" spcFirstLastPara="1" rIns="263625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s-MX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Roles: Desarrollo, Integración IA/Backend, </a:t>
              </a:r>
              <a:br>
                <a:rPr b="0" i="0" lang="es-MX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s-MX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Desarrollo Frontend/UX.</a:t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8" name="Google Shape;538;g39d964d0c30_0_6967"/>
          <p:cNvSpPr txBox="1"/>
          <p:nvPr/>
        </p:nvSpPr>
        <p:spPr>
          <a:xfrm>
            <a:off x="1877138" y="2478797"/>
            <a:ext cx="3440448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MX" sz="2800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Recursos Humanos:</a:t>
            </a:r>
            <a:endParaRPr b="0" i="0" sz="28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Google Shape;54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877314"/>
            <a:ext cx="4232545" cy="5409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43066" y="0"/>
            <a:ext cx="4644933" cy="5169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643066" y="8752746"/>
            <a:ext cx="4527360" cy="10111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28"/>
          <p:cNvSpPr txBox="1"/>
          <p:nvPr>
            <p:ph type="title"/>
          </p:nvPr>
        </p:nvSpPr>
        <p:spPr>
          <a:xfrm>
            <a:off x="5314439" y="4082584"/>
            <a:ext cx="7246732" cy="936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B400"/>
              </a:buClr>
              <a:buSzPts val="1400"/>
              <a:buFont typeface="Arial"/>
              <a:buNone/>
            </a:pPr>
            <a:r>
              <a:rPr lang="es-MX" sz="6000">
                <a:solidFill>
                  <a:srgbClr val="F4B400"/>
                </a:solidFill>
                <a:latin typeface="Arial"/>
                <a:ea typeface="Arial"/>
                <a:cs typeface="Arial"/>
                <a:sym typeface="Arial"/>
              </a:rPr>
              <a:t>DEMOSTRACIÓN</a:t>
            </a:r>
            <a:endParaRPr sz="6000">
              <a:solidFill>
                <a:srgbClr val="F4B4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7" name="Google Shape;547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30922" y="0"/>
            <a:ext cx="5352752" cy="1589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" name="Google Shape;552;p3"/>
          <p:cNvGrpSpPr/>
          <p:nvPr/>
        </p:nvGrpSpPr>
        <p:grpSpPr>
          <a:xfrm>
            <a:off x="12552897" y="3095451"/>
            <a:ext cx="5735103" cy="7103151"/>
            <a:chOff x="12552894" y="3183848"/>
            <a:chExt cx="5735103" cy="7103151"/>
          </a:xfrm>
        </p:grpSpPr>
        <p:pic>
          <p:nvPicPr>
            <p:cNvPr id="553" name="Google Shape;553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552894" y="5143500"/>
              <a:ext cx="5735103" cy="5143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4" name="Google Shape;554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4175148" y="3183848"/>
              <a:ext cx="4086560" cy="41987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55" name="Google Shape;555;p3"/>
          <p:cNvSpPr txBox="1"/>
          <p:nvPr>
            <p:ph type="title"/>
          </p:nvPr>
        </p:nvSpPr>
        <p:spPr>
          <a:xfrm>
            <a:off x="6208051" y="731800"/>
            <a:ext cx="58719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82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B400"/>
              </a:buClr>
              <a:buSzPts val="1400"/>
              <a:buFont typeface="Bookman Old Style"/>
              <a:buNone/>
            </a:pPr>
            <a:r>
              <a:rPr lang="es-MX" sz="5400">
                <a:solidFill>
                  <a:srgbClr val="F4B400"/>
                </a:solidFill>
              </a:rPr>
              <a:t>CONCLUSIONES</a:t>
            </a:r>
            <a:endParaRPr sz="5400">
              <a:solidFill>
                <a:srgbClr val="F4B400"/>
              </a:solidFill>
            </a:endParaRPr>
          </a:p>
        </p:txBody>
      </p:sp>
      <p:pic>
        <p:nvPicPr>
          <p:cNvPr id="556" name="Google Shape;55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5779857" cy="26473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753744" y="0"/>
            <a:ext cx="1011111" cy="4209416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3"/>
          <p:cNvSpPr txBox="1"/>
          <p:nvPr/>
        </p:nvSpPr>
        <p:spPr>
          <a:xfrm>
            <a:off x="1201895" y="3378854"/>
            <a:ext cx="12476400" cy="43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06400" lvl="0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Char char="●"/>
            </a:pPr>
            <a:r>
              <a:rPr b="0" i="0" lang="es-MX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Validación Financiera Exitosa: El proyecto es altamente rentable, con una TIR del 48,47% % y un Payback al mes 21.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3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Char char="●"/>
            </a:pPr>
            <a:r>
              <a:rPr b="0" i="0" lang="es-MX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Cumplimiento de Objetivos: Se desarrolló una plataforma robusta e integrada (React Native, IA, OCR).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3" marL="457200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Char char="●"/>
            </a:pPr>
            <a:r>
              <a:rPr b="0" i="0" lang="es-MX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 aplicación gestiona inventario, compras y crea recetas, cumpliendo los requerimientos definidos , ofreciendo una solución tecnológica efectiva al problema.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26"/>
          <p:cNvSpPr txBox="1"/>
          <p:nvPr>
            <p:ph type="title"/>
          </p:nvPr>
        </p:nvSpPr>
        <p:spPr>
          <a:xfrm>
            <a:off x="1936929" y="1029489"/>
            <a:ext cx="12100200" cy="464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noAutofit/>
          </a:bodyPr>
          <a:lstStyle/>
          <a:p>
            <a:pPr indent="3807" lvl="0" marL="3381375" marR="3378200" rtl="0" algn="ctr">
              <a:lnSpc>
                <a:spcPct val="123900"/>
              </a:lnSpc>
              <a:spcBef>
                <a:spcPts val="0"/>
              </a:spcBef>
              <a:spcAft>
                <a:spcPts val="0"/>
              </a:spcAft>
              <a:buClr>
                <a:srgbClr val="F4B400"/>
              </a:buClr>
              <a:buSzPts val="1400"/>
              <a:buFont typeface="Arial"/>
              <a:buNone/>
            </a:pPr>
            <a:r>
              <a:rPr b="0" lang="es-MX" sz="4000">
                <a:solidFill>
                  <a:srgbClr val="F4B400"/>
                </a:solidFill>
                <a:latin typeface="Arial"/>
                <a:ea typeface="Arial"/>
                <a:cs typeface="Arial"/>
                <a:sym typeface="Arial"/>
              </a:rPr>
              <a:t>CAPSTONE PANTRYSMART</a:t>
            </a:r>
            <a:endParaRPr sz="4000">
              <a:solidFill>
                <a:srgbClr val="F4B4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2416"/>
              </a:lnSpc>
              <a:spcBef>
                <a:spcPts val="0"/>
              </a:spcBef>
              <a:spcAft>
                <a:spcPts val="0"/>
              </a:spcAft>
              <a:buClr>
                <a:srgbClr val="F4B400"/>
              </a:buClr>
              <a:buSzPts val="1400"/>
              <a:buFont typeface="Trebuchet MS"/>
              <a:buNone/>
            </a:pPr>
            <a:r>
              <a:rPr lang="es-MX" sz="18000">
                <a:solidFill>
                  <a:srgbClr val="F4B400"/>
                </a:solidFill>
              </a:rPr>
              <a:t>¡GRACIAS!</a:t>
            </a:r>
            <a:endParaRPr sz="18000">
              <a:solidFill>
                <a:srgbClr val="F4B400"/>
              </a:solidFill>
            </a:endParaRPr>
          </a:p>
        </p:txBody>
      </p:sp>
      <p:pic>
        <p:nvPicPr>
          <p:cNvPr id="564" name="Google Shape;56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47146" y="3552471"/>
            <a:ext cx="5340851" cy="6734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8598985"/>
            <a:ext cx="4107237" cy="1011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991563" y="523146"/>
            <a:ext cx="4296436" cy="1011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06064" y="5733177"/>
            <a:ext cx="3761925" cy="357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mask">
  <a:themeElements>
    <a:clrScheme name="Damask">
      <a:dk1>
        <a:srgbClr val="000000"/>
      </a:dk1>
      <a:lt1>
        <a:srgbClr val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2025-10-09T21:17:06Z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2025-10-09T00:00:00Z</vt:filetime>
  </property>
  <property fmtid="{D5CDD505-2E9C-101B-9397-08002B2CF9AE}" pid="3" name="Creator">
    <vt:lpwstr>Google</vt:lpwstr>
  </property>
  <property fmtid="{D5CDD505-2E9C-101B-9397-08002B2CF9AE}" pid="4" name="LastSaved">
    <vt:filetime>2025-10-09T00:00:00Z</vt:filetime>
  </property>
</Properties>
</file>