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10287000" cx="18288000"/>
  <p:notesSz cx="6858000" cy="9144000"/>
  <p:embeddedFontLst>
    <p:embeddedFont>
      <p:font typeface="Raleway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hwStZvknzRCnhwvy4Gp5bQwFVO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8CD76F-9BDD-452A-B1F1-BFC0C3CD69BD}">
  <a:tblStyle styleId="{048CD76F-9BDD-452A-B1F1-BFC0C3CD69BD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fill>
          <a:solidFill>
            <a:srgbClr val="3E6695"/>
          </a:solidFill>
        </a:fill>
      </a:tcStyle>
    </a:band1H>
    <a:band2H>
      <a:tcTxStyle/>
    </a:band2H>
    <a:band1V>
      <a:tcTxStyle/>
      <a:tcStyle>
        <a:fill>
          <a:solidFill>
            <a:srgbClr val="3E6695"/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  <a:fill>
          <a:solidFill>
            <a:srgbClr val="3E6695"/>
          </a:solidFill>
        </a:fill>
      </a:tcStyle>
    </a:lastCol>
    <a:firstCol>
      <a:tcTxStyle b="on" i="off"/>
      <a:tcStyle>
        <a:tcBdr>
          <a:righ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  <a:fill>
          <a:solidFill>
            <a:srgbClr val="3E6695"/>
          </a:solidFill>
        </a:fill>
      </a:tcStyle>
    </a:firstCol>
    <a:lastRow>
      <a:tcTxStyle b="on" i="off"/>
      <a:tcStyle>
        <a:tcBdr>
          <a:top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34557C"/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swCell>
    <a:firstRow>
      <a:tcTxStyle b="on" i="off"/>
      <a:tcStyle>
        <a:tcBdr>
          <a:bottom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neCell>
    <a:n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Raleway-bold.fntdata"/><Relationship Id="rId41" Type="http://schemas.openxmlformats.org/officeDocument/2006/relationships/font" Target="fonts/Raleway-regular.fntdata"/><Relationship Id="rId22" Type="http://schemas.openxmlformats.org/officeDocument/2006/relationships/slide" Target="slides/slide16.xml"/><Relationship Id="rId44" Type="http://schemas.openxmlformats.org/officeDocument/2006/relationships/font" Target="fonts/Raleway-boldItalic.fntdata"/><Relationship Id="rId21" Type="http://schemas.openxmlformats.org/officeDocument/2006/relationships/slide" Target="slides/slide15.xml"/><Relationship Id="rId43" Type="http://schemas.openxmlformats.org/officeDocument/2006/relationships/font" Target="fonts/Raleway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24f5d65c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824f5d65ce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24f5d65c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824f5d65ce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24f5d65c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824f5d65ce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24f5d65c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824f5d65ce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24f5d65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824f5d65ce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24f5d65c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824f5d65ce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6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2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jpg"/><Relationship Id="rId4" Type="http://schemas.openxmlformats.org/officeDocument/2006/relationships/image" Target="../media/image4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2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0" Type="http://schemas.openxmlformats.org/officeDocument/2006/relationships/image" Target="../media/image49.png"/><Relationship Id="rId9" Type="http://schemas.openxmlformats.org/officeDocument/2006/relationships/image" Target="../media/image36.png"/><Relationship Id="rId5" Type="http://schemas.openxmlformats.org/officeDocument/2006/relationships/image" Target="../media/image3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jpg"/><Relationship Id="rId4" Type="http://schemas.openxmlformats.org/officeDocument/2006/relationships/image" Target="../media/image4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1" Type="http://schemas.openxmlformats.org/officeDocument/2006/relationships/image" Target="../media/image32.png"/><Relationship Id="rId10" Type="http://schemas.openxmlformats.org/officeDocument/2006/relationships/image" Target="../media/image38.png"/><Relationship Id="rId9" Type="http://schemas.openxmlformats.org/officeDocument/2006/relationships/image" Target="../media/image31.png"/><Relationship Id="rId5" Type="http://schemas.openxmlformats.org/officeDocument/2006/relationships/image" Target="../media/image3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jpg"/><Relationship Id="rId4" Type="http://schemas.openxmlformats.org/officeDocument/2006/relationships/image" Target="../media/image4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57.png"/><Relationship Id="rId7" Type="http://schemas.openxmlformats.org/officeDocument/2006/relationships/image" Target="../media/image70.png"/><Relationship Id="rId8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47.png"/><Relationship Id="rId7" Type="http://schemas.openxmlformats.org/officeDocument/2006/relationships/image" Target="../media/image55.png"/><Relationship Id="rId8" Type="http://schemas.openxmlformats.org/officeDocument/2006/relationships/image" Target="../media/image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jp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5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56.png"/><Relationship Id="rId7" Type="http://schemas.openxmlformats.org/officeDocument/2006/relationships/image" Target="../media/image5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6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50.png"/><Relationship Id="rId7" Type="http://schemas.openxmlformats.org/officeDocument/2006/relationships/image" Target="../media/image5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65.png"/><Relationship Id="rId5" Type="http://schemas.openxmlformats.org/officeDocument/2006/relationships/image" Target="../media/image16.png"/><Relationship Id="rId6" Type="http://schemas.openxmlformats.org/officeDocument/2006/relationships/image" Target="../media/image61.png"/><Relationship Id="rId7" Type="http://schemas.openxmlformats.org/officeDocument/2006/relationships/image" Target="../media/image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68.jp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9999265" y="2996689"/>
            <a:ext cx="8288735" cy="7549656"/>
          </a:xfrm>
          <a:custGeom>
            <a:rect b="b" l="l" r="r" t="t"/>
            <a:pathLst>
              <a:path extrusionOk="0" h="7549656" w="8288735">
                <a:moveTo>
                  <a:pt x="0" y="0"/>
                </a:moveTo>
                <a:lnTo>
                  <a:pt x="8288735" y="0"/>
                </a:lnTo>
                <a:lnTo>
                  <a:pt x="8288735" y="7549656"/>
                </a:lnTo>
                <a:lnTo>
                  <a:pt x="0" y="7549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 flipH="1" rot="5400000">
            <a:off x="1459514" y="-1673036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1"/>
          <p:cNvGrpSpPr/>
          <p:nvPr/>
        </p:nvGrpSpPr>
        <p:grpSpPr>
          <a:xfrm>
            <a:off x="2750659" y="2834159"/>
            <a:ext cx="15765866" cy="5710008"/>
            <a:chOff x="-6" y="85731"/>
            <a:chExt cx="20004906" cy="7613344"/>
          </a:xfrm>
        </p:grpSpPr>
        <p:sp>
          <p:nvSpPr>
            <p:cNvPr id="81" name="Google Shape;81;p1"/>
            <p:cNvSpPr txBox="1"/>
            <p:nvPr/>
          </p:nvSpPr>
          <p:spPr>
            <a:xfrm>
              <a:off x="-6" y="85731"/>
              <a:ext cx="19177500" cy="64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87"/>
                <a:buFont typeface="Arial"/>
                <a:buNone/>
              </a:pPr>
              <a:r>
                <a:rPr b="1" i="0" lang="en-US" sz="9887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Capstone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87"/>
                <a:buFont typeface="Arial"/>
                <a:buNone/>
              </a:pPr>
              <a:r>
                <a:rPr b="1" i="0" lang="en-US" sz="9887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Presentaci</a:t>
              </a:r>
              <a:r>
                <a:rPr b="1" lang="en-US" sz="9887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ó</a:t>
              </a:r>
              <a:r>
                <a:rPr b="1" i="0" lang="en-US" sz="9887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87"/>
                <a:buFont typeface="Arial"/>
                <a:buNone/>
              </a:pPr>
              <a:r>
                <a:rPr b="1" i="0" lang="en-US" sz="9887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“PantrySmart”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 txBox="1"/>
            <p:nvPr/>
          </p:nvSpPr>
          <p:spPr>
            <a:xfrm>
              <a:off x="0" y="6215575"/>
              <a:ext cx="20004900" cy="14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9"/>
                <a:buFont typeface="Arial"/>
                <a:buNone/>
              </a:pPr>
              <a:r>
                <a:rPr b="0" i="0" lang="en-US" sz="2259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      </a:t>
              </a:r>
              <a:br>
                <a:rPr b="0" i="0" lang="en-US" sz="2259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b="0" i="0" lang="en-US" sz="2259" u="none" cap="none" strike="noStrike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Aplicación móvil para la gestión inteligente del hogar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9"/>
                <a:buFont typeface="Arial"/>
                <a:buNone/>
              </a:pPr>
              <a:r>
                <a:t/>
              </a:r>
              <a:endParaRPr b="0" i="0" sz="225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83" name="Google Shape;83;p1"/>
          <p:cNvSpPr/>
          <p:nvPr/>
        </p:nvSpPr>
        <p:spPr>
          <a:xfrm>
            <a:off x="250232" y="8692222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13539434" y="766108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 title="logo-0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8439" y="94249"/>
            <a:ext cx="5231136" cy="1682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 flipH="1">
            <a:off x="-394550" y="4877314"/>
            <a:ext cx="4627096" cy="5712464"/>
          </a:xfrm>
          <a:custGeom>
            <a:rect b="b" l="l" r="r" t="t"/>
            <a:pathLst>
              <a:path extrusionOk="0" h="5712464" w="4627096">
                <a:moveTo>
                  <a:pt x="4627096" y="0"/>
                </a:moveTo>
                <a:lnTo>
                  <a:pt x="0" y="0"/>
                </a:lnTo>
                <a:lnTo>
                  <a:pt x="0" y="5712464"/>
                </a:lnTo>
                <a:lnTo>
                  <a:pt x="4627096" y="5712464"/>
                </a:lnTo>
                <a:lnTo>
                  <a:pt x="462709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 flipH="1">
            <a:off x="13643065" y="-227459"/>
            <a:ext cx="4854933" cy="5396868"/>
          </a:xfrm>
          <a:custGeom>
            <a:rect b="b" l="l" r="r" t="t"/>
            <a:pathLst>
              <a:path extrusionOk="0" h="5396868" w="4854933">
                <a:moveTo>
                  <a:pt x="4854932" y="0"/>
                </a:moveTo>
                <a:lnTo>
                  <a:pt x="0" y="0"/>
                </a:lnTo>
                <a:lnTo>
                  <a:pt x="0" y="5396868"/>
                </a:lnTo>
                <a:lnTo>
                  <a:pt x="4854932" y="5396868"/>
                </a:lnTo>
                <a:lnTo>
                  <a:pt x="4854932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 rot="10800000">
            <a:off x="13643065" y="87527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6143677" y="2594119"/>
            <a:ext cx="5467459" cy="4886542"/>
          </a:xfrm>
          <a:custGeom>
            <a:rect b="b" l="l" r="r" t="t"/>
            <a:pathLst>
              <a:path extrusionOk="0" h="4886542" w="5467459">
                <a:moveTo>
                  <a:pt x="0" y="0"/>
                </a:moveTo>
                <a:lnTo>
                  <a:pt x="5467459" y="0"/>
                </a:lnTo>
                <a:lnTo>
                  <a:pt x="5467459" y="4886541"/>
                </a:lnTo>
                <a:lnTo>
                  <a:pt x="0" y="4886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645457" y="7520795"/>
            <a:ext cx="2463900" cy="2463900"/>
          </a:xfrm>
          <a:custGeom>
            <a:rect b="b" l="l" r="r" t="t"/>
            <a:pathLst>
              <a:path extrusionOk="0" h="2463900" w="2463900">
                <a:moveTo>
                  <a:pt x="0" y="0"/>
                </a:moveTo>
                <a:lnTo>
                  <a:pt x="2463899" y="0"/>
                </a:lnTo>
                <a:lnTo>
                  <a:pt x="2463899" y="2463899"/>
                </a:lnTo>
                <a:lnTo>
                  <a:pt x="0" y="2463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37379" y="783450"/>
            <a:ext cx="5652453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0"/>
              <a:buFont typeface="Arial"/>
              <a:buNone/>
            </a:pPr>
            <a:r>
              <a:rPr b="1" i="0" lang="en-US" sz="7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integrantes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30923" y="-220735"/>
            <a:ext cx="5352752" cy="1810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0"/>
          <p:cNvPicPr preferRelativeResize="0"/>
          <p:nvPr/>
        </p:nvPicPr>
        <p:blipFill rotWithShape="1">
          <a:blip r:embed="rId3">
            <a:alphaModFix amt="50000"/>
          </a:blip>
          <a:srcRect b="1" l="1615" r="11296" t="0"/>
          <a:stretch/>
        </p:blipFill>
        <p:spPr>
          <a:xfrm>
            <a:off x="20" y="10"/>
            <a:ext cx="18283405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 txBox="1"/>
          <p:nvPr>
            <p:ph type="title"/>
          </p:nvPr>
        </p:nvSpPr>
        <p:spPr>
          <a:xfrm>
            <a:off x="4005943" y="2233603"/>
            <a:ext cx="9006114" cy="16209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9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9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5961309" y="6552934"/>
            <a:ext cx="6365383" cy="27432"/>
          </a:xfrm>
          <a:custGeom>
            <a:rect b="b" l="l" r="r" t="t"/>
            <a:pathLst>
              <a:path extrusionOk="0" fill="none" h="27432" w="6365383">
                <a:moveTo>
                  <a:pt x="0" y="0"/>
                </a:moveTo>
                <a:cubicBezTo>
                  <a:pt x="164014" y="-28800"/>
                  <a:pt x="392589" y="16597"/>
                  <a:pt x="636538" y="0"/>
                </a:cubicBezTo>
                <a:cubicBezTo>
                  <a:pt x="880487" y="-16597"/>
                  <a:pt x="1095224" y="-7871"/>
                  <a:pt x="1336730" y="0"/>
                </a:cubicBezTo>
                <a:cubicBezTo>
                  <a:pt x="1578236" y="7871"/>
                  <a:pt x="1649337" y="-22384"/>
                  <a:pt x="1909615" y="0"/>
                </a:cubicBezTo>
                <a:cubicBezTo>
                  <a:pt x="2169893" y="22384"/>
                  <a:pt x="2279697" y="7436"/>
                  <a:pt x="2418846" y="0"/>
                </a:cubicBezTo>
                <a:cubicBezTo>
                  <a:pt x="2557995" y="-7436"/>
                  <a:pt x="2719158" y="24395"/>
                  <a:pt x="2928076" y="0"/>
                </a:cubicBezTo>
                <a:cubicBezTo>
                  <a:pt x="3136994" y="-24395"/>
                  <a:pt x="3236398" y="-16046"/>
                  <a:pt x="3373653" y="0"/>
                </a:cubicBezTo>
                <a:cubicBezTo>
                  <a:pt x="3510908" y="16046"/>
                  <a:pt x="3933654" y="-18835"/>
                  <a:pt x="4137499" y="0"/>
                </a:cubicBezTo>
                <a:cubicBezTo>
                  <a:pt x="4341344" y="18835"/>
                  <a:pt x="4634949" y="16518"/>
                  <a:pt x="4901345" y="0"/>
                </a:cubicBezTo>
                <a:cubicBezTo>
                  <a:pt x="5167741" y="-16518"/>
                  <a:pt x="5482502" y="-23233"/>
                  <a:pt x="5665191" y="0"/>
                </a:cubicBezTo>
                <a:cubicBezTo>
                  <a:pt x="5847880" y="23233"/>
                  <a:pt x="6038909" y="-19558"/>
                  <a:pt x="6365383" y="0"/>
                </a:cubicBezTo>
                <a:cubicBezTo>
                  <a:pt x="6366317" y="12270"/>
                  <a:pt x="6364320" y="20068"/>
                  <a:pt x="6365383" y="27432"/>
                </a:cubicBezTo>
                <a:cubicBezTo>
                  <a:pt x="6160909" y="45028"/>
                  <a:pt x="5918554" y="42323"/>
                  <a:pt x="5728845" y="27432"/>
                </a:cubicBezTo>
                <a:cubicBezTo>
                  <a:pt x="5539136" y="12541"/>
                  <a:pt x="5172149" y="23835"/>
                  <a:pt x="5028653" y="27432"/>
                </a:cubicBezTo>
                <a:cubicBezTo>
                  <a:pt x="4885157" y="31029"/>
                  <a:pt x="4768966" y="33290"/>
                  <a:pt x="4583076" y="27432"/>
                </a:cubicBezTo>
                <a:cubicBezTo>
                  <a:pt x="4397186" y="21574"/>
                  <a:pt x="4295537" y="38724"/>
                  <a:pt x="4137499" y="27432"/>
                </a:cubicBezTo>
                <a:cubicBezTo>
                  <a:pt x="3979461" y="16140"/>
                  <a:pt x="3895902" y="23317"/>
                  <a:pt x="3691922" y="27432"/>
                </a:cubicBezTo>
                <a:cubicBezTo>
                  <a:pt x="3487942" y="31547"/>
                  <a:pt x="3348597" y="42606"/>
                  <a:pt x="3182692" y="27432"/>
                </a:cubicBezTo>
                <a:cubicBezTo>
                  <a:pt x="3016787" y="12259"/>
                  <a:pt x="2922425" y="45987"/>
                  <a:pt x="2673461" y="27432"/>
                </a:cubicBezTo>
                <a:cubicBezTo>
                  <a:pt x="2424497" y="8877"/>
                  <a:pt x="2406338" y="46461"/>
                  <a:pt x="2164230" y="27432"/>
                </a:cubicBezTo>
                <a:cubicBezTo>
                  <a:pt x="1922122" y="8403"/>
                  <a:pt x="1843534" y="2368"/>
                  <a:pt x="1655000" y="27432"/>
                </a:cubicBezTo>
                <a:cubicBezTo>
                  <a:pt x="1466466" y="52497"/>
                  <a:pt x="1384300" y="39658"/>
                  <a:pt x="1145769" y="27432"/>
                </a:cubicBezTo>
                <a:cubicBezTo>
                  <a:pt x="907238" y="15206"/>
                  <a:pt x="344177" y="36391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extrusionOk="0" h="27432" w="6365383">
                <a:moveTo>
                  <a:pt x="0" y="0"/>
                </a:moveTo>
                <a:cubicBezTo>
                  <a:pt x="152654" y="12967"/>
                  <a:pt x="297359" y="-4977"/>
                  <a:pt x="509231" y="0"/>
                </a:cubicBezTo>
                <a:cubicBezTo>
                  <a:pt x="721103" y="4977"/>
                  <a:pt x="792740" y="-12744"/>
                  <a:pt x="954807" y="0"/>
                </a:cubicBezTo>
                <a:cubicBezTo>
                  <a:pt x="1116874" y="12744"/>
                  <a:pt x="1322429" y="24743"/>
                  <a:pt x="1464038" y="0"/>
                </a:cubicBezTo>
                <a:cubicBezTo>
                  <a:pt x="1605647" y="-24743"/>
                  <a:pt x="1947393" y="-20672"/>
                  <a:pt x="2100576" y="0"/>
                </a:cubicBezTo>
                <a:cubicBezTo>
                  <a:pt x="2253759" y="20672"/>
                  <a:pt x="2622231" y="-30966"/>
                  <a:pt x="2800769" y="0"/>
                </a:cubicBezTo>
                <a:cubicBezTo>
                  <a:pt x="2979307" y="30966"/>
                  <a:pt x="3356872" y="-13631"/>
                  <a:pt x="3564614" y="0"/>
                </a:cubicBezTo>
                <a:cubicBezTo>
                  <a:pt x="3772356" y="13631"/>
                  <a:pt x="4163183" y="-4973"/>
                  <a:pt x="4328460" y="0"/>
                </a:cubicBezTo>
                <a:cubicBezTo>
                  <a:pt x="4493737" y="4973"/>
                  <a:pt x="4672761" y="-9287"/>
                  <a:pt x="4901345" y="0"/>
                </a:cubicBezTo>
                <a:cubicBezTo>
                  <a:pt x="5129930" y="9287"/>
                  <a:pt x="5395146" y="9436"/>
                  <a:pt x="5601537" y="0"/>
                </a:cubicBezTo>
                <a:cubicBezTo>
                  <a:pt x="5807928" y="-9436"/>
                  <a:pt x="5983747" y="-13862"/>
                  <a:pt x="6365383" y="0"/>
                </a:cubicBezTo>
                <a:cubicBezTo>
                  <a:pt x="6365699" y="13405"/>
                  <a:pt x="6365869" y="14360"/>
                  <a:pt x="6365383" y="27432"/>
                </a:cubicBezTo>
                <a:cubicBezTo>
                  <a:pt x="6195306" y="29393"/>
                  <a:pt x="5872535" y="56613"/>
                  <a:pt x="5728845" y="27432"/>
                </a:cubicBezTo>
                <a:cubicBezTo>
                  <a:pt x="5585155" y="-1749"/>
                  <a:pt x="5272464" y="11679"/>
                  <a:pt x="5028653" y="27432"/>
                </a:cubicBezTo>
                <a:cubicBezTo>
                  <a:pt x="4784842" y="43185"/>
                  <a:pt x="4688244" y="28658"/>
                  <a:pt x="4455768" y="27432"/>
                </a:cubicBezTo>
                <a:cubicBezTo>
                  <a:pt x="4223293" y="26206"/>
                  <a:pt x="4032880" y="15477"/>
                  <a:pt x="3882884" y="27432"/>
                </a:cubicBezTo>
                <a:cubicBezTo>
                  <a:pt x="3732888" y="39387"/>
                  <a:pt x="3278726" y="-7170"/>
                  <a:pt x="3119038" y="27432"/>
                </a:cubicBezTo>
                <a:cubicBezTo>
                  <a:pt x="2959350" y="62034"/>
                  <a:pt x="2786856" y="40315"/>
                  <a:pt x="2609807" y="27432"/>
                </a:cubicBezTo>
                <a:cubicBezTo>
                  <a:pt x="2432758" y="14549"/>
                  <a:pt x="2064373" y="16547"/>
                  <a:pt x="1909615" y="27432"/>
                </a:cubicBezTo>
                <a:cubicBezTo>
                  <a:pt x="1754857" y="38317"/>
                  <a:pt x="1663685" y="27374"/>
                  <a:pt x="1464038" y="27432"/>
                </a:cubicBezTo>
                <a:cubicBezTo>
                  <a:pt x="1264391" y="27490"/>
                  <a:pt x="1071013" y="1487"/>
                  <a:pt x="827500" y="27432"/>
                </a:cubicBezTo>
                <a:cubicBezTo>
                  <a:pt x="583987" y="53377"/>
                  <a:pt x="349818" y="391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rgbClr val="FFFFFF">
              <a:alpha val="74901"/>
            </a:srgbClr>
          </a:solidFill>
          <a:ln cap="rnd" cmpd="sng" w="44450">
            <a:solidFill>
              <a:schemeClr val="lt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1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1"/>
          <p:cNvSpPr/>
          <p:nvPr/>
        </p:nvSpPr>
        <p:spPr>
          <a:xfrm>
            <a:off x="11842264" y="4708220"/>
            <a:ext cx="6445736" cy="5870991"/>
          </a:xfrm>
          <a:custGeom>
            <a:rect b="b" l="l" r="r" t="t"/>
            <a:pathLst>
              <a:path extrusionOk="0" h="5870991" w="6445736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1"/>
          <p:cNvSpPr txBox="1"/>
          <p:nvPr/>
        </p:nvSpPr>
        <p:spPr>
          <a:xfrm>
            <a:off x="437713" y="3810373"/>
            <a:ext cx="8007600" cy="28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7"/>
              <a:buFont typeface="Arial"/>
              <a:buNone/>
            </a:pPr>
            <a:r>
              <a:rPr b="0" i="0" lang="en-US" sz="2607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“Los hogares chilenos, desperdician 3.700 millones de kilos de comida al año y el 92% de los hogares desecha alimentos, lo que afecta la economía y la sostenibilidad; una mejor gestión permitiría ahorrar hasta $200.000 por persona. </a:t>
            </a:r>
            <a:r>
              <a:rPr lang="en-US" sz="260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3" name="Google Shape;113;p31"/>
          <p:cNvSpPr txBox="1"/>
          <p:nvPr/>
        </p:nvSpPr>
        <p:spPr>
          <a:xfrm>
            <a:off x="437713" y="2344771"/>
            <a:ext cx="74352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Problematica o dolor</a:t>
            </a:r>
            <a:endParaRPr b="0" i="0" sz="40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" name="Google Shape;114;p31"/>
          <p:cNvSpPr txBox="1"/>
          <p:nvPr/>
        </p:nvSpPr>
        <p:spPr>
          <a:xfrm>
            <a:off x="124801" y="9518200"/>
            <a:ext cx="88944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7"/>
              <a:buFont typeface="Arial"/>
              <a:buNone/>
            </a:pPr>
            <a:r>
              <a:rPr b="1" lang="en-US" sz="170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Fuente</a:t>
            </a:r>
            <a:r>
              <a:rPr lang="en-US" sz="170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Ministerio de Agricultura de Chile. (2020). Los chilenos botan 3.700 millones de kilos de comida al año y desperdician $200 mil por persona. Ministerio de Agricultura.</a:t>
            </a:r>
            <a:endParaRPr b="0" i="0" sz="5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24f5d65ce_0_9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824f5d65ce_0_9"/>
          <p:cNvSpPr/>
          <p:nvPr/>
        </p:nvSpPr>
        <p:spPr>
          <a:xfrm>
            <a:off x="11842264" y="4708220"/>
            <a:ext cx="6445736" cy="5870991"/>
          </a:xfrm>
          <a:custGeom>
            <a:rect b="b" l="l" r="r" t="t"/>
            <a:pathLst>
              <a:path extrusionOk="0" h="5870991" w="6445736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824f5d65ce_0_9"/>
          <p:cNvSpPr txBox="1"/>
          <p:nvPr/>
        </p:nvSpPr>
        <p:spPr>
          <a:xfrm>
            <a:off x="2302350" y="4404599"/>
            <a:ext cx="13683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9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Les ha pasado esto?</a:t>
            </a:r>
            <a:endParaRPr b="0" i="0" sz="96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24f5d65ce_0_18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824f5d65ce_0_18"/>
          <p:cNvSpPr/>
          <p:nvPr/>
        </p:nvSpPr>
        <p:spPr>
          <a:xfrm>
            <a:off x="11842264" y="4708220"/>
            <a:ext cx="6445736" cy="5870991"/>
          </a:xfrm>
          <a:custGeom>
            <a:rect b="b" l="l" r="r" t="t"/>
            <a:pathLst>
              <a:path extrusionOk="0" h="5870991" w="6445736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824f5d65ce_0_18" title="ChatGPT Image 23 sept 2025, 14_47_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2972" y="146978"/>
            <a:ext cx="6662049" cy="999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24f5d65ce_0_48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824f5d65ce_0_48"/>
          <p:cNvSpPr/>
          <p:nvPr/>
        </p:nvSpPr>
        <p:spPr>
          <a:xfrm>
            <a:off x="11842264" y="4708220"/>
            <a:ext cx="6445736" cy="5870991"/>
          </a:xfrm>
          <a:custGeom>
            <a:rect b="b" l="l" r="r" t="t"/>
            <a:pathLst>
              <a:path extrusionOk="0" h="5870991" w="6445736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g3824f5d65ce_0_48" title="ChatGPT Image 23 sept 2025, 14_47_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6608" y="152400"/>
            <a:ext cx="6654799" cy="998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24f5d65ce_0_53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824f5d65ce_0_53"/>
          <p:cNvSpPr/>
          <p:nvPr/>
        </p:nvSpPr>
        <p:spPr>
          <a:xfrm>
            <a:off x="11842264" y="4708220"/>
            <a:ext cx="6445736" cy="5870991"/>
          </a:xfrm>
          <a:custGeom>
            <a:rect b="b" l="l" r="r" t="t"/>
            <a:pathLst>
              <a:path extrusionOk="0" h="5870991" w="6445736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g3824f5d65ce_0_53" title="ChatGPT Image 23 sept 2025, 14_51_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6608" y="152400"/>
            <a:ext cx="6654799" cy="998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24f5d65ce_0_58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824f5d65ce_0_58"/>
          <p:cNvSpPr/>
          <p:nvPr/>
        </p:nvSpPr>
        <p:spPr>
          <a:xfrm>
            <a:off x="11842264" y="4708220"/>
            <a:ext cx="6445736" cy="5870991"/>
          </a:xfrm>
          <a:custGeom>
            <a:rect b="b" l="l" r="r" t="t"/>
            <a:pathLst>
              <a:path extrusionOk="0" h="5870991" w="6445736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g3824f5d65ce_0_58" title="ChatGPT Image 23 sept 2025, 15_10_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6608" y="152400"/>
            <a:ext cx="6654799" cy="998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24f5d65ce_0_63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824f5d65ce_0_63"/>
          <p:cNvSpPr/>
          <p:nvPr/>
        </p:nvSpPr>
        <p:spPr>
          <a:xfrm>
            <a:off x="11842264" y="4708220"/>
            <a:ext cx="6445736" cy="5870991"/>
          </a:xfrm>
          <a:custGeom>
            <a:rect b="b" l="l" r="r" t="t"/>
            <a:pathLst>
              <a:path extrusionOk="0" h="5870991" w="6445736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g3824f5d65ce_0_63" title="ChatGPT Image 23 sept 2025, 15_01_4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6608" y="234050"/>
            <a:ext cx="6654799" cy="998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/>
          <p:nvPr/>
        </p:nvSpPr>
        <p:spPr>
          <a:xfrm flipH="1">
            <a:off x="13537446" y="-158657"/>
            <a:ext cx="4913194" cy="4114800"/>
          </a:xfrm>
          <a:custGeom>
            <a:rect b="b" l="l" r="r" t="t"/>
            <a:pathLst>
              <a:path extrusionOk="0" h="4114800" w="4913194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2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2"/>
          <p:cNvSpPr/>
          <p:nvPr/>
        </p:nvSpPr>
        <p:spPr>
          <a:xfrm rot="10800000">
            <a:off x="13649042" y="8770218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2"/>
          <p:cNvSpPr/>
          <p:nvPr/>
        </p:nvSpPr>
        <p:spPr>
          <a:xfrm rot="5400000">
            <a:off x="-1595510" y="1393187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>
            <a:off x="1722966" y="986560"/>
            <a:ext cx="14056112" cy="227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Ambito del sistema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t/>
            </a:r>
            <a:endParaRPr b="1" i="0" sz="69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6" name="Google Shape;166;p32"/>
          <p:cNvSpPr txBox="1"/>
          <p:nvPr/>
        </p:nvSpPr>
        <p:spPr>
          <a:xfrm>
            <a:off x="1722966" y="2064958"/>
            <a:ext cx="13894800" cy="16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72"/>
              <a:buFont typeface="Arial"/>
              <a:buNone/>
            </a:pPr>
            <a:r>
              <a:rPr b="0" i="1" lang="en-US" sz="267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PantrySmart</a:t>
            </a:r>
            <a:r>
              <a:rPr b="0" i="0" lang="en-US" sz="267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permitirá digitalizar automáticamente las boletas utilizando OCR, extrayendo datos, generando un inventario dinámico,  y mediante la IA recomendar recetas y listas de compras.</a:t>
            </a:r>
            <a:endParaRPr b="0" i="0" sz="2672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7" name="Google Shape;167;p32"/>
          <p:cNvPicPr preferRelativeResize="0"/>
          <p:nvPr/>
        </p:nvPicPr>
        <p:blipFill rotWithShape="1">
          <a:blip r:embed="rId6">
            <a:alphaModFix amt="85000"/>
          </a:blip>
          <a:srcRect b="0" l="0" r="0" t="0"/>
          <a:stretch/>
        </p:blipFill>
        <p:spPr>
          <a:xfrm>
            <a:off x="4875581" y="4360940"/>
            <a:ext cx="7565887" cy="4558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/>
          <p:nvPr/>
        </p:nvSpPr>
        <p:spPr>
          <a:xfrm flipH="1">
            <a:off x="13537446" y="-158657"/>
            <a:ext cx="4913194" cy="4114800"/>
          </a:xfrm>
          <a:custGeom>
            <a:rect b="b" l="l" r="r" t="t"/>
            <a:pathLst>
              <a:path extrusionOk="0" h="4114800" w="4913194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 rot="10800000">
            <a:off x="13649042" y="8770218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 rot="5400000">
            <a:off x="-1595510" y="1393187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13593940" y="2814813"/>
            <a:ext cx="4750554" cy="4894682"/>
          </a:xfrm>
          <a:custGeom>
            <a:rect b="b" l="l" r="r" t="t"/>
            <a:pathLst>
              <a:path extrusionOk="0" h="4894682" w="4750554">
                <a:moveTo>
                  <a:pt x="0" y="0"/>
                </a:moveTo>
                <a:lnTo>
                  <a:pt x="4750554" y="0"/>
                </a:lnTo>
                <a:lnTo>
                  <a:pt x="4750554" y="4894682"/>
                </a:lnTo>
                <a:lnTo>
                  <a:pt x="0" y="489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464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529029" y="1624359"/>
            <a:ext cx="14084886" cy="227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OBJETIVO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t/>
            </a:r>
            <a:endParaRPr b="1" i="0" sz="69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435290" y="3307073"/>
            <a:ext cx="12195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72"/>
              <a:buFont typeface="Arial"/>
              <a:buNone/>
            </a:pPr>
            <a:r>
              <a:rPr b="0" i="0" lang="en-US" sz="267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Reducir el desperdicio de alimentos mejorando la planificación, esto lo haremos creando un sistema inteligente que </a:t>
            </a:r>
            <a:r>
              <a:rPr lang="en-US" sz="267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registra</a:t>
            </a:r>
            <a:r>
              <a:rPr b="0" i="0" lang="en-US" sz="267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el inventario del hogar, genere recetas con los productos disponibles con esto esperamos mejorar las decisiones de consumo y disminuir gastos.</a:t>
            </a:r>
            <a:endParaRPr b="0" i="0" sz="2672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4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4"/>
          <p:cNvSpPr/>
          <p:nvPr/>
        </p:nvSpPr>
        <p:spPr>
          <a:xfrm flipH="1" rot="10800000">
            <a:off x="14178184" y="-99681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4363296" y="0"/>
                </a:moveTo>
                <a:lnTo>
                  <a:pt x="0" y="0"/>
                </a:lnTo>
                <a:lnTo>
                  <a:pt x="0" y="5966900"/>
                </a:lnTo>
                <a:lnTo>
                  <a:pt x="4363296" y="5966900"/>
                </a:lnTo>
                <a:lnTo>
                  <a:pt x="43632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4"/>
          <p:cNvSpPr/>
          <p:nvPr/>
        </p:nvSpPr>
        <p:spPr>
          <a:xfrm rot="10800000">
            <a:off x="0" y="523146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4"/>
          <p:cNvSpPr/>
          <p:nvPr/>
        </p:nvSpPr>
        <p:spPr>
          <a:xfrm rot="10800000">
            <a:off x="13599273" y="8889921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4"/>
          <p:cNvSpPr txBox="1"/>
          <p:nvPr/>
        </p:nvSpPr>
        <p:spPr>
          <a:xfrm>
            <a:off x="5085276" y="960789"/>
            <a:ext cx="8117447" cy="119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51"/>
              <a:buFont typeface="Arial"/>
              <a:buNone/>
            </a:pPr>
            <a:r>
              <a:rPr b="1" i="0" lang="en-US" sz="645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Caso de uso </a:t>
            </a:r>
            <a:endParaRPr b="1" i="0" sz="6451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88" name="Google Shape;188;p44"/>
          <p:cNvGrpSpPr/>
          <p:nvPr/>
        </p:nvGrpSpPr>
        <p:grpSpPr>
          <a:xfrm>
            <a:off x="4573542" y="3009008"/>
            <a:ext cx="7733440" cy="5716419"/>
            <a:chOff x="0" y="5170"/>
            <a:chExt cx="7733440" cy="5716419"/>
          </a:xfrm>
        </p:grpSpPr>
        <p:sp>
          <p:nvSpPr>
            <p:cNvPr id="189" name="Google Shape;189;p44"/>
            <p:cNvSpPr/>
            <p:nvPr/>
          </p:nvSpPr>
          <p:spPr>
            <a:xfrm>
              <a:off x="0" y="5170"/>
              <a:ext cx="7733440" cy="1013437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306564" y="233194"/>
              <a:ext cx="557935" cy="55739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1171064" y="5170"/>
              <a:ext cx="6457162" cy="120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4"/>
            <p:cNvSpPr txBox="1"/>
            <p:nvPr/>
          </p:nvSpPr>
          <p:spPr>
            <a:xfrm>
              <a:off x="1171064" y="5170"/>
              <a:ext cx="6457162" cy="120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350" lIns="127350" spcFirstLastPara="1" rIns="127350" wrap="square" tIns="1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El Problema: El usuario compra sin un plan, sin saber qué tiene en su despensa.</a:t>
              </a:r>
              <a:endParaRPr b="0"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0" y="1509491"/>
              <a:ext cx="7733440" cy="1013437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306564" y="1737515"/>
              <a:ext cx="557935" cy="55739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1171064" y="1509491"/>
              <a:ext cx="6457162" cy="120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4"/>
            <p:cNvSpPr txBox="1"/>
            <p:nvPr/>
          </p:nvSpPr>
          <p:spPr>
            <a:xfrm>
              <a:off x="1171064" y="1509491"/>
              <a:ext cx="6457162" cy="120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350" lIns="127350" spcFirstLastPara="1" rIns="127350" wrap="square" tIns="1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El Impacto: Termina perdiendo dinero y comida por compras duplicadas.</a:t>
              </a:r>
              <a:br>
                <a:rPr b="0" i="0" lang="en-US" sz="20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br>
                <a:rPr b="0" i="0" lang="en-US" sz="12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endParaRPr b="0" i="0" sz="1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0" y="3013812"/>
              <a:ext cx="7733440" cy="1013437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306564" y="3241835"/>
              <a:ext cx="557935" cy="55739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1171064" y="3013812"/>
              <a:ext cx="6457162" cy="120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4"/>
            <p:cNvSpPr txBox="1"/>
            <p:nvPr/>
          </p:nvSpPr>
          <p:spPr>
            <a:xfrm>
              <a:off x="1171064" y="3013812"/>
              <a:ext cx="6457162" cy="120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350" lIns="127350" spcFirstLastPara="1" rIns="127350" wrap="square" tIns="1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La Solución: Con PantrySmart, el usuario escanea su boleta. La app crea un inventario inteligente y sugiere qué cocinar con lo que ya tiene.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br>
                <a:rPr b="0" i="0" lang="en-US" sz="12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endParaRPr b="0" i="0" sz="1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0" y="4518133"/>
              <a:ext cx="7733440" cy="1013437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306564" y="4746156"/>
              <a:ext cx="557935" cy="55739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1171064" y="4518133"/>
              <a:ext cx="6457162" cy="120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4"/>
            <p:cNvSpPr txBox="1"/>
            <p:nvPr/>
          </p:nvSpPr>
          <p:spPr>
            <a:xfrm>
              <a:off x="1171064" y="4518133"/>
              <a:ext cx="6457162" cy="1203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350" lIns="127350" spcFirstLastPara="1" rIns="127350" wrap="square" tIns="1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El Resultado: El usuario ahorra dinero y reduce el desperdicio.</a:t>
              </a:r>
              <a:br>
                <a:rPr b="0" i="0" lang="en-US" sz="15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br>
                <a:rPr b="0" i="0" lang="en-US" sz="15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endParaRPr b="0" i="0" sz="15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3"/>
          <p:cNvPicPr preferRelativeResize="0"/>
          <p:nvPr/>
        </p:nvPicPr>
        <p:blipFill rotWithShape="1">
          <a:blip r:embed="rId3">
            <a:alphaModFix/>
          </a:blip>
          <a:srcRect b="3942" l="0" r="-1" t="23906"/>
          <a:stretch/>
        </p:blipFill>
        <p:spPr>
          <a:xfrm>
            <a:off x="6821905" y="-7"/>
            <a:ext cx="11466093" cy="552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3"/>
          <p:cNvPicPr preferRelativeResize="0"/>
          <p:nvPr/>
        </p:nvPicPr>
        <p:blipFill rotWithShape="1">
          <a:blip r:embed="rId4">
            <a:alphaModFix/>
          </a:blip>
          <a:srcRect b="12626" l="0" r="-1" t="25115"/>
          <a:stretch/>
        </p:blipFill>
        <p:spPr>
          <a:xfrm>
            <a:off x="6821907" y="5522113"/>
            <a:ext cx="11466093" cy="476489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C0C0C"/>
              </a:gs>
              <a:gs pos="36000">
                <a:srgbClr val="0C0C0C"/>
              </a:gs>
              <a:gs pos="81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3"/>
          <p:cNvSpPr txBox="1"/>
          <p:nvPr>
            <p:ph type="title"/>
          </p:nvPr>
        </p:nvSpPr>
        <p:spPr>
          <a:xfrm>
            <a:off x="1257300" y="1672828"/>
            <a:ext cx="8093868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7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Descripción General del Proyecto</a:t>
            </a:r>
            <a:endParaRPr/>
          </a:p>
        </p:txBody>
      </p:sp>
      <p:cxnSp>
        <p:nvCxnSpPr>
          <p:cNvPr id="214" name="Google Shape;214;p33"/>
          <p:cNvCxnSpPr/>
          <p:nvPr/>
        </p:nvCxnSpPr>
        <p:spPr>
          <a:xfrm rot="10800000">
            <a:off x="1257300" y="5522112"/>
            <a:ext cx="1703069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/>
          <p:nvPr/>
        </p:nvSpPr>
        <p:spPr>
          <a:xfrm flipH="1">
            <a:off x="13537446" y="-158657"/>
            <a:ext cx="4913194" cy="4114800"/>
          </a:xfrm>
          <a:custGeom>
            <a:rect b="b" l="l" r="r" t="t"/>
            <a:pathLst>
              <a:path extrusionOk="0" h="4114800" w="4913194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4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4"/>
          <p:cNvSpPr/>
          <p:nvPr/>
        </p:nvSpPr>
        <p:spPr>
          <a:xfrm rot="10800000">
            <a:off x="13649042" y="8770218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4"/>
          <p:cNvSpPr/>
          <p:nvPr/>
        </p:nvSpPr>
        <p:spPr>
          <a:xfrm rot="5400000">
            <a:off x="-1595510" y="1393187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13425850" y="2770764"/>
            <a:ext cx="4750554" cy="4894682"/>
          </a:xfrm>
          <a:custGeom>
            <a:rect b="b" l="l" r="r" t="t"/>
            <a:pathLst>
              <a:path extrusionOk="0" h="4894682" w="4750554">
                <a:moveTo>
                  <a:pt x="0" y="0"/>
                </a:moveTo>
                <a:lnTo>
                  <a:pt x="4750554" y="0"/>
                </a:lnTo>
                <a:lnTo>
                  <a:pt x="4750554" y="4894682"/>
                </a:lnTo>
                <a:lnTo>
                  <a:pt x="0" y="489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464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1529029" y="1624359"/>
            <a:ext cx="14084886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Perspectiva del Producto</a:t>
            </a:r>
            <a:endParaRPr b="1" i="0" sz="69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1435290" y="3307073"/>
            <a:ext cx="12195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72"/>
              <a:buFont typeface="Arial"/>
              <a:buNone/>
            </a:pPr>
            <a:r>
              <a:rPr b="0" i="1" lang="en-US" sz="267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PantrySmart</a:t>
            </a:r>
            <a:r>
              <a:rPr b="0" i="0" lang="en-US" sz="267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es una app móvil que utiliza Google Cloud Vision AI, Firebase y la API de OpenAI para convertir boletas físicas en un inventario digital, combinando digitalización, gestión en tiempo real y recomendaciones inteligentes de consumo y recetas.</a:t>
            </a:r>
            <a:endParaRPr b="0" i="0" sz="2672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 flipH="1" rot="10800000">
            <a:off x="14178184" y="-99681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4363296" y="0"/>
                </a:moveTo>
                <a:lnTo>
                  <a:pt x="0" y="0"/>
                </a:lnTo>
                <a:lnTo>
                  <a:pt x="0" y="5966900"/>
                </a:lnTo>
                <a:lnTo>
                  <a:pt x="4363296" y="5966900"/>
                </a:lnTo>
                <a:lnTo>
                  <a:pt x="43632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 rot="10800000">
            <a:off x="112040" y="523144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 rot="10800000">
            <a:off x="13599273" y="8889921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13829293" y="3126081"/>
            <a:ext cx="3380050" cy="3139221"/>
          </a:xfrm>
          <a:custGeom>
            <a:rect b="b" l="l" r="r" t="t"/>
            <a:pathLst>
              <a:path extrusionOk="0" h="3139221" w="3380050">
                <a:moveTo>
                  <a:pt x="0" y="0"/>
                </a:moveTo>
                <a:lnTo>
                  <a:pt x="3380050" y="0"/>
                </a:lnTo>
                <a:lnTo>
                  <a:pt x="3380050" y="3139222"/>
                </a:lnTo>
                <a:lnTo>
                  <a:pt x="0" y="313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5100965" y="952232"/>
            <a:ext cx="6614195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Funciones del producto</a:t>
            </a:r>
            <a:endParaRPr b="1" i="0" sz="44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36" name="Google Shape;236;p6"/>
          <p:cNvGrpSpPr/>
          <p:nvPr/>
        </p:nvGrpSpPr>
        <p:grpSpPr>
          <a:xfrm>
            <a:off x="3490982" y="2451420"/>
            <a:ext cx="8950486" cy="6963914"/>
            <a:chOff x="0" y="2892"/>
            <a:chExt cx="8950486" cy="6963914"/>
          </a:xfrm>
        </p:grpSpPr>
        <p:sp>
          <p:nvSpPr>
            <p:cNvPr id="237" name="Google Shape;237;p6"/>
            <p:cNvSpPr/>
            <p:nvPr/>
          </p:nvSpPr>
          <p:spPr>
            <a:xfrm>
              <a:off x="0" y="2892"/>
              <a:ext cx="8950486" cy="1466087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443491" y="332762"/>
              <a:ext cx="806347" cy="80634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1693330" y="2892"/>
              <a:ext cx="7257155" cy="146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1693330" y="2892"/>
              <a:ext cx="7257155" cy="146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5150" lIns="155150" spcFirstLastPara="1" rIns="155150" wrap="square" tIns="155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Escaneo de Boletas.</a:t>
              </a:r>
              <a:endParaRPr b="0" i="0" sz="21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1835501"/>
              <a:ext cx="8950486" cy="1466087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443491" y="2165371"/>
              <a:ext cx="806347" cy="80634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693330" y="1835501"/>
              <a:ext cx="7257155" cy="146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1693330" y="1835501"/>
              <a:ext cx="7257155" cy="146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5150" lIns="155150" spcFirstLastPara="1" rIns="155150" wrap="square" tIns="155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Gestión de Inventario.</a:t>
              </a:r>
              <a:endParaRPr b="0" i="0" sz="21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0" y="3668110"/>
              <a:ext cx="8950486" cy="1466087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443491" y="3997979"/>
              <a:ext cx="806347" cy="80634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693330" y="3668110"/>
              <a:ext cx="7257155" cy="146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1693330" y="3668110"/>
              <a:ext cx="7257155" cy="146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5150" lIns="155150" spcFirstLastPara="1" rIns="155150" wrap="square" tIns="155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>
                  <a:latin typeface="Raleway"/>
                  <a:ea typeface="Raleway"/>
                  <a:cs typeface="Raleway"/>
                  <a:sym typeface="Raleway"/>
                </a:rPr>
                <a:t>Generación de Listas de Compras.</a:t>
              </a:r>
              <a:endParaRPr b="0" i="0" sz="21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0" y="5500719"/>
              <a:ext cx="8950486" cy="1466087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443491" y="5830588"/>
              <a:ext cx="806347" cy="80634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1693330" y="5500719"/>
              <a:ext cx="7257155" cy="146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6"/>
            <p:cNvSpPr txBox="1"/>
            <p:nvPr/>
          </p:nvSpPr>
          <p:spPr>
            <a:xfrm>
              <a:off x="1693330" y="5500719"/>
              <a:ext cx="7257155" cy="1466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5150" lIns="155150" spcFirstLastPara="1" rIns="155150" wrap="square" tIns="155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Sugerencia de </a:t>
              </a:r>
              <a:r>
                <a:rPr lang="en-US" sz="2100">
                  <a:latin typeface="Raleway"/>
                  <a:ea typeface="Raleway"/>
                  <a:cs typeface="Raleway"/>
                  <a:sym typeface="Raleway"/>
                </a:rPr>
                <a:t>R</a:t>
              </a:r>
              <a:r>
                <a:rPr b="0" i="0" lang="en-US" sz="21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ecetas. </a:t>
              </a:r>
              <a:endParaRPr b="0" i="0" sz="21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b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5"/>
          <p:cNvSpPr/>
          <p:nvPr/>
        </p:nvSpPr>
        <p:spPr>
          <a:xfrm flipH="1" rot="10800000">
            <a:off x="14178184" y="-99681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4363296" y="0"/>
                </a:moveTo>
                <a:lnTo>
                  <a:pt x="0" y="0"/>
                </a:lnTo>
                <a:lnTo>
                  <a:pt x="0" y="5966900"/>
                </a:lnTo>
                <a:lnTo>
                  <a:pt x="4363296" y="5966900"/>
                </a:lnTo>
                <a:lnTo>
                  <a:pt x="43632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/>
          <p:nvPr/>
        </p:nvSpPr>
        <p:spPr>
          <a:xfrm rot="10800000">
            <a:off x="313746" y="52558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5"/>
          <p:cNvSpPr/>
          <p:nvPr/>
        </p:nvSpPr>
        <p:spPr>
          <a:xfrm rot="10800000">
            <a:off x="13599273" y="8889921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35"/>
          <p:cNvGraphicFramePr/>
          <p:nvPr/>
        </p:nvGraphicFramePr>
        <p:xfrm>
          <a:off x="2923267" y="3388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{048CD76F-9BDD-452A-B1F1-BFC0C3CD69BD}</a:tableStyleId>
              </a:tblPr>
              <a:tblGrid>
                <a:gridCol w="3177175"/>
                <a:gridCol w="4202950"/>
                <a:gridCol w="3368375"/>
              </a:tblGrid>
              <a:tr h="615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Usuario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Necesidad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Beneficio de PantrySmart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</a:tr>
              <a:tr h="128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Profesional Ocupado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Poco tiempo para planificar compras y comidas.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Ahorra tiempo y dinero al automatizar la gestión de la despensa.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</a:tr>
              <a:tr h="128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Joven Estudiante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 tiene hábitos de compra eficientes y desperdicia comida.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 ayuda a organizarse y a tomar decisiones de compra más inteligentes.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</a:tr>
              <a:tr h="128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El Padre o Madre de familia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La planificación y gestión de la despensa es una tarea compleja.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Simplifica la planificación de comidas y reduce el estrés familiar.</a:t>
                      </a:r>
                      <a:endParaRPr/>
                    </a:p>
                  </a:txBody>
                  <a:tcPr marT="36650" marB="122200" marR="12220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38CD5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35"/>
          <p:cNvSpPr txBox="1"/>
          <p:nvPr>
            <p:ph type="title"/>
          </p:nvPr>
        </p:nvSpPr>
        <p:spPr>
          <a:xfrm>
            <a:off x="3751896" y="161359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Características de los Usuarios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36"/>
          <p:cNvPicPr preferRelativeResize="0"/>
          <p:nvPr/>
        </p:nvPicPr>
        <p:blipFill rotWithShape="1">
          <a:blip r:embed="rId3">
            <a:alphaModFix/>
          </a:blip>
          <a:srcRect b="3942" l="0" r="-1" t="23906"/>
          <a:stretch/>
        </p:blipFill>
        <p:spPr>
          <a:xfrm>
            <a:off x="6821905" y="-7"/>
            <a:ext cx="11466093" cy="552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6"/>
          <p:cNvPicPr preferRelativeResize="0"/>
          <p:nvPr/>
        </p:nvPicPr>
        <p:blipFill rotWithShape="1">
          <a:blip r:embed="rId4">
            <a:alphaModFix/>
          </a:blip>
          <a:srcRect b="12626" l="0" r="-1" t="25115"/>
          <a:stretch/>
        </p:blipFill>
        <p:spPr>
          <a:xfrm>
            <a:off x="6821907" y="5522113"/>
            <a:ext cx="11466093" cy="476489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C0C0C"/>
              </a:gs>
              <a:gs pos="36000">
                <a:srgbClr val="0C0C0C"/>
              </a:gs>
              <a:gs pos="81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6"/>
          <p:cNvSpPr txBox="1"/>
          <p:nvPr>
            <p:ph type="title"/>
          </p:nvPr>
        </p:nvSpPr>
        <p:spPr>
          <a:xfrm>
            <a:off x="1257300" y="970356"/>
            <a:ext cx="8093868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8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Requerimientos del Proyecto</a:t>
            </a:r>
            <a:endParaRPr sz="75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72" name="Google Shape;272;p36"/>
          <p:cNvCxnSpPr/>
          <p:nvPr/>
        </p:nvCxnSpPr>
        <p:spPr>
          <a:xfrm rot="10800000">
            <a:off x="1257300" y="5522112"/>
            <a:ext cx="1703069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7"/>
          <p:cNvSpPr/>
          <p:nvPr/>
        </p:nvSpPr>
        <p:spPr>
          <a:xfrm flipH="1" rot="10800000">
            <a:off x="14178184" y="-99681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4363296" y="0"/>
                </a:moveTo>
                <a:lnTo>
                  <a:pt x="0" y="0"/>
                </a:lnTo>
                <a:lnTo>
                  <a:pt x="0" y="5966900"/>
                </a:lnTo>
                <a:lnTo>
                  <a:pt x="4363296" y="5966900"/>
                </a:lnTo>
                <a:lnTo>
                  <a:pt x="43632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7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7"/>
          <p:cNvSpPr/>
          <p:nvPr/>
        </p:nvSpPr>
        <p:spPr>
          <a:xfrm rot="10800000">
            <a:off x="14178184" y="9008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5154754" y="523144"/>
            <a:ext cx="6614195" cy="119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51"/>
              <a:buFont typeface="Arial"/>
              <a:buNone/>
            </a:pPr>
            <a:r>
              <a:rPr b="1" i="0" lang="en-US" sz="645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Requerimientos</a:t>
            </a:r>
            <a:endParaRPr b="1" i="0" sz="6451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82" name="Google Shape;282;p37"/>
          <p:cNvGrpSpPr/>
          <p:nvPr/>
        </p:nvGrpSpPr>
        <p:grpSpPr>
          <a:xfrm>
            <a:off x="3713921" y="1982924"/>
            <a:ext cx="10408665" cy="7768588"/>
            <a:chOff x="0" y="0"/>
            <a:chExt cx="10408665" cy="7768588"/>
          </a:xfrm>
        </p:grpSpPr>
        <p:sp>
          <p:nvSpPr>
            <p:cNvPr id="283" name="Google Shape;283;p37"/>
            <p:cNvSpPr/>
            <p:nvPr/>
          </p:nvSpPr>
          <p:spPr>
            <a:xfrm>
              <a:off x="0" y="0"/>
              <a:ext cx="8057482" cy="1398346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7"/>
            <p:cNvSpPr txBox="1"/>
            <p:nvPr/>
          </p:nvSpPr>
          <p:spPr>
            <a:xfrm>
              <a:off x="40956" y="40956"/>
              <a:ext cx="6384951" cy="1316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Propósito: Identificar las necesidades del usuario y del sistema.</a:t>
              </a:r>
              <a:endParaRPr b="0" i="0" sz="17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601695" y="1592560"/>
              <a:ext cx="8057482" cy="1398346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7"/>
            <p:cNvSpPr txBox="1"/>
            <p:nvPr/>
          </p:nvSpPr>
          <p:spPr>
            <a:xfrm>
              <a:off x="642651" y="1633516"/>
              <a:ext cx="6464950" cy="1316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Requerimientos funcionales y no funcionales : Funciones que PantrySmart debe cumplir y criterios de calidad como precisión, rapidez y facilidad de uso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1203390" y="3185121"/>
              <a:ext cx="8057482" cy="1398346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7"/>
            <p:cNvSpPr txBox="1"/>
            <p:nvPr/>
          </p:nvSpPr>
          <p:spPr>
            <a:xfrm>
              <a:off x="1244346" y="3226077"/>
              <a:ext cx="6464950" cy="1316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Alcance: Definición de necesidades del usuario y del sistema para guiar el diseño, desarrollo y pruebas.</a:t>
              </a:r>
              <a:endParaRPr b="0" i="0" sz="17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95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1760285" y="4759238"/>
              <a:ext cx="8057482" cy="1398346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7"/>
            <p:cNvSpPr txBox="1"/>
            <p:nvPr/>
          </p:nvSpPr>
          <p:spPr>
            <a:xfrm>
              <a:off x="1801241" y="4800194"/>
              <a:ext cx="6464950" cy="1316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Metodología: Entrevistas y encuestas a usuarios potenciales, observación hábitos de compra y análisis boletas para diseño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95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br>
                <a:rPr b="0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7"/>
            <p:cNvSpPr/>
            <p:nvPr/>
          </p:nvSpPr>
          <p:spPr>
            <a:xfrm>
              <a:off x="2351183" y="6370242"/>
              <a:ext cx="8057482" cy="1398346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7"/>
            <p:cNvSpPr txBox="1"/>
            <p:nvPr/>
          </p:nvSpPr>
          <p:spPr>
            <a:xfrm>
              <a:off x="2392139" y="6411198"/>
              <a:ext cx="6464950" cy="1316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Resultado esperado: Documento de requerimientos completo y validado que sirva como guía para el diseño, desarrollo y pruebas efectivas de PantrySmart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95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7"/>
            <p:cNvSpPr/>
            <p:nvPr/>
          </p:nvSpPr>
          <p:spPr>
            <a:xfrm>
              <a:off x="7148557" y="1021569"/>
              <a:ext cx="908924" cy="908924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7E7">
                <a:alpha val="89803"/>
              </a:srgbClr>
            </a:solidFill>
            <a:ln cap="flat" cmpd="sng" w="25400">
              <a:solidFill>
                <a:srgbClr val="CFD7E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7"/>
            <p:cNvSpPr txBox="1"/>
            <p:nvPr/>
          </p:nvSpPr>
          <p:spPr>
            <a:xfrm>
              <a:off x="7353065" y="1021569"/>
              <a:ext cx="499908" cy="683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7"/>
            <p:cNvSpPr/>
            <p:nvPr/>
          </p:nvSpPr>
          <p:spPr>
            <a:xfrm>
              <a:off x="7750252" y="2614130"/>
              <a:ext cx="908924" cy="908924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7E7">
                <a:alpha val="89803"/>
              </a:srgbClr>
            </a:solidFill>
            <a:ln cap="flat" cmpd="sng" w="25400">
              <a:solidFill>
                <a:srgbClr val="CFD7E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7"/>
            <p:cNvSpPr txBox="1"/>
            <p:nvPr/>
          </p:nvSpPr>
          <p:spPr>
            <a:xfrm>
              <a:off x="7954760" y="2614130"/>
              <a:ext cx="499908" cy="683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7"/>
            <p:cNvSpPr/>
            <p:nvPr/>
          </p:nvSpPr>
          <p:spPr>
            <a:xfrm>
              <a:off x="8351947" y="4183385"/>
              <a:ext cx="908924" cy="908924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7E7">
                <a:alpha val="89803"/>
              </a:srgbClr>
            </a:solidFill>
            <a:ln cap="flat" cmpd="sng" w="25400">
              <a:solidFill>
                <a:srgbClr val="CFD7E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7"/>
            <p:cNvSpPr txBox="1"/>
            <p:nvPr/>
          </p:nvSpPr>
          <p:spPr>
            <a:xfrm>
              <a:off x="8556455" y="4183385"/>
              <a:ext cx="499908" cy="683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8953642" y="5791483"/>
              <a:ext cx="908924" cy="908924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7E7">
                <a:alpha val="89803"/>
              </a:srgbClr>
            </a:solidFill>
            <a:ln cap="flat" cmpd="sng" w="25400">
              <a:solidFill>
                <a:srgbClr val="CFD7E7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7"/>
            <p:cNvSpPr txBox="1"/>
            <p:nvPr/>
          </p:nvSpPr>
          <p:spPr>
            <a:xfrm>
              <a:off x="9158150" y="5791483"/>
              <a:ext cx="499908" cy="683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8"/>
          <p:cNvSpPr/>
          <p:nvPr/>
        </p:nvSpPr>
        <p:spPr>
          <a:xfrm flipH="1" rot="10800000">
            <a:off x="14178184" y="-99681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4363296" y="0"/>
                </a:moveTo>
                <a:lnTo>
                  <a:pt x="0" y="0"/>
                </a:lnTo>
                <a:lnTo>
                  <a:pt x="0" y="5966900"/>
                </a:lnTo>
                <a:lnTo>
                  <a:pt x="4363296" y="5966900"/>
                </a:lnTo>
                <a:lnTo>
                  <a:pt x="43632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8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8"/>
          <p:cNvSpPr/>
          <p:nvPr/>
        </p:nvSpPr>
        <p:spPr>
          <a:xfrm rot="10800000">
            <a:off x="13599273" y="8889921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8"/>
          <p:cNvSpPr/>
          <p:nvPr/>
        </p:nvSpPr>
        <p:spPr>
          <a:xfrm>
            <a:off x="3071735" y="3561010"/>
            <a:ext cx="817816" cy="4931060"/>
          </a:xfrm>
          <a:custGeom>
            <a:rect b="b" l="l" r="r" t="t"/>
            <a:pathLst>
              <a:path extrusionOk="0" h="4114800" w="817816">
                <a:moveTo>
                  <a:pt x="0" y="0"/>
                </a:moveTo>
                <a:lnTo>
                  <a:pt x="817817" y="0"/>
                </a:lnTo>
                <a:lnTo>
                  <a:pt x="817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12919452" y="3809819"/>
            <a:ext cx="3380050" cy="3139221"/>
          </a:xfrm>
          <a:custGeom>
            <a:rect b="b" l="l" r="r" t="t"/>
            <a:pathLst>
              <a:path extrusionOk="0" h="3139221" w="3380050">
                <a:moveTo>
                  <a:pt x="0" y="0"/>
                </a:moveTo>
                <a:lnTo>
                  <a:pt x="3380050" y="0"/>
                </a:lnTo>
                <a:lnTo>
                  <a:pt x="3380050" y="3139222"/>
                </a:lnTo>
                <a:lnTo>
                  <a:pt x="0" y="313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4748354" y="298105"/>
            <a:ext cx="8117447" cy="2382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51"/>
              <a:buFont typeface="Arial"/>
              <a:buNone/>
            </a:pPr>
            <a:r>
              <a:rPr b="1" i="0" lang="en-US" sz="645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Requerimientos  funcionales</a:t>
            </a:r>
            <a:endParaRPr b="1" i="0" sz="6451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12" name="Google Shape;312;p38"/>
          <p:cNvGrpSpPr/>
          <p:nvPr/>
        </p:nvGrpSpPr>
        <p:grpSpPr>
          <a:xfrm>
            <a:off x="4136834" y="3165536"/>
            <a:ext cx="7733440" cy="5722008"/>
            <a:chOff x="0" y="2376"/>
            <a:chExt cx="7733440" cy="5722008"/>
          </a:xfrm>
        </p:grpSpPr>
        <p:sp>
          <p:nvSpPr>
            <p:cNvPr id="313" name="Google Shape;313;p38"/>
            <p:cNvSpPr/>
            <p:nvPr/>
          </p:nvSpPr>
          <p:spPr>
            <a:xfrm>
              <a:off x="0" y="2376"/>
              <a:ext cx="7733440" cy="1204633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8"/>
            <p:cNvSpPr/>
            <p:nvPr/>
          </p:nvSpPr>
          <p:spPr>
            <a:xfrm>
              <a:off x="364401" y="273419"/>
              <a:ext cx="662548" cy="66254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8"/>
            <p:cNvSpPr/>
            <p:nvPr/>
          </p:nvSpPr>
          <p:spPr>
            <a:xfrm>
              <a:off x="1391351" y="2376"/>
              <a:ext cx="6342088" cy="1204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8"/>
            <p:cNvSpPr txBox="1"/>
            <p:nvPr/>
          </p:nvSpPr>
          <p:spPr>
            <a:xfrm>
              <a:off x="1391351" y="2376"/>
              <a:ext cx="6342088" cy="1204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475" lIns="127475" spcFirstLastPara="1" rIns="127475" wrap="square" tIns="12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Desarrollar un módulo OCR para escanear boletas.</a:t>
              </a:r>
              <a:endParaRPr b="0" i="0" sz="2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17" name="Google Shape;317;p38"/>
            <p:cNvSpPr/>
            <p:nvPr/>
          </p:nvSpPr>
          <p:spPr>
            <a:xfrm>
              <a:off x="0" y="1508168"/>
              <a:ext cx="7733440" cy="1204633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8"/>
            <p:cNvSpPr/>
            <p:nvPr/>
          </p:nvSpPr>
          <p:spPr>
            <a:xfrm>
              <a:off x="364401" y="1779210"/>
              <a:ext cx="662548" cy="662548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8"/>
            <p:cNvSpPr/>
            <p:nvPr/>
          </p:nvSpPr>
          <p:spPr>
            <a:xfrm>
              <a:off x="1391351" y="1508168"/>
              <a:ext cx="6342088" cy="1204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8"/>
            <p:cNvSpPr txBox="1"/>
            <p:nvPr/>
          </p:nvSpPr>
          <p:spPr>
            <a:xfrm>
              <a:off x="1391351" y="1508168"/>
              <a:ext cx="6342088" cy="1204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475" lIns="127475" spcFirstLastPara="1" rIns="127475" wrap="square" tIns="12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Diseñar un inventario inteligente que registre productos y cantidades.</a:t>
              </a:r>
              <a:endParaRPr b="0" i="0" sz="2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21" name="Google Shape;321;p38"/>
            <p:cNvSpPr/>
            <p:nvPr/>
          </p:nvSpPr>
          <p:spPr>
            <a:xfrm>
              <a:off x="0" y="3013959"/>
              <a:ext cx="7733440" cy="1204633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8"/>
            <p:cNvSpPr/>
            <p:nvPr/>
          </p:nvSpPr>
          <p:spPr>
            <a:xfrm>
              <a:off x="364401" y="3285002"/>
              <a:ext cx="662548" cy="662548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8"/>
            <p:cNvSpPr/>
            <p:nvPr/>
          </p:nvSpPr>
          <p:spPr>
            <a:xfrm>
              <a:off x="1391351" y="3013959"/>
              <a:ext cx="6342088" cy="1204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8"/>
            <p:cNvSpPr txBox="1"/>
            <p:nvPr/>
          </p:nvSpPr>
          <p:spPr>
            <a:xfrm>
              <a:off x="1391351" y="3013959"/>
              <a:ext cx="6342088" cy="1204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475" lIns="127475" spcFirstLastPara="1" rIns="127475" wrap="square" tIns="12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Desarrollar un recomendador de recetas según el inventario disponible.</a:t>
              </a:r>
              <a:endParaRPr b="0" i="0" sz="2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0" y="4519751"/>
              <a:ext cx="7733440" cy="1204633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364401" y="4790793"/>
              <a:ext cx="662548" cy="662548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1391351" y="4519751"/>
              <a:ext cx="6342088" cy="1204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8"/>
            <p:cNvSpPr txBox="1"/>
            <p:nvPr/>
          </p:nvSpPr>
          <p:spPr>
            <a:xfrm>
              <a:off x="1391351" y="4519751"/>
              <a:ext cx="6342088" cy="1204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475" lIns="127475" spcFirstLastPara="1" rIns="127475" wrap="square" tIns="12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Generar Listas de Compra Automáticas según el inventario.</a:t>
              </a:r>
              <a:endParaRPr b="0" i="0" sz="2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/>
          <p:nvPr/>
        </p:nvSpPr>
        <p:spPr>
          <a:xfrm rot="5400000">
            <a:off x="1526189" y="5966655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9"/>
          <p:cNvSpPr/>
          <p:nvPr/>
        </p:nvSpPr>
        <p:spPr>
          <a:xfrm flipH="1" rot="10800000">
            <a:off x="14178184" y="-99681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4363296" y="0"/>
                </a:moveTo>
                <a:lnTo>
                  <a:pt x="0" y="0"/>
                </a:lnTo>
                <a:lnTo>
                  <a:pt x="0" y="5966900"/>
                </a:lnTo>
                <a:lnTo>
                  <a:pt x="4363296" y="5966900"/>
                </a:lnTo>
                <a:lnTo>
                  <a:pt x="436329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9"/>
          <p:cNvSpPr/>
          <p:nvPr/>
        </p:nvSpPr>
        <p:spPr>
          <a:xfrm rot="10800000">
            <a:off x="-372054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9"/>
          <p:cNvSpPr/>
          <p:nvPr/>
        </p:nvSpPr>
        <p:spPr>
          <a:xfrm rot="10800000">
            <a:off x="13599273" y="8889921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9"/>
          <p:cNvSpPr/>
          <p:nvPr/>
        </p:nvSpPr>
        <p:spPr>
          <a:xfrm>
            <a:off x="13985219" y="3858624"/>
            <a:ext cx="3380050" cy="3139221"/>
          </a:xfrm>
          <a:custGeom>
            <a:rect b="b" l="l" r="r" t="t"/>
            <a:pathLst>
              <a:path extrusionOk="0" h="3139221" w="3380050">
                <a:moveTo>
                  <a:pt x="0" y="0"/>
                </a:moveTo>
                <a:lnTo>
                  <a:pt x="3380050" y="0"/>
                </a:lnTo>
                <a:lnTo>
                  <a:pt x="3380050" y="3139222"/>
                </a:lnTo>
                <a:lnTo>
                  <a:pt x="0" y="313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9"/>
          <p:cNvSpPr txBox="1"/>
          <p:nvPr/>
        </p:nvSpPr>
        <p:spPr>
          <a:xfrm>
            <a:off x="4734219" y="564873"/>
            <a:ext cx="8117447" cy="2382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51"/>
              <a:buFont typeface="Arial"/>
              <a:buNone/>
            </a:pPr>
            <a:r>
              <a:rPr b="1" i="0" lang="en-US" sz="6451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Requerimientos  no funcionales</a:t>
            </a:r>
            <a:endParaRPr b="1" i="0" sz="6451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39" name="Google Shape;339;p39"/>
          <p:cNvGrpSpPr/>
          <p:nvPr/>
        </p:nvGrpSpPr>
        <p:grpSpPr>
          <a:xfrm>
            <a:off x="4026641" y="3655578"/>
            <a:ext cx="9311987" cy="5523391"/>
            <a:chOff x="0" y="8293"/>
            <a:chExt cx="9311987" cy="5523391"/>
          </a:xfrm>
        </p:grpSpPr>
        <p:sp>
          <p:nvSpPr>
            <p:cNvPr id="340" name="Google Shape;340;p39"/>
            <p:cNvSpPr/>
            <p:nvPr/>
          </p:nvSpPr>
          <p:spPr>
            <a:xfrm>
              <a:off x="0" y="8293"/>
              <a:ext cx="9311987" cy="104247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9"/>
            <p:cNvSpPr txBox="1"/>
            <p:nvPr/>
          </p:nvSpPr>
          <p:spPr>
            <a:xfrm>
              <a:off x="50889" y="59182"/>
              <a:ext cx="9210209" cy="940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Rendimiento: El escaneo de boletas debe procesarse en menos de 5 segundos.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9"/>
            <p:cNvSpPr/>
            <p:nvPr/>
          </p:nvSpPr>
          <p:spPr>
            <a:xfrm>
              <a:off x="0" y="1128523"/>
              <a:ext cx="9311987" cy="104247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9"/>
            <p:cNvSpPr txBox="1"/>
            <p:nvPr/>
          </p:nvSpPr>
          <p:spPr>
            <a:xfrm>
              <a:off x="50889" y="1179412"/>
              <a:ext cx="9210209" cy="940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Usabilidad: La interfaz debe ser intuitiva, permitiendo un uso sin tutoriales.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9"/>
            <p:cNvSpPr/>
            <p:nvPr/>
          </p:nvSpPr>
          <p:spPr>
            <a:xfrm>
              <a:off x="0" y="2248754"/>
              <a:ext cx="9311987" cy="104247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9"/>
            <p:cNvSpPr txBox="1"/>
            <p:nvPr/>
          </p:nvSpPr>
          <p:spPr>
            <a:xfrm>
              <a:off x="50889" y="2299643"/>
              <a:ext cx="9210209" cy="940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Confiabilidad: El sistema debe tener una disponibilidad del 99.9%.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9"/>
            <p:cNvSpPr/>
            <p:nvPr/>
          </p:nvSpPr>
          <p:spPr>
            <a:xfrm>
              <a:off x="0" y="3368984"/>
              <a:ext cx="9311987" cy="104247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9"/>
            <p:cNvSpPr txBox="1"/>
            <p:nvPr/>
          </p:nvSpPr>
          <p:spPr>
            <a:xfrm>
              <a:off x="50889" y="3419873"/>
              <a:ext cx="9210209" cy="940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Seguridad: Los datos del usuario (inventario e información personal) deben estar cifrados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9"/>
            <p:cNvSpPr/>
            <p:nvPr/>
          </p:nvSpPr>
          <p:spPr>
            <a:xfrm>
              <a:off x="0" y="4489214"/>
              <a:ext cx="9311987" cy="104247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9"/>
            <p:cNvSpPr txBox="1"/>
            <p:nvPr/>
          </p:nvSpPr>
          <p:spPr>
            <a:xfrm>
              <a:off x="50889" y="4540103"/>
              <a:ext cx="9210209" cy="940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Compatibilidad: La aplicación </a:t>
              </a:r>
              <a:r>
                <a:rPr lang="en-US" sz="2700">
                  <a:solidFill>
                    <a:schemeClr val="lt1"/>
                  </a:solidFill>
                </a:rPr>
                <a:t>será</a:t>
              </a:r>
              <a:r>
                <a:rPr lang="en-US" sz="2700">
                  <a:solidFill>
                    <a:schemeClr val="lt1"/>
                  </a:solidFill>
                </a:rPr>
                <a:t> compatible solo en</a:t>
              </a: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sistemas operativos Android</a:t>
              </a:r>
              <a:r>
                <a:rPr lang="en-US" sz="2700">
                  <a:solidFill>
                    <a:schemeClr val="lt1"/>
                  </a:solidFill>
                </a:rPr>
                <a:t>, como primera etapa.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40"/>
          <p:cNvPicPr preferRelativeResize="0"/>
          <p:nvPr/>
        </p:nvPicPr>
        <p:blipFill rotWithShape="1">
          <a:blip r:embed="rId3">
            <a:alphaModFix/>
          </a:blip>
          <a:srcRect b="10744" l="0" r="-1" t="17106"/>
          <a:stretch/>
        </p:blipFill>
        <p:spPr>
          <a:xfrm>
            <a:off x="6821905" y="-7"/>
            <a:ext cx="11466093" cy="552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0"/>
          <p:cNvPicPr preferRelativeResize="0"/>
          <p:nvPr/>
        </p:nvPicPr>
        <p:blipFill rotWithShape="1">
          <a:blip r:embed="rId4">
            <a:alphaModFix/>
          </a:blip>
          <a:srcRect b="22961" l="0" r="-1" t="14781"/>
          <a:stretch/>
        </p:blipFill>
        <p:spPr>
          <a:xfrm>
            <a:off x="6821907" y="5522113"/>
            <a:ext cx="11466093" cy="476489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C0C0C"/>
              </a:gs>
              <a:gs pos="36000">
                <a:srgbClr val="0C0C0C"/>
              </a:gs>
              <a:gs pos="81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0"/>
          <p:cNvSpPr txBox="1"/>
          <p:nvPr>
            <p:ph type="title"/>
          </p:nvPr>
        </p:nvSpPr>
        <p:spPr>
          <a:xfrm>
            <a:off x="1257300" y="1672828"/>
            <a:ext cx="8093868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7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Diseño , planes y tecnologias</a:t>
            </a:r>
            <a:endParaRPr sz="7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40"/>
          <p:cNvCxnSpPr/>
          <p:nvPr/>
        </p:nvCxnSpPr>
        <p:spPr>
          <a:xfrm rot="10800000">
            <a:off x="1257300" y="5522112"/>
            <a:ext cx="17030698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"/>
          <p:cNvSpPr/>
          <p:nvPr/>
        </p:nvSpPr>
        <p:spPr>
          <a:xfrm flipH="1">
            <a:off x="14499711" y="-227459"/>
            <a:ext cx="3998286" cy="4444598"/>
          </a:xfrm>
          <a:custGeom>
            <a:rect b="b" l="l" r="r" t="t"/>
            <a:pathLst>
              <a:path extrusionOk="0" h="4444598" w="3998286">
                <a:moveTo>
                  <a:pt x="3998286" y="0"/>
                </a:moveTo>
                <a:lnTo>
                  <a:pt x="0" y="0"/>
                </a:lnTo>
                <a:lnTo>
                  <a:pt x="0" y="4444597"/>
                </a:lnTo>
                <a:lnTo>
                  <a:pt x="3998286" y="4444597"/>
                </a:lnTo>
                <a:lnTo>
                  <a:pt x="399828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 rot="10800000">
            <a:off x="8398920" y="9177937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 flipH="1" rot="10800000">
            <a:off x="-196152" y="7494835"/>
            <a:ext cx="3564095" cy="2984930"/>
          </a:xfrm>
          <a:custGeom>
            <a:rect b="b" l="l" r="r" t="t"/>
            <a:pathLst>
              <a:path extrusionOk="0" h="2984930" w="3564095">
                <a:moveTo>
                  <a:pt x="0" y="2984929"/>
                </a:moveTo>
                <a:lnTo>
                  <a:pt x="3564095" y="2984929"/>
                </a:lnTo>
                <a:lnTo>
                  <a:pt x="3564095" y="0"/>
                </a:lnTo>
                <a:lnTo>
                  <a:pt x="0" y="0"/>
                </a:lnTo>
                <a:lnTo>
                  <a:pt x="0" y="298492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7107113" y="1215350"/>
            <a:ext cx="3483519" cy="7613391"/>
          </a:xfrm>
          <a:custGeom>
            <a:rect b="b" l="l" r="r" t="t"/>
            <a:pathLst>
              <a:path extrusionOk="0" h="7613391" w="3483519">
                <a:moveTo>
                  <a:pt x="0" y="0"/>
                </a:moveTo>
                <a:lnTo>
                  <a:pt x="3483519" y="0"/>
                </a:lnTo>
                <a:lnTo>
                  <a:pt x="3483519" y="7613391"/>
                </a:lnTo>
                <a:lnTo>
                  <a:pt x="0" y="7613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54" l="0" r="0" t="-55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11384322" y="1215350"/>
            <a:ext cx="3483126" cy="7613391"/>
          </a:xfrm>
          <a:custGeom>
            <a:rect b="b" l="l" r="r" t="t"/>
            <a:pathLst>
              <a:path extrusionOk="0" h="7613391" w="3483126">
                <a:moveTo>
                  <a:pt x="0" y="0"/>
                </a:moveTo>
                <a:lnTo>
                  <a:pt x="3483126" y="0"/>
                </a:lnTo>
                <a:lnTo>
                  <a:pt x="3483126" y="7613391"/>
                </a:lnTo>
                <a:lnTo>
                  <a:pt x="0" y="7613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1585895" y="1205825"/>
            <a:ext cx="5095282" cy="2610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87"/>
              <a:buFont typeface="Arial"/>
              <a:buNone/>
            </a:pPr>
            <a:r>
              <a:rPr b="1" i="0" lang="en-US" sz="5687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Diseño de la Interfaz (UI/UX)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448151" y="4395592"/>
            <a:ext cx="2863078" cy="2519508"/>
          </a:xfrm>
          <a:custGeom>
            <a:rect b="b" l="l" r="r" t="t"/>
            <a:pathLst>
              <a:path extrusionOk="0" h="2519508" w="2863078">
                <a:moveTo>
                  <a:pt x="0" y="0"/>
                </a:moveTo>
                <a:lnTo>
                  <a:pt x="2863078" y="0"/>
                </a:lnTo>
                <a:lnTo>
                  <a:pt x="2863078" y="2519508"/>
                </a:lnTo>
                <a:lnTo>
                  <a:pt x="0" y="2519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1"/>
          <p:cNvSpPr/>
          <p:nvPr/>
        </p:nvSpPr>
        <p:spPr>
          <a:xfrm flipH="1">
            <a:off x="14499711" y="-227459"/>
            <a:ext cx="3998286" cy="4444598"/>
          </a:xfrm>
          <a:custGeom>
            <a:rect b="b" l="l" r="r" t="t"/>
            <a:pathLst>
              <a:path extrusionOk="0" h="4444598" w="3998286">
                <a:moveTo>
                  <a:pt x="3998286" y="0"/>
                </a:moveTo>
                <a:lnTo>
                  <a:pt x="0" y="0"/>
                </a:lnTo>
                <a:lnTo>
                  <a:pt x="0" y="4444597"/>
                </a:lnTo>
                <a:lnTo>
                  <a:pt x="3998286" y="4444597"/>
                </a:lnTo>
                <a:lnTo>
                  <a:pt x="399828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1"/>
          <p:cNvSpPr/>
          <p:nvPr/>
        </p:nvSpPr>
        <p:spPr>
          <a:xfrm rot="10800000">
            <a:off x="8398920" y="9177937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1"/>
          <p:cNvSpPr/>
          <p:nvPr/>
        </p:nvSpPr>
        <p:spPr>
          <a:xfrm flipH="1" rot="10800000">
            <a:off x="-196152" y="7494835"/>
            <a:ext cx="3564095" cy="2984930"/>
          </a:xfrm>
          <a:custGeom>
            <a:rect b="b" l="l" r="r" t="t"/>
            <a:pathLst>
              <a:path extrusionOk="0" h="2984930" w="3564095">
                <a:moveTo>
                  <a:pt x="0" y="2984929"/>
                </a:moveTo>
                <a:lnTo>
                  <a:pt x="3564095" y="2984929"/>
                </a:lnTo>
                <a:lnTo>
                  <a:pt x="3564095" y="0"/>
                </a:lnTo>
                <a:lnTo>
                  <a:pt x="0" y="0"/>
                </a:lnTo>
                <a:lnTo>
                  <a:pt x="0" y="298492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585895" y="1205825"/>
            <a:ext cx="5095282" cy="2610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87"/>
              <a:buFont typeface="Arial"/>
              <a:buNone/>
            </a:pPr>
            <a:r>
              <a:rPr b="1" i="0" lang="en-US" sz="5687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Diseño de la Interfaz (UI/UX)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1448151" y="4395592"/>
            <a:ext cx="2863078" cy="2519508"/>
          </a:xfrm>
          <a:custGeom>
            <a:rect b="b" l="l" r="r" t="t"/>
            <a:pathLst>
              <a:path extrusionOk="0" h="2519508" w="2863078">
                <a:moveTo>
                  <a:pt x="0" y="0"/>
                </a:moveTo>
                <a:lnTo>
                  <a:pt x="2863078" y="0"/>
                </a:lnTo>
                <a:lnTo>
                  <a:pt x="2863078" y="2519508"/>
                </a:lnTo>
                <a:lnTo>
                  <a:pt x="0" y="2519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99452" y="1215350"/>
            <a:ext cx="3483126" cy="76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84719" y="1170411"/>
            <a:ext cx="3483125" cy="7732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"/>
          <p:cNvSpPr/>
          <p:nvPr/>
        </p:nvSpPr>
        <p:spPr>
          <a:xfrm>
            <a:off x="10153666" y="0"/>
            <a:ext cx="8166990" cy="5916706"/>
          </a:xfrm>
          <a:custGeom>
            <a:rect b="b" l="l" r="r" t="t"/>
            <a:pathLst>
              <a:path extrusionOk="0" h="6175574" w="9260466">
                <a:moveTo>
                  <a:pt x="0" y="0"/>
                </a:moveTo>
                <a:lnTo>
                  <a:pt x="9260466" y="0"/>
                </a:lnTo>
                <a:lnTo>
                  <a:pt x="9260466" y="6175574"/>
                </a:lnTo>
                <a:lnTo>
                  <a:pt x="0" y="617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14752327" y="5381439"/>
            <a:ext cx="3727955" cy="5100964"/>
          </a:xfrm>
          <a:custGeom>
            <a:rect b="b" l="l" r="r" t="t"/>
            <a:pathLst>
              <a:path extrusionOk="0" h="5100964" w="3727955">
                <a:moveTo>
                  <a:pt x="0" y="0"/>
                </a:moveTo>
                <a:lnTo>
                  <a:pt x="3727955" y="0"/>
                </a:lnTo>
                <a:lnTo>
                  <a:pt x="3727955" y="5100965"/>
                </a:lnTo>
                <a:lnTo>
                  <a:pt x="0" y="5100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-233183" y="-194603"/>
            <a:ext cx="3564095" cy="2984930"/>
          </a:xfrm>
          <a:custGeom>
            <a:rect b="b" l="l" r="r" t="t"/>
            <a:pathLst>
              <a:path extrusionOk="0" h="2984930" w="3564095">
                <a:moveTo>
                  <a:pt x="0" y="0"/>
                </a:moveTo>
                <a:lnTo>
                  <a:pt x="3564095" y="0"/>
                </a:lnTo>
                <a:lnTo>
                  <a:pt x="3564095" y="2984930"/>
                </a:lnTo>
                <a:lnTo>
                  <a:pt x="0" y="2984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"/>
          <p:cNvSpPr/>
          <p:nvPr/>
        </p:nvSpPr>
        <p:spPr>
          <a:xfrm rot="10800000">
            <a:off x="-423461" y="8775390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 rot="10800000">
            <a:off x="13971970" y="475520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4894944" y="7092046"/>
            <a:ext cx="1871607" cy="1871607"/>
          </a:xfrm>
          <a:custGeom>
            <a:rect b="b" l="l" r="r" t="t"/>
            <a:pathLst>
              <a:path extrusionOk="0" h="1871607" w="1871607">
                <a:moveTo>
                  <a:pt x="0" y="0"/>
                </a:moveTo>
                <a:lnTo>
                  <a:pt x="1871607" y="0"/>
                </a:lnTo>
                <a:lnTo>
                  <a:pt x="1871607" y="1871607"/>
                </a:lnTo>
                <a:lnTo>
                  <a:pt x="0" y="1871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 txBox="1"/>
          <p:nvPr/>
        </p:nvSpPr>
        <p:spPr>
          <a:xfrm>
            <a:off x="2552655" y="1561602"/>
            <a:ext cx="64749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Tecnologías</a:t>
            </a:r>
            <a:endParaRPr b="1" i="0" sz="80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3" name="Google Shape;393;p8"/>
          <p:cNvSpPr txBox="1"/>
          <p:nvPr/>
        </p:nvSpPr>
        <p:spPr>
          <a:xfrm>
            <a:off x="1892100" y="3186872"/>
            <a:ext cx="8558700" cy="339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6631" lvl="1" marL="7932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4"/>
              <a:buFont typeface="Arial"/>
              <a:buChar char="•"/>
            </a:pPr>
            <a:r>
              <a:rPr b="0" i="0" lang="en-US" sz="3674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Visual Studio Code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6631" lvl="1" marL="7932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4"/>
              <a:buFont typeface="Arial"/>
              <a:buChar char="•"/>
            </a:pPr>
            <a:r>
              <a:rPr b="0" i="0" lang="en-US" sz="3674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Android Studio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6631" lvl="1" marL="7932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4"/>
              <a:buFont typeface="Arial"/>
              <a:buChar char="•"/>
            </a:pPr>
            <a:r>
              <a:rPr b="0" i="0" lang="en-US" sz="3674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OpenAI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6631" lvl="1" marL="79326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74"/>
              <a:buFont typeface="Arial"/>
              <a:buChar char="•"/>
            </a:pPr>
            <a:r>
              <a:rPr b="0" i="0" lang="en-US" sz="3674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GCP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2575488" y="6708973"/>
            <a:ext cx="1862700" cy="1743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31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74"/>
              <a:buFont typeface="Arial"/>
              <a:buNone/>
            </a:pPr>
            <a:r>
              <a:rPr b="0" i="0" lang="en-US" sz="3774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GITHUB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/>
          <p:nvPr/>
        </p:nvSpPr>
        <p:spPr>
          <a:xfrm>
            <a:off x="-233183" y="-194603"/>
            <a:ext cx="3564095" cy="2984930"/>
          </a:xfrm>
          <a:custGeom>
            <a:rect b="b" l="l" r="r" t="t"/>
            <a:pathLst>
              <a:path extrusionOk="0" h="2984930" w="3564095">
                <a:moveTo>
                  <a:pt x="0" y="0"/>
                </a:moveTo>
                <a:lnTo>
                  <a:pt x="3564095" y="0"/>
                </a:lnTo>
                <a:lnTo>
                  <a:pt x="3564095" y="2984930"/>
                </a:lnTo>
                <a:lnTo>
                  <a:pt x="0" y="2984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2"/>
          <p:cNvSpPr/>
          <p:nvPr/>
        </p:nvSpPr>
        <p:spPr>
          <a:xfrm rot="10800000">
            <a:off x="-423461" y="8775390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2"/>
          <p:cNvSpPr/>
          <p:nvPr/>
        </p:nvSpPr>
        <p:spPr>
          <a:xfrm>
            <a:off x="14494767" y="531598"/>
            <a:ext cx="2885101" cy="2885101"/>
          </a:xfrm>
          <a:custGeom>
            <a:rect b="b" l="l" r="r" t="t"/>
            <a:pathLst>
              <a:path extrusionOk="0" h="3335377" w="3335377">
                <a:moveTo>
                  <a:pt x="0" y="0"/>
                </a:moveTo>
                <a:lnTo>
                  <a:pt x="3335377" y="0"/>
                </a:lnTo>
                <a:lnTo>
                  <a:pt x="3335377" y="3335378"/>
                </a:lnTo>
                <a:lnTo>
                  <a:pt x="0" y="3335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2"/>
          <p:cNvSpPr txBox="1"/>
          <p:nvPr/>
        </p:nvSpPr>
        <p:spPr>
          <a:xfrm>
            <a:off x="4085734" y="1019175"/>
            <a:ext cx="8920327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Plan de Pruebas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3" name="Google Shape;403;p42"/>
          <p:cNvGraphicFramePr/>
          <p:nvPr/>
        </p:nvGraphicFramePr>
        <p:xfrm>
          <a:off x="1425388" y="37920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{048CD76F-9BDD-452A-B1F1-BFC0C3CD69BD}</a:tableStyleId>
              </a:tblPr>
              <a:tblGrid>
                <a:gridCol w="6992475"/>
                <a:gridCol w="6992475"/>
              </a:tblGrid>
              <a:tr h="80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700" u="none" cap="none" strike="noStrike"/>
                        <a:t>T</a:t>
                      </a:r>
                      <a:r>
                        <a:rPr lang="en-US" sz="2700"/>
                        <a:t>ipo de Prueba</a:t>
                      </a:r>
                      <a:r>
                        <a:rPr lang="en-US" sz="2700" u="none" cap="none" strike="noStrike"/>
                        <a:t> </a:t>
                      </a:r>
                      <a:endParaRPr sz="27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700" u="none" cap="none" strike="noStrike"/>
                        <a:t>Descripción</a:t>
                      </a:r>
                      <a:endParaRPr sz="27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200" u="none" cap="none" strike="noStrike"/>
                        <a:t>Pruebas unitarias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200" u="none" cap="none" strike="noStrike"/>
                        <a:t>Normalización de productos, Prueba de inventario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200" u="none" cap="none" strike="noStrike"/>
                        <a:t>Pruebas de Integración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200" u="none" cap="none" strike="noStrike"/>
                        <a:t>Integración Escaneo y Registro de Productos, Flujo Generación y Validación de Recetas con IA, Dinámica Front-End y Back-End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200" u="none" cap="none" strike="noStrike"/>
                        <a:t>Pruebas de usuario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200" u="none" cap="none" strike="noStrike"/>
                        <a:t>Accesibilidad, Comprensión y eficiencia de la navegación</a:t>
                      </a:r>
                      <a:endParaRPr sz="2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43"/>
          <p:cNvPicPr preferRelativeResize="0"/>
          <p:nvPr/>
        </p:nvPicPr>
        <p:blipFill rotWithShape="1">
          <a:blip r:embed="rId3">
            <a:alphaModFix/>
          </a:blip>
          <a:srcRect b="0" l="12876" r="10439" t="0"/>
          <a:stretch/>
        </p:blipFill>
        <p:spPr>
          <a:xfrm>
            <a:off x="6425853" y="10"/>
            <a:ext cx="11862147" cy="10286993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C0C0C"/>
              </a:gs>
              <a:gs pos="36000">
                <a:srgbClr val="0C0C0C"/>
              </a:gs>
              <a:gs pos="81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3"/>
          <p:cNvSpPr txBox="1"/>
          <p:nvPr>
            <p:ph type="title"/>
          </p:nvPr>
        </p:nvSpPr>
        <p:spPr>
          <a:xfrm>
            <a:off x="1092994" y="1672828"/>
            <a:ext cx="8258174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7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Propuesta de Planificación</a:t>
            </a:r>
            <a:endParaRPr sz="7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43"/>
          <p:cNvCxnSpPr/>
          <p:nvPr/>
        </p:nvCxnSpPr>
        <p:spPr>
          <a:xfrm rot="10800000">
            <a:off x="192877" y="5522112"/>
            <a:ext cx="1790223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9"/>
          <p:cNvSpPr/>
          <p:nvPr/>
        </p:nvSpPr>
        <p:spPr>
          <a:xfrm>
            <a:off x="12947146" y="3565895"/>
            <a:ext cx="5571779" cy="6878740"/>
          </a:xfrm>
          <a:custGeom>
            <a:rect b="b" l="l" r="r" t="t"/>
            <a:pathLst>
              <a:path extrusionOk="0" h="6878740" w="5571779">
                <a:moveTo>
                  <a:pt x="0" y="0"/>
                </a:moveTo>
                <a:lnTo>
                  <a:pt x="5571779" y="0"/>
                </a:lnTo>
                <a:lnTo>
                  <a:pt x="5571779" y="6878739"/>
                </a:lnTo>
                <a:lnTo>
                  <a:pt x="0" y="6878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 rot="10800000">
            <a:off x="0" y="0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0" y="0"/>
                </a:moveTo>
                <a:lnTo>
                  <a:pt x="4363296" y="0"/>
                </a:lnTo>
                <a:lnTo>
                  <a:pt x="4363296" y="5966900"/>
                </a:lnTo>
                <a:lnTo>
                  <a:pt x="0" y="5966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 rot="10800000">
            <a:off x="-420124" y="859898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 rot="10800000">
            <a:off x="13991563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 txBox="1"/>
          <p:nvPr/>
        </p:nvSpPr>
        <p:spPr>
          <a:xfrm>
            <a:off x="1843557" y="3880119"/>
            <a:ext cx="10345623" cy="3409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9"/>
              <a:buFont typeface="Arial"/>
              <a:buNone/>
            </a:pPr>
            <a:r>
              <a:rPr b="0" i="0" lang="en-US" sz="300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•Extreme Programming (XP): Para asegurar la calidad y la colaboración.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9"/>
              <a:buFont typeface="Arial"/>
              <a:buNone/>
            </a:pPr>
            <a:r>
              <a:t/>
            </a:r>
            <a:endParaRPr b="0" i="0" sz="3009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4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9"/>
              <a:buFont typeface="Arial"/>
              <a:buNone/>
            </a:pPr>
            <a:r>
              <a:rPr b="0" i="0" lang="en-US" sz="300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•Kanban: Para visualizar el progreso y gestionar el flujo de trabajo.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9"/>
              <a:buFont typeface="Arial"/>
              <a:buNone/>
            </a:pPr>
            <a:r>
              <a:t/>
            </a:r>
            <a:endParaRPr b="0" i="0" sz="3009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6539170" y="7005265"/>
            <a:ext cx="2604830" cy="2604830"/>
          </a:xfrm>
          <a:custGeom>
            <a:rect b="b" l="l" r="r" t="t"/>
            <a:pathLst>
              <a:path extrusionOk="0" h="2604830" w="2604830">
                <a:moveTo>
                  <a:pt x="0" y="0"/>
                </a:moveTo>
                <a:lnTo>
                  <a:pt x="2604830" y="0"/>
                </a:lnTo>
                <a:lnTo>
                  <a:pt x="2604830" y="2604831"/>
                </a:lnTo>
                <a:lnTo>
                  <a:pt x="0" y="2604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 txBox="1"/>
          <p:nvPr/>
        </p:nvSpPr>
        <p:spPr>
          <a:xfrm>
            <a:off x="4107238" y="1335728"/>
            <a:ext cx="5403091" cy="164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4"/>
              <a:buFont typeface="Arial"/>
              <a:buNone/>
            </a:pPr>
            <a:r>
              <a:rPr b="1" i="0" lang="en-US" sz="5374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Metodología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9"/>
          <p:cNvPicPr preferRelativeResize="0"/>
          <p:nvPr/>
        </p:nvPicPr>
        <p:blipFill rotWithShape="1">
          <a:blip r:embed="rId7">
            <a:alphaModFix/>
          </a:blip>
          <a:srcRect b="0" l="28350" r="28350" t="0"/>
          <a:stretch/>
        </p:blipFill>
        <p:spPr>
          <a:xfrm>
            <a:off x="13394221" y="1722060"/>
            <a:ext cx="4893779" cy="687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"/>
          <p:cNvSpPr/>
          <p:nvPr/>
        </p:nvSpPr>
        <p:spPr>
          <a:xfrm>
            <a:off x="12947146" y="3552472"/>
            <a:ext cx="5571779" cy="6878740"/>
          </a:xfrm>
          <a:custGeom>
            <a:rect b="b" l="l" r="r" t="t"/>
            <a:pathLst>
              <a:path extrusionOk="0" h="6878740" w="5571779">
                <a:moveTo>
                  <a:pt x="0" y="0"/>
                </a:moveTo>
                <a:lnTo>
                  <a:pt x="5571779" y="0"/>
                </a:lnTo>
                <a:lnTo>
                  <a:pt x="5571779" y="6878739"/>
                </a:lnTo>
                <a:lnTo>
                  <a:pt x="0" y="6878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 rot="10800000">
            <a:off x="0" y="0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0" y="0"/>
                </a:moveTo>
                <a:lnTo>
                  <a:pt x="4363296" y="0"/>
                </a:lnTo>
                <a:lnTo>
                  <a:pt x="4363296" y="5966900"/>
                </a:lnTo>
                <a:lnTo>
                  <a:pt x="0" y="5966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 rot="10800000">
            <a:off x="346359" y="8598984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 rot="10800000">
            <a:off x="13991563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2349467" y="2140304"/>
            <a:ext cx="13558190" cy="6458680"/>
          </a:xfrm>
          <a:custGeom>
            <a:rect b="b" l="l" r="r" t="t"/>
            <a:pathLst>
              <a:path extrusionOk="0" h="5852633" w="13008884">
                <a:moveTo>
                  <a:pt x="0" y="0"/>
                </a:moveTo>
                <a:lnTo>
                  <a:pt x="13008885" y="0"/>
                </a:lnTo>
                <a:lnTo>
                  <a:pt x="13008885" y="5852632"/>
                </a:lnTo>
                <a:lnTo>
                  <a:pt x="0" y="5852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03" l="0" r="0" t="-7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5688947" y="705632"/>
            <a:ext cx="5403091" cy="828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4"/>
              <a:buFont typeface="Arial"/>
              <a:buNone/>
            </a:pPr>
            <a:r>
              <a:rPr b="1" i="0" lang="en-US" sz="5374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"/>
          <p:cNvSpPr/>
          <p:nvPr/>
        </p:nvSpPr>
        <p:spPr>
          <a:xfrm>
            <a:off x="14752327" y="5381439"/>
            <a:ext cx="3727955" cy="5100964"/>
          </a:xfrm>
          <a:custGeom>
            <a:rect b="b" l="l" r="r" t="t"/>
            <a:pathLst>
              <a:path extrusionOk="0" h="5100964" w="3727955">
                <a:moveTo>
                  <a:pt x="0" y="0"/>
                </a:moveTo>
                <a:lnTo>
                  <a:pt x="3727955" y="0"/>
                </a:lnTo>
                <a:lnTo>
                  <a:pt x="3727955" y="5100965"/>
                </a:lnTo>
                <a:lnTo>
                  <a:pt x="0" y="5100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-233183" y="-194603"/>
            <a:ext cx="3564095" cy="2984930"/>
          </a:xfrm>
          <a:custGeom>
            <a:rect b="b" l="l" r="r" t="t"/>
            <a:pathLst>
              <a:path extrusionOk="0" h="2984930" w="3564095">
                <a:moveTo>
                  <a:pt x="0" y="0"/>
                </a:moveTo>
                <a:lnTo>
                  <a:pt x="3564095" y="0"/>
                </a:lnTo>
                <a:lnTo>
                  <a:pt x="3564095" y="2984930"/>
                </a:lnTo>
                <a:lnTo>
                  <a:pt x="0" y="2984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 rot="10800000">
            <a:off x="-423461" y="8775390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 rot="10800000">
            <a:off x="13971970" y="475520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2907145" y="2464826"/>
            <a:ext cx="7810161" cy="5868758"/>
          </a:xfrm>
          <a:custGeom>
            <a:rect b="b" l="l" r="r" t="t"/>
            <a:pathLst>
              <a:path extrusionOk="0" h="5833228" w="7627045">
                <a:moveTo>
                  <a:pt x="0" y="0"/>
                </a:moveTo>
                <a:lnTo>
                  <a:pt x="7627045" y="0"/>
                </a:lnTo>
                <a:lnTo>
                  <a:pt x="7627045" y="5833227"/>
                </a:lnTo>
                <a:lnTo>
                  <a:pt x="0" y="5833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12876771" y="2464826"/>
            <a:ext cx="4099837" cy="4114800"/>
          </a:xfrm>
          <a:custGeom>
            <a:rect b="b" l="l" r="r" t="t"/>
            <a:pathLst>
              <a:path extrusionOk="0"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3330912" y="509897"/>
            <a:ext cx="7203277" cy="2722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99"/>
              <a:buFont typeface="Arial"/>
              <a:buNone/>
            </a:pPr>
            <a:r>
              <a:rPr b="1" i="0" lang="en-US" sz="889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99"/>
              <a:buFont typeface="Arial"/>
              <a:buNone/>
            </a:pPr>
            <a:r>
              <a:t/>
            </a:r>
            <a:endParaRPr b="1" i="0" sz="8899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"/>
          <p:cNvSpPr/>
          <p:nvPr/>
        </p:nvSpPr>
        <p:spPr>
          <a:xfrm>
            <a:off x="12947146" y="3552472"/>
            <a:ext cx="5571779" cy="6878740"/>
          </a:xfrm>
          <a:custGeom>
            <a:rect b="b" l="l" r="r" t="t"/>
            <a:pathLst>
              <a:path extrusionOk="0" h="6878740" w="5571779">
                <a:moveTo>
                  <a:pt x="0" y="0"/>
                </a:moveTo>
                <a:lnTo>
                  <a:pt x="5571779" y="0"/>
                </a:lnTo>
                <a:lnTo>
                  <a:pt x="5571779" y="6878739"/>
                </a:lnTo>
                <a:lnTo>
                  <a:pt x="0" y="6878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"/>
          <p:cNvSpPr/>
          <p:nvPr/>
        </p:nvSpPr>
        <p:spPr>
          <a:xfrm rot="10800000">
            <a:off x="0" y="0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0" y="0"/>
                </a:moveTo>
                <a:lnTo>
                  <a:pt x="4363296" y="0"/>
                </a:lnTo>
                <a:lnTo>
                  <a:pt x="4363296" y="5966900"/>
                </a:lnTo>
                <a:lnTo>
                  <a:pt x="0" y="5966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4"/>
          <p:cNvSpPr/>
          <p:nvPr/>
        </p:nvSpPr>
        <p:spPr>
          <a:xfrm rot="10800000">
            <a:off x="228600" y="8648700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4"/>
          <p:cNvSpPr/>
          <p:nvPr/>
        </p:nvSpPr>
        <p:spPr>
          <a:xfrm rot="10800000">
            <a:off x="13991563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7652622" y="6991842"/>
            <a:ext cx="2136908" cy="3092894"/>
          </a:xfrm>
          <a:custGeom>
            <a:rect b="b" l="l" r="r" t="t"/>
            <a:pathLst>
              <a:path extrusionOk="0" h="3092894" w="2136908">
                <a:moveTo>
                  <a:pt x="0" y="0"/>
                </a:moveTo>
                <a:lnTo>
                  <a:pt x="2136909" y="0"/>
                </a:lnTo>
                <a:lnTo>
                  <a:pt x="2136909" y="3092893"/>
                </a:lnTo>
                <a:lnTo>
                  <a:pt x="0" y="3092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4"/>
          <p:cNvSpPr txBox="1"/>
          <p:nvPr/>
        </p:nvSpPr>
        <p:spPr>
          <a:xfrm>
            <a:off x="2054462" y="1633246"/>
            <a:ext cx="5403000" cy="198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4"/>
              <a:buFont typeface="Arial"/>
              <a:buNone/>
            </a:pPr>
            <a:r>
              <a:rPr b="1" i="0" lang="en-US" sz="5374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Plan de Control y Seguimiento</a:t>
            </a:r>
            <a:endParaRPr b="1" i="0" sz="5374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56" name="Google Shape;456;p14"/>
          <p:cNvSpPr txBox="1"/>
          <p:nvPr/>
        </p:nvSpPr>
        <p:spPr>
          <a:xfrm>
            <a:off x="1073400" y="4001390"/>
            <a:ext cx="8070600" cy="2778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9"/>
              <a:buFont typeface="Arial"/>
              <a:buNone/>
            </a:pPr>
            <a:r>
              <a:rPr b="0" i="0" lang="en-US" sz="300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•Monitoreo Proactivo: Monitoreo semanal de los gastos API.</a:t>
            </a:r>
            <a:endParaRPr b="0" i="0" sz="3009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4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9"/>
              <a:buFont typeface="Arial"/>
              <a:buNone/>
            </a:pPr>
            <a:r>
              <a:rPr b="0" i="0" lang="en-US" sz="3009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•Gestión de Desviaciones: Identificar y corregir cualquier desviación en los gastos.</a:t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57" name="Google Shape;457;p14"/>
          <p:cNvSpPr txBox="1"/>
          <p:nvPr/>
        </p:nvSpPr>
        <p:spPr>
          <a:xfrm>
            <a:off x="9991237" y="1455533"/>
            <a:ext cx="5450100" cy="29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50"/>
              <a:buFont typeface="Arial"/>
              <a:buNone/>
            </a:pPr>
            <a:r>
              <a:rPr b="1" i="0" lang="en-US" sz="53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Viabilidad Financiera</a:t>
            </a:r>
            <a:endParaRPr b="0" i="0" sz="535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1"/>
              <a:buFont typeface="Arial"/>
              <a:buNone/>
            </a:pPr>
            <a:r>
              <a:t/>
            </a:r>
            <a:endParaRPr b="1" i="0" sz="542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4"/>
          <p:cNvSpPr txBox="1"/>
          <p:nvPr/>
        </p:nvSpPr>
        <p:spPr>
          <a:xfrm>
            <a:off x="9789530" y="3869990"/>
            <a:ext cx="6579000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 proyecto es viable y de bajo riesgo, con un presupuesto optimizado basado en planes gratuitos y de bajo costo.</a:t>
            </a:r>
            <a:endParaRPr b="0" i="0" sz="30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"/>
          <p:cNvSpPr/>
          <p:nvPr/>
        </p:nvSpPr>
        <p:spPr>
          <a:xfrm rot="10800000">
            <a:off x="7240842" y="7784204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7"/>
          <p:cNvSpPr/>
          <p:nvPr/>
        </p:nvSpPr>
        <p:spPr>
          <a:xfrm rot="5400000">
            <a:off x="-1427263" y="139255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7"/>
          <p:cNvSpPr/>
          <p:nvPr/>
        </p:nvSpPr>
        <p:spPr>
          <a:xfrm rot="-5400000">
            <a:off x="14538541" y="-1468692"/>
            <a:ext cx="2280767" cy="5218151"/>
          </a:xfrm>
          <a:custGeom>
            <a:rect b="b" l="l" r="r" t="t"/>
            <a:pathLst>
              <a:path extrusionOk="0" h="5218151" w="2280767">
                <a:moveTo>
                  <a:pt x="0" y="0"/>
                </a:moveTo>
                <a:lnTo>
                  <a:pt x="2280767" y="0"/>
                </a:lnTo>
                <a:lnTo>
                  <a:pt x="2280767" y="5218151"/>
                </a:lnTo>
                <a:lnTo>
                  <a:pt x="0" y="52181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7"/>
          <p:cNvSpPr/>
          <p:nvPr/>
        </p:nvSpPr>
        <p:spPr>
          <a:xfrm flipH="1" rot="10800000">
            <a:off x="-196152" y="7494835"/>
            <a:ext cx="3564095" cy="2984930"/>
          </a:xfrm>
          <a:custGeom>
            <a:rect b="b" l="l" r="r" t="t"/>
            <a:pathLst>
              <a:path extrusionOk="0" h="2984930" w="3564095">
                <a:moveTo>
                  <a:pt x="0" y="2984929"/>
                </a:moveTo>
                <a:lnTo>
                  <a:pt x="3564095" y="2984929"/>
                </a:lnTo>
                <a:lnTo>
                  <a:pt x="3564095" y="0"/>
                </a:lnTo>
                <a:lnTo>
                  <a:pt x="0" y="0"/>
                </a:lnTo>
                <a:lnTo>
                  <a:pt x="0" y="298492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"/>
          <p:cNvSpPr txBox="1"/>
          <p:nvPr/>
        </p:nvSpPr>
        <p:spPr>
          <a:xfrm>
            <a:off x="2474734" y="2328199"/>
            <a:ext cx="6661500" cy="46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8286" lvl="1" marL="49657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Registro y control del inventario.</a:t>
            </a:r>
            <a:endParaRPr b="0" i="0" sz="2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59080" lvl="1" marL="51816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Alertas automáticas bajo stock.</a:t>
            </a:r>
            <a:endParaRPr b="0" i="0" sz="2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48286" lvl="1" marL="49657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Sugerencias de recetas.</a:t>
            </a:r>
            <a:endParaRPr b="0" i="0" sz="2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48286" lvl="1" marL="49657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Optimización de listas de compras y planificación.</a:t>
            </a:r>
            <a:endParaRPr b="0" i="0" sz="2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7"/>
          <p:cNvSpPr/>
          <p:nvPr/>
        </p:nvSpPr>
        <p:spPr>
          <a:xfrm>
            <a:off x="3200400" y="7188875"/>
            <a:ext cx="3096387" cy="2818638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1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12347128" y="6610363"/>
            <a:ext cx="3652439" cy="3141097"/>
          </a:xfrm>
          <a:custGeom>
            <a:rect b="b" l="l" r="r" t="t"/>
            <a:pathLst>
              <a:path extrusionOk="0" h="3141097" w="3652439">
                <a:moveTo>
                  <a:pt x="0" y="0"/>
                </a:moveTo>
                <a:lnTo>
                  <a:pt x="3652439" y="0"/>
                </a:lnTo>
                <a:lnTo>
                  <a:pt x="3652439" y="3141097"/>
                </a:lnTo>
                <a:lnTo>
                  <a:pt x="0" y="3141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44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"/>
          <p:cNvSpPr txBox="1"/>
          <p:nvPr/>
        </p:nvSpPr>
        <p:spPr>
          <a:xfrm>
            <a:off x="2289075" y="1456751"/>
            <a:ext cx="562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Alcance</a:t>
            </a:r>
            <a:endParaRPr b="1" i="0" sz="66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71" name="Google Shape;471;p7"/>
          <p:cNvSpPr txBox="1"/>
          <p:nvPr/>
        </p:nvSpPr>
        <p:spPr>
          <a:xfrm>
            <a:off x="10383949" y="1469456"/>
            <a:ext cx="5371800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Limitaciones</a:t>
            </a:r>
            <a:endParaRPr b="1" i="0" sz="66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72" name="Google Shape;472;p7"/>
          <p:cNvSpPr txBox="1"/>
          <p:nvPr/>
        </p:nvSpPr>
        <p:spPr>
          <a:xfrm>
            <a:off x="10373121" y="2939415"/>
            <a:ext cx="7459200" cy="265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•Uso exclusivo en Sistema operativo Android.</a:t>
            </a:r>
            <a:endParaRPr b="0" i="0" sz="2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•La IA siempre requiere una conexión a internet para su uso.</a:t>
            </a:r>
            <a:endParaRPr/>
          </a:p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•La digitalización depende de la calidad de las boletas.</a:t>
            </a:r>
            <a:endParaRPr b="0" i="0" sz="2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7"/>
          <p:cNvSpPr/>
          <p:nvPr/>
        </p:nvSpPr>
        <p:spPr>
          <a:xfrm>
            <a:off x="12552894" y="5143500"/>
            <a:ext cx="5963630" cy="5431873"/>
          </a:xfrm>
          <a:custGeom>
            <a:rect b="b" l="l" r="r" t="t"/>
            <a:pathLst>
              <a:path extrusionOk="0" h="5431873" w="5963630">
                <a:moveTo>
                  <a:pt x="0" y="0"/>
                </a:moveTo>
                <a:lnTo>
                  <a:pt x="5963631" y="0"/>
                </a:lnTo>
                <a:lnTo>
                  <a:pt x="5963631" y="5431873"/>
                </a:lnTo>
                <a:lnTo>
                  <a:pt x="0" y="5431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17"/>
          <p:cNvPicPr preferRelativeResize="0"/>
          <p:nvPr/>
        </p:nvPicPr>
        <p:blipFill rotWithShape="1">
          <a:blip r:embed="rId4">
            <a:alphaModFix/>
          </a:blip>
          <a:srcRect b="0" l="18195" r="18194" t="0"/>
          <a:stretch/>
        </p:blipFill>
        <p:spPr>
          <a:xfrm>
            <a:off x="13678297" y="6088225"/>
            <a:ext cx="4086560" cy="4320539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7"/>
          <p:cNvSpPr txBox="1"/>
          <p:nvPr/>
        </p:nvSpPr>
        <p:spPr>
          <a:xfrm>
            <a:off x="2105217" y="294985"/>
            <a:ext cx="14077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7"/>
          <p:cNvSpPr/>
          <p:nvPr/>
        </p:nvSpPr>
        <p:spPr>
          <a:xfrm flipH="1" rot="5400000">
            <a:off x="1459514" y="-1673036"/>
            <a:ext cx="2794156" cy="5846533"/>
          </a:xfrm>
          <a:custGeom>
            <a:rect b="b" l="l" r="r" t="t"/>
            <a:pathLst>
              <a:path extrusionOk="0" h="5846533" w="2794156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 rot="5400000">
            <a:off x="-1234981" y="7939120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 rot="5400000">
            <a:off x="14995619" y="1440180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 txBox="1"/>
          <p:nvPr/>
        </p:nvSpPr>
        <p:spPr>
          <a:xfrm>
            <a:off x="375150" y="2848599"/>
            <a:ext cx="7464600" cy="3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FFFFFF"/>
                </a:solidFill>
              </a:rPr>
              <a:t>PantrySmart ofrece una solución innovadora y viable para reducir el desperdicio de alimentos mediante inventario digital y recomendaciones inteligentes.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7"/>
          <p:cNvSpPr txBox="1"/>
          <p:nvPr/>
        </p:nvSpPr>
        <p:spPr>
          <a:xfrm>
            <a:off x="9144000" y="2848599"/>
            <a:ext cx="7464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FFFFFF"/>
                </a:solidFill>
              </a:rPr>
              <a:t>La Fase 1 estableció objetivos, alcance y planificación, dejando bases sólidas para avanzar hacia el prototipo funcional.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"/>
          <p:cNvSpPr txBox="1"/>
          <p:nvPr/>
        </p:nvSpPr>
        <p:spPr>
          <a:xfrm>
            <a:off x="2962750" y="5921100"/>
            <a:ext cx="99135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FFFFFF"/>
                </a:solidFill>
              </a:rPr>
              <a:t>PantrySmart no solo optimiza el consumo, también contribuye a un futuro más sostenible al cuidar nuestros recursos.</a:t>
            </a:r>
            <a:br>
              <a:rPr lang="en-US" sz="2700">
                <a:solidFill>
                  <a:srgbClr val="FFFFFF"/>
                </a:solidFill>
              </a:rPr>
            </a:br>
            <a:br>
              <a:rPr lang="en-US" sz="2700">
                <a:solidFill>
                  <a:srgbClr val="FFFFFF"/>
                </a:solidFill>
              </a:rPr>
            </a:br>
            <a:r>
              <a:rPr lang="en-US" sz="2700">
                <a:solidFill>
                  <a:srgbClr val="FFFFFF"/>
                </a:solidFill>
              </a:rPr>
              <a:t>Con PantrySmart damos el primer paso hacia hogares más responsables, reduciendo el desperdicio y generando un ahorro real para las familias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416B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"/>
          <p:cNvSpPr txBox="1"/>
          <p:nvPr/>
        </p:nvSpPr>
        <p:spPr>
          <a:xfrm>
            <a:off x="771525" y="3352165"/>
            <a:ext cx="1674495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0"/>
              <a:buFont typeface="Arial"/>
              <a:buNone/>
            </a:pPr>
            <a:r>
              <a:rPr b="1" i="0" lang="en-US" sz="18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8"/>
          <p:cNvSpPr txBox="1"/>
          <p:nvPr/>
        </p:nvSpPr>
        <p:spPr>
          <a:xfrm>
            <a:off x="3449806" y="2089192"/>
            <a:ext cx="11388388" cy="55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3449806" y="2844645"/>
            <a:ext cx="11388388" cy="55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PantrySmart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12947146" y="3552472"/>
            <a:ext cx="5571779" cy="6878740"/>
          </a:xfrm>
          <a:custGeom>
            <a:rect b="b" l="l" r="r" t="t"/>
            <a:pathLst>
              <a:path extrusionOk="0" h="6878740" w="5571779">
                <a:moveTo>
                  <a:pt x="0" y="0"/>
                </a:moveTo>
                <a:lnTo>
                  <a:pt x="5571779" y="0"/>
                </a:lnTo>
                <a:lnTo>
                  <a:pt x="5571779" y="6878739"/>
                </a:lnTo>
                <a:lnTo>
                  <a:pt x="0" y="6878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 rot="10800000">
            <a:off x="0" y="0"/>
            <a:ext cx="4363296" cy="5966900"/>
          </a:xfrm>
          <a:custGeom>
            <a:rect b="b" l="l" r="r" t="t"/>
            <a:pathLst>
              <a:path extrusionOk="0" h="5966900" w="4363296">
                <a:moveTo>
                  <a:pt x="0" y="0"/>
                </a:moveTo>
                <a:lnTo>
                  <a:pt x="4363296" y="0"/>
                </a:lnTo>
                <a:lnTo>
                  <a:pt x="4363296" y="5966900"/>
                </a:lnTo>
                <a:lnTo>
                  <a:pt x="0" y="5966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 rot="10800000">
            <a:off x="-420124" y="859898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 rot="10800000">
            <a:off x="13991563" y="523145"/>
            <a:ext cx="4527362" cy="1011111"/>
          </a:xfrm>
          <a:custGeom>
            <a:rect b="b" l="l" r="r" t="t"/>
            <a:pathLst>
              <a:path extrusionOk="0" h="1011111" w="4527362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7742873" y="6590665"/>
            <a:ext cx="3177892" cy="3018997"/>
          </a:xfrm>
          <a:custGeom>
            <a:rect b="b" l="l" r="r" t="t"/>
            <a:pathLst>
              <a:path extrusionOk="0" h="3018997" w="3177892">
                <a:moveTo>
                  <a:pt x="0" y="0"/>
                </a:moveTo>
                <a:lnTo>
                  <a:pt x="3177892" y="0"/>
                </a:lnTo>
                <a:lnTo>
                  <a:pt x="3177892" y="3018997"/>
                </a:lnTo>
                <a:lnTo>
                  <a:pt x="0" y="3018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